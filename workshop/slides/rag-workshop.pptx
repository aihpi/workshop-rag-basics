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8288000" cy="1047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90 minutes. Goal: understand how AI-assisted research on your own documents works, and build it yourself, step by step, in five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the list round now, not at the end, or it gets lost on the way. Collect it again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plan for today: theory in small doses, most of the time in the notebooks. The two mixed blocks start with 3 minutes of slides, then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minute: who I am, and that the code from today is yours to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who we are, and how you can keep working with us. About 5 minutes for slides 3 to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centres across Germany. Our site in Potsdam and Berlin covers education, consulting and the use of AI in business and society.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and open. Newsletter via the QR code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to use, no production use. Request access at aisc.hpi.de.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call to action: book office hours (QR on the left), apply for a pilot project, which opens every three months (QR on the 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question: why is a language model on its own not enough for research in specialist documents? About 5 minutes for 8 to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no-parking versus no-stopping example makes the point fastest: the model answers plausibly, but from the wrong legal text. You'll see the same in notebook 1, with a scientific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live demo today, just these two to show RAG in real use. SENTRA: up to 2000 requests a year at the Bundestag's research services. GrundschutzKI: do-it-yourself instead of external consulting, also with NIS2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here: theory in small doses, then hands-on. Write the gateway key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Stress the two phases: ingestion happens once, inference with every question. The same embedding model in both. The badges show which notebook builds which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minutes, if everyone ran check_setup.py at home. Whoever didn't: start uv sync and check_setup.py now; Docling downloads about 500 MB of models the first time. Notebook 1 works before that finishes.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Point out the confident wrong answer, it comes back in notebook 4. Then the Your turn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One method of many: fixed size with overlap is what the notebook does. Structured documents chunk better along headings.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Docling takes about a minute for the three papers; talk through the Markdown while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minutes for both slides. Read the questions out, let the room vote by show of hands.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Reveal, ask whether anyone saw something different. The notebook 1 answer varies a little from run to run; the chunk numbers are measured on the three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The cat/kitten numbers are the real ones participants will see in notebook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Make them notice that search always returns something, even for France: that's why exercise 1 asks for a score cutoff. Good questions scored 0.33 to 0.73 in testing, France 0.17.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RAG = retrieve, augment, generate. Citations are bookkeeping,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Compare with the invented answer from notebook 1, same question. Let them click 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Remind them how the pieces fit: everything from notebooks 1 to 4, one file. Only test documents, nothing confidential, when they attach their own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minutes. This is the 'basic RAG evaluation' from the description. Link it to the exercises: limit 2 versus 15, chunk size 300 versus 3000 are exactly the changes you would measure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minutes. The template is where to start a real project, so nobody starts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code up while questions come in. Contact: kisz@hpi.de.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hyperlink" Target="https://www.linkedin.com/in/felixboelter/" TargetMode="Externa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jpg"/><Relationship Id="rId7" Type="http://schemas.openxmlformats.org/officeDocument/2006/relationships/image" Target="../media/image19.png"/><Relationship Id="rId8" Type="http://schemas.openxmlformats.org/officeDocument/2006/relationships/image" Target="../media/image20.jpg"/><Relationship Id="rId9" Type="http://schemas.openxmlformats.org/officeDocument/2006/relationships/image" Target="../media/image21.jpg"/><Relationship Id="rId10" Type="http://schemas.openxmlformats.org/officeDocument/2006/relationships/image" Target="../media/image22.jpg"/><Relationship Id="rId11" Type="http://schemas.openxmlformats.org/officeDocument/2006/relationships/image" Target="../media/image23.png"/><Relationship Id="rId12" Type="http://schemas.openxmlformats.org/officeDocument/2006/relationships/image" Target="../media/image24.jpg"/><Relationship Id="rId13" Type="http://schemas.openxmlformats.org/officeDocument/2006/relationships/image" Target="../media/image25.png"/><Relationship Id="rId14" Type="http://schemas.openxmlformats.org/officeDocument/2006/relationships/image" Target="../media/image26.jpg"/><Relationship Id="rId1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jp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hyperlink" Target="https://github.com/aihpi/workshop-rag-basics" TargetMode="External"/><Relationship Id="rId5" Type="http://schemas.openxmlformats.org/officeDocument/2006/relationships/hyperlink" Target="https://github.com/aihpi/pilotproject-rag-template" TargetMode="External"/><Relationship Id="rId6" Type="http://schemas.openxmlformats.org/officeDocument/2006/relationships/hyperlink" Target="https://huggingface.co/spaces/mteb/leaderboard" TargetMode="External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hyperlink" Target="mailto:kisz@hpi.de" TargetMode="External"/><Relationship Id="rId4" Type="http://schemas.openxmlformats.org/officeDocument/2006/relationships/hyperlink" Target="https://hpi.de/kisz" TargetMode="External"/><Relationship Id="rId5" Type="http://schemas.openxmlformats.org/officeDocument/2006/relationships/hyperlink" Target="https://github.com/aihpi/workshop-rag-basics" TargetMode="External"/><Relationship Id="rId6" Type="http://schemas.openxmlformats.org/officeDocument/2006/relationships/hyperlink" Target="https://github.com/aihpi/pilotproject-rag-template" TargetMode="Externa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2048256"/>
            <a:ext cx="1371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spc="400">
                <a:solidFill>
                  <a:srgbClr val="DC640D"/>
                </a:solidFill>
                <a:latin typeface="Arial"/>
              </a:rPr>
              <a:t>[EVENT]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578608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900" b="1">
                <a:solidFill>
                  <a:srgbClr val="5A6065"/>
                </a:solidFill>
                <a:latin typeface="Arial"/>
              </a:rPr>
              <a:t>HANDS-ON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3758184"/>
            <a:ext cx="1371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50" b="0">
                <a:solidFill>
                  <a:srgbClr val="B1063A"/>
                </a:solidFill>
                <a:latin typeface="Arial"/>
              </a:rPr>
              <a:t>Build your own document Q&amp;A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7048" y="475488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17161C"/>
                </a:solidFill>
                <a:latin typeface="Arial"/>
              </a:rPr>
              <a:t>Felix Boelter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5A6065"/>
                </a:solidFill>
                <a:latin typeface="Arial"/>
              </a:rPr>
              <a:t>AI Service Centre Berlin-Brandenburg  |  [Date]</a:t>
            </a:r>
          </a:p>
        </p:txBody>
      </p:sp>
      <p:pic>
        <p:nvPicPr>
          <p:cNvPr id="7" name="Picture 6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8" name="Picture 7" descr="logo-bmf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9" name="Picture 8" descr="hpi-tag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0" name="Picture 9" descr="hpi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PARTICIPANT LIST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37744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The list is going round now. Please sign in while everyone is still seated.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0704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2776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5656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2776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2776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84848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84848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47120" y="2514600"/>
            <a:ext cx="5715000" cy="73152"/>
          </a:xfrm>
          <a:prstGeom prst="rect">
            <a:avLst/>
          </a:pr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47120" y="2834640"/>
            <a:ext cx="5715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065"/>
                </a:solidFill>
                <a:latin typeface="Arial"/>
              </a:rPr>
              <a:t>The printout stays with the workshop lead. Please hand it back at the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AGENDA · 90 MINUTES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187451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984248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874519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74519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Welcome, the AI Service Centre, why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0" y="1874519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551176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660904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551176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55117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Architecture and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0" y="2551176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322783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33756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322783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22783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Talking to an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0" y="322783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3904487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014215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3904487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904487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From document to chunks · reading documents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0" y="3904487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581144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690872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360" y="4581144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581144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What we found so far · embeddings and vector 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0" y="4581144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7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525780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67528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360" y="5257800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257800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19120" y="5257800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5934455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6044183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0360" y="5934455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5934455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Prompt and citations · retrieval-augmented generation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819120" y="5934455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16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661111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672084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360" y="661111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661111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Putting it together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819120" y="661111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" y="7287768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1:24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7397496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7287768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7287768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Evaluation, where to go next, feedback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819120" y="7287768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6 min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" y="8229600"/>
            <a:ext cx="1761743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59024" y="8229600"/>
            <a:ext cx="862583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58183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650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94320" y="8229600"/>
            <a:ext cx="1222247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314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490960" y="8229600"/>
            <a:ext cx="2840736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368272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166592" y="8229600"/>
            <a:ext cx="1042415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" y="877824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6A800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notebooks, hands-on: 56 min     </a:t>
            </a:r>
            <a:r>
              <a:rPr sz="1600" b="0">
                <a:solidFill>
                  <a:srgbClr val="007A9E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theory     </a:t>
            </a:r>
            <a:r>
              <a:rPr sz="1600" b="0">
                <a:solidFill>
                  <a:srgbClr val="B1063A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welcome and wrap-up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ABOUT ME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0704" y="2011680"/>
            <a:ext cx="4206240" cy="420624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11680"/>
            <a:ext cx="420624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Photo
assets/presenter.jpg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965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7161C"/>
                </a:solidFill>
                <a:latin typeface="Arial"/>
              </a:rPr>
              <a:t>Felix Boelter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697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B1063A"/>
                </a:solidFill>
                <a:latin typeface="Arial"/>
              </a:rPr>
              <a:t>AI Engineer · Hasso-Plattner-Institut · AI Service Centre Berlin-Brandenburg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520440"/>
            <a:ext cx="11338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2000" b="0">
                <a:solidFill>
                  <a:srgbClr val="17161C"/>
                </a:solidFill>
                <a:latin typeface="Arial"/>
              </a:rPr>
              <a:t>•  Builds LLM inference infrastructure on Kubernetes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2000" b="0">
                <a:solidFill>
                  <a:srgbClr val="17161C"/>
                </a:solidFill>
                <a:latin typeface="Arial"/>
              </a:rPr>
              <a:t>•  Develops RAG and agentic AI systems with public-sector and SME partners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2000" b="0">
                <a:solidFill>
                  <a:srgbClr val="17161C"/>
                </a:solidFill>
                <a:latin typeface="Arial"/>
              </a:rPr>
              <a:t>•  Teaches the stack in hands-on workshops and a free openHPI course with over 5,000 learners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2000" b="0">
                <a:solidFill>
                  <a:srgbClr val="17161C"/>
                </a:solidFill>
                <a:latin typeface="Arial"/>
              </a:rPr>
              <a:t>•  Studied AI at USI Lugano, Switzerland, Magna Cum Laude; now researching model compression</a:t>
            </a:r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6675120"/>
            <a:ext cx="1737360" cy="1737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17520" y="7086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161C"/>
                </a:solidFill>
                <a:latin typeface="Arial"/>
              </a:rPr>
              <a:t>LinkedIn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5A6065"/>
                </a:solidFill>
                <a:latin typeface="Arial"/>
                <a:hlinkClick r:id="rId5"/>
              </a:rPr>
              <a:t>linkedin.com/in/felixboelter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AI SERVICE CENTRE
BERLIN-BRANDENBURG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Who we are and what you can use.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2807207" y="5321808"/>
            <a:ext cx="64739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AI SERVICE CENTRES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FOUR AI SERVICE CENTRES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qr-ki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514600"/>
            <a:ext cx="260604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hpi.de/ki-servicezentrum</a:t>
            </a:r>
          </a:p>
        </p:txBody>
      </p:sp>
      <p:pic>
        <p:nvPicPr>
          <p:cNvPr id="10" name="Picture 9" descr="map-germ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691640"/>
            <a:ext cx="4764024" cy="6338509"/>
          </a:xfrm>
          <a:prstGeom prst="rect">
            <a:avLst/>
          </a:prstGeom>
        </p:spPr>
      </p:pic>
      <p:pic>
        <p:nvPicPr>
          <p:cNvPr id="11" name="Picture 10" descr="map-st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810512"/>
            <a:ext cx="4745736" cy="62674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031736" y="367588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77456" y="440740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4700016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306056" y="4462272"/>
            <a:ext cx="438912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44968" y="2560320"/>
            <a:ext cx="2148840" cy="1901952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93808" y="2560320"/>
            <a:ext cx="2350008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2152376" y="2468879"/>
            <a:ext cx="182880" cy="182880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-kissk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2148840"/>
            <a:ext cx="1234440" cy="3559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27280" y="21031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ABE3"/>
                </a:solidFill>
                <a:latin typeface="Arial"/>
              </a:rPr>
              <a:t>Göttingen | Kassel | Hannover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0" y="2514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Sensitive and critical infrastructure, medicine &amp; energy</a:t>
            </a:r>
          </a:p>
        </p:txBody>
      </p:sp>
      <p:sp>
        <p:nvSpPr>
          <p:cNvPr id="22" name="Oval 21"/>
          <p:cNvSpPr/>
          <p:nvPr/>
        </p:nvSpPr>
        <p:spPr>
          <a:xfrm>
            <a:off x="8677656" y="3867912"/>
            <a:ext cx="109728" cy="10972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732520" y="3922776"/>
            <a:ext cx="3511296" cy="0"/>
          </a:xfrm>
          <a:prstGeom prst="line">
            <a:avLst/>
          </a:prstGeom>
          <a:ln w="28575">
            <a:solidFill>
              <a:srgbClr val="DD6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2152376" y="3831336"/>
            <a:ext cx="182880" cy="182880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-kisz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35640" y="3474720"/>
            <a:ext cx="1234440" cy="43880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0" y="3429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DD6108"/>
                </a:solidFill>
                <a:latin typeface="Arial"/>
              </a:rPr>
              <a:t>Potsdam | Berlin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0" y="3840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Education and consulting, AI in business &amp; society</a:t>
            </a:r>
          </a:p>
        </p:txBody>
      </p:sp>
      <p:sp>
        <p:nvSpPr>
          <p:cNvPr id="28" name="Oval 27"/>
          <p:cNvSpPr/>
          <p:nvPr/>
        </p:nvSpPr>
        <p:spPr>
          <a:xfrm>
            <a:off x="5769864" y="450799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15584" y="474573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58384" y="505663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3792" y="515721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07024" y="5404104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897880" y="4617720"/>
            <a:ext cx="658368" cy="429768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556248" y="5047488"/>
            <a:ext cx="5687568" cy="0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2152376" y="4956048"/>
            <a:ext cx="182880" cy="182880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ogo-west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617720"/>
            <a:ext cx="1234440" cy="27744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0" y="4572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9358D"/>
                </a:solidFill>
                <a:latin typeface="Arial"/>
              </a:rPr>
              <a:t>Bonn | St. Augustin | Aachen | Jülich | Dortmund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0" y="4983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AI hardware, consulting and training; multimodal and transferable models</a:t>
            </a:r>
          </a:p>
        </p:txBody>
      </p:sp>
      <p:sp>
        <p:nvSpPr>
          <p:cNvPr id="39" name="Oval 38"/>
          <p:cNvSpPr/>
          <p:nvPr/>
        </p:nvSpPr>
        <p:spPr>
          <a:xfrm>
            <a:off x="6318504" y="5650992"/>
            <a:ext cx="109728" cy="109728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556248" y="5705856"/>
            <a:ext cx="2221992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778240" y="5705856"/>
            <a:ext cx="1097280" cy="512064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875520" y="6217920"/>
            <a:ext cx="2368296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2152376" y="6126480"/>
            <a:ext cx="182880" cy="182880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go-hessi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5852160"/>
            <a:ext cx="1234440" cy="43088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527280" y="58064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8A6AF4"/>
                </a:solidFill>
                <a:latin typeface="Arial"/>
              </a:rPr>
              <a:t>Darmstadt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0" y="621792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Explainability, generalisability and contextual adaptation</a:t>
            </a:r>
          </a:p>
        </p:txBody>
      </p:sp>
      <p:pic>
        <p:nvPicPr>
          <p:cNvPr id="47" name="Picture 46" descr="logo-cent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95544" y="8659368"/>
            <a:ext cx="4096512" cy="147804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898880" y="8138160"/>
            <a:ext cx="4206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Goal: </a:t>
            </a:r>
            <a:r>
              <a:rPr sz="1800" b="1">
                <a:solidFill>
                  <a:srgbClr val="17161C"/>
                </a:solidFill>
                <a:latin typeface="Arial"/>
              </a:rPr>
              <a:t>lower the barriers to putting AI to work in society and business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qr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94560"/>
            <a:ext cx="2606040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484632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Newsletter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Talks</a:t>
            </a:r>
          </a:p>
        </p:txBody>
      </p:sp>
      <p:pic>
        <p:nvPicPr>
          <p:cNvPr id="9" name="Picture 8" descr="qr-tal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292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tele-task.de/series/1463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28600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Guest talks on research and innovation</a:t>
            </a:r>
          </a:p>
        </p:txBody>
      </p:sp>
      <p:pic>
        <p:nvPicPr>
          <p:cNvPr id="12" name="Picture 11" descr="tile-talk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02920"/>
            <a:ext cx="2578608" cy="1450467"/>
          </a:xfrm>
          <a:prstGeom prst="rect">
            <a:avLst/>
          </a:prstGeom>
        </p:spPr>
      </p:pic>
      <p:pic>
        <p:nvPicPr>
          <p:cNvPr id="13" name="Picture 12" descr="tile-talk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502920"/>
            <a:ext cx="2578608" cy="1289304"/>
          </a:xfrm>
          <a:prstGeom prst="rect">
            <a:avLst/>
          </a:prstGeom>
        </p:spPr>
      </p:pic>
      <p:pic>
        <p:nvPicPr>
          <p:cNvPr id="14" name="Picture 13" descr="tile-talk-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0" y="502920"/>
            <a:ext cx="2578608" cy="128930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Work-
shops</a:t>
            </a:r>
          </a:p>
        </p:txBody>
      </p:sp>
      <p:pic>
        <p:nvPicPr>
          <p:cNvPr id="17" name="Picture 16" descr="qr-worksh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7947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751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aimaker.community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557784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Hands-on topics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For example: speech2summary, Docker for ML, semantic search</a:t>
            </a:r>
          </a:p>
        </p:txBody>
      </p:sp>
      <p:pic>
        <p:nvPicPr>
          <p:cNvPr id="20" name="Picture 19" descr="tile-workshop-1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794760"/>
            <a:ext cx="2578608" cy="1289304"/>
          </a:xfrm>
          <a:prstGeom prst="rect">
            <a:avLst/>
          </a:prstGeom>
        </p:spPr>
      </p:pic>
      <p:pic>
        <p:nvPicPr>
          <p:cNvPr id="21" name="Picture 20" descr="tile-workshop-2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0" y="3794760"/>
            <a:ext cx="2578608" cy="1450467"/>
          </a:xfrm>
          <a:prstGeom prst="rect">
            <a:avLst/>
          </a:prstGeom>
        </p:spPr>
      </p:pic>
      <p:pic>
        <p:nvPicPr>
          <p:cNvPr id="22" name="Picture 21" descr="tile-workshop-3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0" y="3794760"/>
            <a:ext cx="2578608" cy="128930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MOOCs</a:t>
            </a:r>
          </a:p>
        </p:txBody>
      </p:sp>
      <p:pic>
        <p:nvPicPr>
          <p:cNvPr id="25" name="Picture 24" descr="qr-mooc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0" y="7086600"/>
            <a:ext cx="1371600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75120" y="8503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open.hpi.de/channels/ai-service-center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88696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ChatGPT: what does generative AI mean for society?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Profitable AI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Understanding and avoiding AI bias</a:t>
            </a:r>
          </a:p>
        </p:txBody>
      </p:sp>
      <p:pic>
        <p:nvPicPr>
          <p:cNvPr id="28" name="Picture 27" descr="tile-mooc-1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7086600"/>
            <a:ext cx="2578608" cy="1289304"/>
          </a:xfrm>
          <a:prstGeom prst="rect">
            <a:avLst/>
          </a:prstGeom>
        </p:spPr>
      </p:pic>
      <p:pic>
        <p:nvPicPr>
          <p:cNvPr id="29" name="Picture 28" descr="tile-mooc-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0" y="7086600"/>
            <a:ext cx="2578608" cy="1450467"/>
          </a:xfrm>
          <a:prstGeom prst="rect">
            <a:avLst/>
          </a:prstGeom>
        </p:spPr>
      </p:pic>
      <p:pic>
        <p:nvPicPr>
          <p:cNvPr id="30" name="Picture 29" descr="tile-mooc-3.jpe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544800" y="7086600"/>
            <a:ext cx="2578608" cy="12893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6" name="Picture 5" descr="qr-a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14600"/>
            <a:ext cx="260604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aisc.hpi.de · request access</a:t>
            </a:r>
          </a:p>
        </p:txBody>
      </p:sp>
      <p:pic>
        <p:nvPicPr>
          <p:cNvPr id="8" name="Picture 7" descr="compute-banner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828800"/>
            <a:ext cx="6400800" cy="3600450"/>
          </a:xfrm>
          <a:prstGeom prst="rect">
            <a:avLst/>
          </a:prstGeom>
        </p:spPr>
      </p:pic>
      <p:pic>
        <p:nvPicPr>
          <p:cNvPr id="9" name="Picture 8" descr="compute-racks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5440680"/>
            <a:ext cx="6400800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21440" y="178308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Access </a:t>
            </a:r>
            <a:r>
              <a:rPr sz="1700" b="0">
                <a:solidFill>
                  <a:srgbClr val="DD6108"/>
                </a:solidFill>
                <a:latin typeface="Arial"/>
              </a:rPr>
              <a:t>free of charge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No production use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Data should be </a:t>
            </a:r>
            <a:r>
              <a:rPr sz="1700" b="0">
                <a:solidFill>
                  <a:srgbClr val="DD6108"/>
                </a:solidFill>
                <a:latin typeface="Arial"/>
              </a:rPr>
              <a:t>anonymised or synthetic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No </a:t>
            </a:r>
            <a:r>
              <a:rPr sz="1700" b="0">
                <a:solidFill>
                  <a:srgbClr val="DD6108"/>
                </a:solidFill>
                <a:latin typeface="Arial"/>
              </a:rPr>
              <a:t>hosting of products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Reporting &amp; publication</a:t>
            </a:r>
            <a:r>
              <a:rPr sz="1700" b="0">
                <a:solidFill>
                  <a:srgbClr val="17161C"/>
                </a:solidFill>
                <a:latin typeface="Arial"/>
              </a:rPr>
              <a:t> by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Existing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New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Usage rights granted for research and teaching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64 NVIDIA H100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Inference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 NVIDIA A30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ARM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Ampere Altra Max M128-30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2× NVIDIA L40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GPU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AMD Epyc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8× NVIDIA L40S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Edge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ARMv8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NVIDIA Jetson AGX modules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Neuromorphic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288 SpiNNaker2 chips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Storage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1.5 PB NVRAM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Network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400 Gb/s InfiniBand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200 Gb/s Ethernet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qr-office-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31720"/>
            <a:ext cx="26974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6065"/>
                </a:solidFill>
                <a:latin typeface="Arial"/>
              </a:rPr>
              <a:t>Book office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7132320" cy="804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B1063A"/>
                </a:solidFill>
                <a:latin typeface="Arial"/>
              </a:rPr>
              <a:t>AI office hours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infrastructure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models &amp; frameworks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use cases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DD6108"/>
                </a:solidFill>
                <a:latin typeface="Arial"/>
              </a:rPr>
              <a:t>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Co-developing a prototype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Applications every three months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Selection criteria such as AI maturity and public benefit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Results are published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F6A800"/>
                </a:solidFill>
                <a:latin typeface="Arial"/>
              </a:rPr>
              <a:t>Collaborations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Jointly organised network meetings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17161C"/>
                </a:solidFill>
                <a:latin typeface="Arial"/>
              </a:rPr>
              <a:t>Past 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maths problems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plain language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upcycling ideas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Reducing food waste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Dating documents by handwriting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pic>
        <p:nvPicPr>
          <p:cNvPr id="8" name="Picture 7" descr="consulti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480" y="274320"/>
            <a:ext cx="6035040" cy="4526280"/>
          </a:xfrm>
          <a:prstGeom prst="rect">
            <a:avLst/>
          </a:prstGeom>
        </p:spPr>
      </p:pic>
      <p:pic>
        <p:nvPicPr>
          <p:cNvPr id="9" name="Picture 8" descr="qr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7559" y="6400800"/>
            <a:ext cx="26974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67559" y="91440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Apply now!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What language models don't know, and what that means for research.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WHY A LANGUAGE MODEL
ALONE IS NOT ENOUGH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No access to
your own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Language models are trained mostly on public data. Internal documents about your processes and paywalled specialist publications are unknown to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Similar instead
of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When the right information is missing, the model falls back on related material: the rules for no-parking zones answer a question about no-stopping zones, popular science stands in for the specialist literature.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RAG decides what
the answer is built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Retrieval-augmented generation sets which documents an answer may use, and shows which source every statement comes from.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55063" y="5321808"/>
            <a:ext cx="416966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RAG IN PRACTICE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12</a:t>
            </a:r>
          </a:p>
        </p:txBody>
      </p:sp>
      <p:pic>
        <p:nvPicPr>
          <p:cNvPr id="8" name="Picture 7" descr="screenshot-sen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11680"/>
            <a:ext cx="529285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SENTRA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Research Services of the German Bundestag: semantic search across expert reports, an AI summary, every statement traced to its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github.com/aihpi/pilotproject-sentra</a:t>
            </a:r>
          </a:p>
        </p:txBody>
      </p:sp>
      <p:pic>
        <p:nvPicPr>
          <p:cNvPr id="12" name="Picture 11" descr="screenshot-grundschutz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11680"/>
            <a:ext cx="7955279" cy="41681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1034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GrundschutzKI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034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IT baseline protection: questions in plain language, a short answer with a jump link, the BSI original open next to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github.com/aihpi/pilotprojekt-GrundschutzKI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8961120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Semantic search  ·  an AI summary  ·  sources for transparency.  </a:t>
            </a:r>
            <a:r>
              <a:rPr sz="1900" b="0">
                <a:solidFill>
                  <a:srgbClr val="5A6065"/>
                </a:solidFill>
                <a:latin typeface="Arial"/>
              </a:rPr>
              <a:t>Today you build the same thing, small.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A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17161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17161C"/>
                </a:solidFill>
                <a:latin typeface="Arial"/>
              </a:rPr>
              <a:t>BUILD IT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17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Five notebooks, one chatbot. A little theory before each.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ARCHITECTURE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7008" y="2011680"/>
            <a:ext cx="3703320" cy="5577840"/>
          </a:xfrm>
          <a:prstGeom prst="rect">
            <a:avLst/>
          </a:prstGeom>
          <a:solidFill>
            <a:srgbClr val="EAF4F8"/>
          </a:solidFill>
          <a:ln w="19050">
            <a:solidFill>
              <a:srgbClr val="9CCB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47488" y="2011680"/>
            <a:ext cx="8805672" cy="5577840"/>
          </a:xfrm>
          <a:prstGeom prst="rect">
            <a:avLst/>
          </a:prstGeom>
          <a:solidFill>
            <a:srgbClr val="FDF1E9"/>
          </a:solidFill>
          <a:ln w="19050">
            <a:solidFill>
              <a:srgbClr val="F2B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once · notebooks 2 + 3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every question · notebooks 3 + 4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3072384"/>
            <a:ext cx="28803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5688" y="3273552"/>
            <a:ext cx="251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Documents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3712463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PDF, Word, HTML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617720"/>
            <a:ext cx="49377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48188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Embedding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5257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Text in, vector 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6144768"/>
            <a:ext cx="4937760" cy="1179576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75688" y="6345936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Vector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5688" y="6784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Index for similarity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25512" y="3072384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273552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712463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asked by the user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25512" y="6144768"/>
            <a:ext cx="2898648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6345936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Relevant passages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784848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go into the prompt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54512" y="4617720"/>
            <a:ext cx="2862072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01400" y="4818888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5257800"/>
            <a:ext cx="2496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language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46936" y="4617720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93824" y="4818888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593824" y="5257800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with sources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64408" y="4251960"/>
            <a:ext cx="0" cy="320040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64408" y="5797296"/>
            <a:ext cx="0" cy="301752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58000" y="4361688"/>
            <a:ext cx="777240" cy="77724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22976" y="5797296"/>
            <a:ext cx="0" cy="301752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766560" y="6729984"/>
            <a:ext cx="713232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87000" y="436168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287000" y="545896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844016" y="5212080"/>
            <a:ext cx="457200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60704" y="809244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7A9E"/>
                </a:solidFill>
                <a:latin typeface="Arial"/>
              </a:rPr>
              <a:t>Once, ahead of time, </a:t>
            </a:r>
            <a:r>
              <a:rPr sz="1700" b="0">
                <a:solidFill>
                  <a:srgbClr val="17161C"/>
                </a:solidFill>
                <a:latin typeface="Arial"/>
              </a:rPr>
              <a:t>the documents are read and cut into chunks. The embedding model turns every chunk into a vector, a list of numbers that captures its meaning. The vectors go into the vector database.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09244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DD6108"/>
                </a:solidFill>
                <a:latin typeface="Arial"/>
              </a:rPr>
              <a:t>For every question, </a:t>
            </a:r>
            <a:r>
              <a:rPr sz="1700" b="0">
                <a:solidFill>
                  <a:srgbClr val="17161C"/>
                </a:solidFill>
                <a:latin typeface="Arial"/>
              </a:rPr>
              <a:t>the same model turns the question into a vector and searches the same database. The closest chunks go to the language model with the question, and it answers with sources.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SETUP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Get the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774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git clone https://github.com/aihpi/workshop-rag-basics.git
cd workshop-rag-basics/workshop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447287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77055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654296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Add your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084064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cp .env.example .env    # then paste the key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5861304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6291072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python check_setup.py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706831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7498079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jupyter lab</a:t>
            </a:r>
          </a:p>
        </p:txBody>
      </p:sp>
      <p:pic>
        <p:nvPicPr>
          <p:cNvPr id="28" name="Picture 27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920240"/>
            <a:ext cx="1554480" cy="1554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A6065"/>
                </a:solidFill>
                <a:latin typeface="Arial"/>
              </a:rPr>
              <a:t>aihpi/workshop-rag-basics</a:t>
            </a:r>
          </a:p>
        </p:txBody>
      </p:sp>
      <p:pic>
        <p:nvPicPr>
          <p:cNvPr id="30" name="Picture 29" descr="live-re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2011680"/>
            <a:ext cx="6949440" cy="123078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393192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Cells that start with %%writefile app.py write the chatbot. Chainlit notices the change and reloads it in your browser at localhost:8000.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CHAT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35508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gemma-4-31b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70408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EMBEDDING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740664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octen-embedding-8b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8092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RUNS 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84582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our own infrastructure in Potsdam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TALKING TO AN LLM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1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Connect to the model through the gateway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about a paper the model has never seen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Build a chatbot that remembers and streams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Personality: change the system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Starter buttons with @cl.set_starters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Stopwatch: show how long each answer took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709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402336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4160520"/>
            <a:ext cx="6492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The beads were loaded with quantum dots (QDs), with lifetimes of about 2.5 ns, 10 ns and 25 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19" y="5440680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Sounds sure. It's wrong: the paper used organic dyes and quantum dots, with lifetimes from 1.7 to 22.6 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FROM DOCUMENT TO CHUNKS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1 · DOCLING READS THE PAGE</a:t>
            </a:r>
          </a:p>
        </p:txBody>
      </p:sp>
      <p:pic>
        <p:nvPicPr>
          <p:cNvPr id="9" name="Picture 8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86000"/>
            <a:ext cx="7863840" cy="329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7607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 PDF only stores where to draw each letter. Docling finds headings, paragraphs, tables and figures, and writes Markdown.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2 · CUT INTO CHUNKS</a:t>
            </a:r>
          </a:p>
        </p:txBody>
      </p:sp>
      <p:pic>
        <p:nvPicPr>
          <p:cNvPr id="12" name="Picture 11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286000"/>
            <a:ext cx="7863840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5760720"/>
            <a:ext cx="7863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Our notebook: </a:t>
            </a:r>
            <a:r>
              <a:rPr sz="1800" b="0">
                <a:solidFill>
                  <a:srgbClr val="17161C"/>
                </a:solidFill>
                <a:latin typeface="Arial"/>
              </a:rPr>
              <a:t>every 1000 characters, with 200 overlap. Simple, the same for every document, but it may cut through a table.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GrundschutzKI: </a:t>
            </a:r>
            <a:r>
              <a:rPr sz="1800" b="0">
                <a:solidFill>
                  <a:srgbClr val="17161C"/>
                </a:solidFill>
                <a:latin typeface="Arial"/>
              </a:rPr>
              <a:t>at every heading, because the BSI standards are clearly structured. A chunk keeps its title. Docling ships several such chunkers.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READING DOCUMENTS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2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Convert the three papers with Docling, page by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See a table come through as a table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Cut the pages into chunks, and look where the cuts 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are the cuts? Send the first three chunks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Only the tables: send every table Docling found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show the original PDF next to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590288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14831" y="2880360"/>
            <a:ext cx="3995928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51992" y="2990088"/>
            <a:ext cx="37216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📎 Schmidt_2022_SciReports.pdf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19" y="3675887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Docling reads Schmidt_2022_SciReports.pdf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61319" y="4315968"/>
            <a:ext cx="6949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19" y="4453128"/>
            <a:ext cx="6492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Schmidt_2022_SciReports.pdf: 10 pages, 54 chunks. This is page 1:
A multiparametric fluorescence assay for screening aptamer-protein interactions based on microbeads 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DID YOU FIND?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Vote by show of hands.
Answers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Asked about the Kage paper, what did the model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Said it doesn't know the paper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Answered confidently, with the wrong dyes and lifetimes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Quoted the paper correctly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They were dropped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They became loose lines of numbers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They stayed tables, in Markdown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Fewer chunks, and tables stay whole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More chunks, and more of them cut through a table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Nothing changes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Asked about the Kage paper, what did the model do?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Answered confidently, with the wrong dyes and lifetimes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It said quantum dots, 2.5, 10 and 25 ns. The paper used organic dyes and quantum dots, 1.7 to 22.6 ns. A model doesn't know your documents, and doesn't say 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56832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C</a:t>
            </a:r>
            <a:r>
              <a:rPr sz="1700" b="1">
                <a:solidFill>
                  <a:srgbClr val="17161C"/>
                </a:solidFill>
                <a:latin typeface="Arial"/>
              </a:rPr>
              <a:t>   They stayed tables, in Markdown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All 5 tables in the three papers came through with their rows and columns, searchable like any other 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0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0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More chunks, and more of them cut through a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0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628 instead of 197 chunks, and 17 instead of 5 end in the middle of a table row. At 3000: 69 chunks, none.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8229600"/>
            <a:ext cx="161848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8229600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NEXT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8229600"/>
            <a:ext cx="13898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We have good chunks. How do we find the right ones for a question? Embeddings.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EMBEDDINGS AND VECTOR 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21</a:t>
            </a:r>
          </a:p>
        </p:txBody>
      </p:sp>
      <p:pic>
        <p:nvPicPr>
          <p:cNvPr id="8" name="Picture 7" descr="embed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920240"/>
            <a:ext cx="6766560" cy="4016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26364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An embedding model </a:t>
            </a:r>
            <a:r>
              <a:rPr sz="1800" b="0">
                <a:solidFill>
                  <a:srgbClr val="17161C"/>
                </a:solidFill>
                <a:latin typeface="Arial"/>
              </a:rPr>
              <a:t>turns text into 4096 numbers. Similar meaning, similar direction, even without shared words.</a:t>
            </a:r>
          </a:p>
        </p:txBody>
      </p:sp>
      <p:pic>
        <p:nvPicPr>
          <p:cNvPr id="10" name="Picture 9" descr="q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920240"/>
            <a:ext cx="9692640" cy="37868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6263640"/>
            <a:ext cx="9509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Qdrant </a:t>
            </a:r>
            <a:r>
              <a:rPr sz="1800" b="0">
                <a:solidFill>
                  <a:srgbClr val="17161C"/>
                </a:solidFill>
                <a:latin typeface="Arial"/>
              </a:rPr>
              <a:t>stores one point per chunk: the vector to search by, and the payload you get back, with the text, the file and the page.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3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Embed sentences and compare how similar they are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Store all chunks in Qdrant, in memory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the bot into a search engine, no LLM yet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Fewer, better results: pick a score cutoff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 one paper only: a dropdown and a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open each hit as a PDF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6071616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3675887"/>
            <a:ext cx="6949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3813048"/>
            <a:ext cx="6492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2  (score 0.73)
› … loaded with different organic fluorophores …
Kage_2018_SciReports.pdf, p. 3  (score 0.64)
› Table 1. Lifetime codes and respective luminophores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95959" y="6236207"/>
            <a:ext cx="411480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33120" y="634593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is the capital of France?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7031736"/>
            <a:ext cx="6949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716889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6  (score 0.17) 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PROMPT AND CITATIONS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23</a:t>
            </a:r>
          </a:p>
        </p:txBody>
      </p:sp>
      <p:pic>
        <p:nvPicPr>
          <p:cNvPr id="8" name="Picture 7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828800"/>
            <a:ext cx="10424160" cy="3852407"/>
          </a:xfrm>
          <a:prstGeom prst="rect">
            <a:avLst/>
          </a:prstGeom>
        </p:spPr>
      </p:pic>
      <p:pic>
        <p:nvPicPr>
          <p:cNvPr id="9" name="Picture 8" descr="c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943600"/>
            <a:ext cx="8503920" cy="2466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252960" y="2103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3246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4389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0" y="630936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Every [n] leads back to a chunk, and every chunk remembers its file and page. That is all a citation 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RETRIEVAL-AUGMENTED GENERATION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4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notebook 1's question again, this time with context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Let the model cite the numbered chunks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every [n] into a link to the PDF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Strict or not: remove "say you don't know"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How much context: limit 2 versus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Show the evidence in the search step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5064" y="76169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follow-up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84124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2103120"/>
            <a:ext cx="7589520" cy="5852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19" y="402336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Search the papers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4663440"/>
            <a:ext cx="69494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4800600"/>
            <a:ext cx="64922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PMMA beads stained with organic dyes from PolyAn GmbH [1], and melamine beads loaded with CdSe/CdS/ZnS quantum dots [1], [2].
Sources:  Kage_2018_SciReports, p.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19" y="708660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Click the source: the PDF opens at page 2.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PUTTING IT TOGETHER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5 · 10 MIN</a:t>
            </a:r>
          </a:p>
        </p:txBody>
      </p:sp>
      <p:pic>
        <p:nvPicPr>
          <p:cNvPr id="9" name="Picture 8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9418320" cy="3326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80644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One app.py with every piece. Attach a PDF in the chat and the top row runs live: read, chunk, embed, store. Then ask about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2240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41480" y="272491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Your own document: attach a PDF and 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41480" y="359359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Chat with this document only: a Qdrant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41480" y="446227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a dropdown to switch the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53492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70408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PIECE · NOTEBOOK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93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Read a PDF with Docling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12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471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Cut into chunks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276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335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621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Turn text into vectors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5140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07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93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Store and search in Qdrant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471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Answer from the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276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0335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2621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Cite the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40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IS THE ANSWER ANY GOOD?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828800"/>
            <a:ext cx="1609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Changed the chunk size or the number of chunks? Measure whether it helped, instead of judging answers by eye. Both scores below need no hand-written correct answer.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Faithfulness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Is every claim backed by the retrieved chunks?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64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9343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supported claims ÷ all 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splits the answer into claims and checks each one against the chunks. 0.5 means half the claims have no source.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903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560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Relevance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60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Does the answer address the question?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560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38944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similarity(questions from the answer, real question)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writes the questions this answer would fit; their embeddings are compared with the question that was asked.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8001000"/>
            <a:ext cx="16093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In the template: </a:t>
            </a:r>
            <a:r>
              <a:rPr sz="1800" b="0">
                <a:solidFill>
                  <a:srgbClr val="17161C"/>
                </a:solidFill>
                <a:latin typeface="Arial"/>
              </a:rPr>
              <a:t>both scores for every answer, a badge in the chat, and an evaluation app that compares configurations. Built on Ragas.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WHERE TO GO NEXT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16184880" cy="74980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965960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965960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The template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2752344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75234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PDFs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5234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Also txt, md, csv and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3538728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538728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Fixed 1000-character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38728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Structure-aware chunkers, chosen per data source in a config 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4325112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4325112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in memory, rebuilt on every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325112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server, ingested once, updated when files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111496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5111496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Vector search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111496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Hybrid search: vectors plus keyword matching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5897879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5897879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[1] and a file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897879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Citation format set in the config: title, file, page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6684264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668426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 judge the answers by eye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68426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An evaluation app that scores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THIS WORKSHOP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4"/>
              </a:rPr>
              <a:t>github.com/aihpi/workshop-rag-basics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THE 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5"/>
              </a:rPr>
              <a:t>github.com/aihpi/pilotproject-rag-template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335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OTHER EMBEDDING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335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6"/>
              </a:rPr>
              <a:t>huggingface.co/spaces/mteb/leaderboard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691640"/>
            <a:ext cx="1234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5A6065"/>
                </a:solidFill>
                <a:latin typeface="Arial"/>
              </a:rPr>
              <a:t>YOUR FEEDBACK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8346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We shape our next workshops around your answers. Two minutes is enough.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7048" y="416052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544568"/>
            <a:ext cx="2670048" cy="268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512064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3"/>
              </a:rPr>
              <a:t>kisz@hpi.de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4"/>
              </a:rPr>
              <a:t>hpi.de/kisz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Felix Boelter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7048" y="7589520"/>
            <a:ext cx="6766560" cy="18288"/>
          </a:xfrm>
          <a:prstGeom prst="rect">
            <a:avLst/>
          </a:prstGeom>
          <a:solidFill>
            <a:srgbClr val="D0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7772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B1063A"/>
                </a:solidFill>
                <a:latin typeface="Arial"/>
              </a:rPr>
              <a:t>KEEP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8183879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5"/>
              </a:rPr>
              <a:t>github.com/aihpi/workshop-rag-basics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this workshop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6"/>
              </a:rPr>
              <a:t>github.com/aihpi/pilotproject-rag-template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template</a:t>
            </a:r>
          </a:p>
        </p:txBody>
      </p:sp>
      <p:pic>
        <p:nvPicPr>
          <p:cNvPr id="10" name="Picture 9" descr="logo-kis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11" name="Picture 10" descr="logo-bmft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12" name="Picture 11" descr="hpi-tag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3" name="Picture 12" descr="hpi-build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