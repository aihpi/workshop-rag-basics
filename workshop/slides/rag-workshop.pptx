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8288000" cy="1047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90 minutes. Goal: understand how AI-assisted research on your own documents works, and build it yourself, step by step, in five notebooks.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the list round now, not at the end, or it gets lost on the way. Collect it again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plan for today: theory in small doses, most of the time in the notebooks. The two mixed blocks start with 3 minutes of slides, then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who we are, and how you can keep working with us. About 5 minutes for slides 3 to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centres across Germany. Our site in Potsdam and Berlin covers education, consulting and the use of AI in business and society.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free and open. Newsletter via the QR code on the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Free to use, no production use. Request access at aisc.hpi.de.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call to action: book office hours (QR on the left), apply for a pilot project, which opens every three months (QR on the 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question: why is a language model on its own not enough for research in specialist documents? About 5 minutes for 8 to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no-parking versus no-stopping example makes the point fastest: the model answers plausibly, but from the wrong legal text. You'll see the same in notebook 1, with a scientific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live demo today, just these two to show RAG in real use. SENTRA: up to 2000 requests a year at the Bundestag's research services. GrundschutzKI: do-it-yourself instead of external consulting, also with NIS2 in mind.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here: theory in small doses, then hands-on. Write the gateway key on the whiteboard.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Stress the two phases: ingestion happens once, inference with every question. The same embedding model in both. The badges show which notebook builds which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minutes, if everyone ran check_setup.py at home. Whoever didn't: start uv sync and check_setup.py now; Docling downloads about 500 MB of models the first time. Notebook 1 works before that finishes.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Point out the confident wrong answer, it comes back in notebook 4. Then the Your turn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One method of many: fixed size with overlap is what the notebook does. Structured documents chunk better along headings.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Docling takes about a minute for the three papers; talk through the Markdown while 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minutes for both slides. Read the questions out, let the room vote by show of hands.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Reveal, ask whether anyone saw something different. The notebook 1 answer varies a little from run to run; the chunk numbers are measured on the three 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The cat/kitten numbers are the real ones participants will see in notebook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minutes. Make them notice that search always returns something, even for France: that's why exercise 1 asks for a score cutoff. Good questions scored 0.33 to 0.73 in testing, France 0.17.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minutes. RAG = retrieve, augment, generate. Citations are bookkeeping,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minutes. Compare with the invented answer from notebook 1, same question. The faithfulness judge makes the difference a number: in testing 1.0 with context, between 0.14 and 0.5 without; the invented answer differs every run. Let them click a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Remind them how the pieces fit: everything from notebooks 1 to 4, one file. Only test documents, nothing confidential, when they attach their own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to 2 minutes, a recap: they built faithfulness themselves in notebook 4. Relevance is new. Link it to the exercises: limit 2 versus 15, chunk size 300 versus 3000 are exactly the changes you would measure this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minutes. The template is where to start a real project, so nobody starts from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the QR code up while questions come in. Contact: kisz@hpi.de.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jpg"/><Relationship Id="rId7" Type="http://schemas.openxmlformats.org/officeDocument/2006/relationships/image" Target="../media/image18.png"/><Relationship Id="rId8" Type="http://schemas.openxmlformats.org/officeDocument/2006/relationships/image" Target="../media/image19.jpg"/><Relationship Id="rId9" Type="http://schemas.openxmlformats.org/officeDocument/2006/relationships/image" Target="../media/image20.jpg"/><Relationship Id="rId10" Type="http://schemas.openxmlformats.org/officeDocument/2006/relationships/image" Target="../media/image21.jpg"/><Relationship Id="rId11" Type="http://schemas.openxmlformats.org/officeDocument/2006/relationships/image" Target="../media/image22.png"/><Relationship Id="rId12" Type="http://schemas.openxmlformats.org/officeDocument/2006/relationships/image" Target="../media/image23.jpg"/><Relationship Id="rId13" Type="http://schemas.openxmlformats.org/officeDocument/2006/relationships/image" Target="../media/image24.png"/><Relationship Id="rId14" Type="http://schemas.openxmlformats.org/officeDocument/2006/relationships/image" Target="../media/image25.jpg"/><Relationship Id="rId1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jpg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42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hyperlink" Target="https://github.com/aihpi/workshop-rag-basics" TargetMode="External"/><Relationship Id="rId5" Type="http://schemas.openxmlformats.org/officeDocument/2006/relationships/hyperlink" Target="https://github.com/aihpi/pilotproject-rag-template" TargetMode="External"/><Relationship Id="rId6" Type="http://schemas.openxmlformats.org/officeDocument/2006/relationships/hyperlink" Target="https://huggingface.co/spaces/mteb/leaderboard" TargetMode="Externa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mailto:kisz@hpi.de" TargetMode="External"/><Relationship Id="rId4" Type="http://schemas.openxmlformats.org/officeDocument/2006/relationships/hyperlink" Target="https://hpi.de/kisz" TargetMode="External"/><Relationship Id="rId5" Type="http://schemas.openxmlformats.org/officeDocument/2006/relationships/hyperlink" Target="https://github.com/aihpi/workshop-rag-basics" TargetMode="External"/><Relationship Id="rId6" Type="http://schemas.openxmlformats.org/officeDocument/2006/relationships/hyperlink" Target="https://github.com/aihpi/pilotproject-rag-template" TargetMode="Externa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2048256"/>
            <a:ext cx="1371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 spc="400">
                <a:solidFill>
                  <a:srgbClr val="DC640D"/>
                </a:solidFill>
                <a:latin typeface="Arial"/>
              </a:rPr>
              <a:t>[EVENT]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048" y="2578608"/>
            <a:ext cx="1371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900" b="1">
                <a:solidFill>
                  <a:srgbClr val="5A6065"/>
                </a:solidFill>
                <a:latin typeface="Arial"/>
              </a:rPr>
              <a:t>HANDS-ON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048" y="3758184"/>
            <a:ext cx="1371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50" b="0">
                <a:solidFill>
                  <a:srgbClr val="B1063A"/>
                </a:solidFill>
                <a:latin typeface="Arial"/>
              </a:rPr>
              <a:t>Build your own document Q&amp;A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7048" y="4754880"/>
            <a:ext cx="1143000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12801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17161C"/>
                </a:solidFill>
                <a:latin typeface="Arial"/>
              </a:rPr>
              <a:t>Felix Boelter  |  [Co-moderator]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5A6065"/>
                </a:solidFill>
                <a:latin typeface="Arial"/>
              </a:rPr>
              <a:t>AI Service Centre Berlin-Brandenburg  |  [Date]</a:t>
            </a:r>
          </a:p>
        </p:txBody>
      </p:sp>
      <p:pic>
        <p:nvPicPr>
          <p:cNvPr id="7" name="Picture 6" descr="logo-kis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1880" y="676656"/>
            <a:ext cx="2560320" cy="905528"/>
          </a:xfrm>
          <a:prstGeom prst="rect">
            <a:avLst/>
          </a:prstGeom>
        </p:spPr>
      </p:pic>
      <p:pic>
        <p:nvPicPr>
          <p:cNvPr id="8" name="Picture 7" descr="logo-bmf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5304" y="1810512"/>
            <a:ext cx="2560320" cy="1708886"/>
          </a:xfrm>
          <a:prstGeom prst="rect">
            <a:avLst/>
          </a:prstGeom>
        </p:spPr>
      </p:pic>
      <p:pic>
        <p:nvPicPr>
          <p:cNvPr id="9" name="Picture 8" descr="hpi-tag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9354312"/>
            <a:ext cx="2670048" cy="991732"/>
          </a:xfrm>
          <a:prstGeom prst="rect">
            <a:avLst/>
          </a:prstGeom>
        </p:spPr>
      </p:pic>
      <p:pic>
        <p:nvPicPr>
          <p:cNvPr id="10" name="Picture 9" descr="hpi-buil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7968" y="6144768"/>
            <a:ext cx="10716768" cy="49672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PARTICIPANT LIST</a:t>
            </a:r>
          </a:p>
        </p:txBody>
      </p:sp>
      <p:pic>
        <p:nvPicPr>
          <p:cNvPr id="4" name="Picture 3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2377440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The list is going round now. Please sign in while everyone is still seated.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Name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0704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60704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22776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05656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Institution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22776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22776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22776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84848" y="3931920"/>
            <a:ext cx="2834640" cy="68580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67728" y="3931920"/>
            <a:ext cx="25603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Email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84848" y="464515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84848" y="519379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84848" y="5742432"/>
            <a:ext cx="2834640" cy="521207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47120" y="2514600"/>
            <a:ext cx="5715000" cy="73152"/>
          </a:xfrm>
          <a:prstGeom prst="rect">
            <a:avLst/>
          </a:pr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247120" y="2834640"/>
            <a:ext cx="5715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5A6065"/>
                </a:solidFill>
                <a:latin typeface="Arial"/>
              </a:rPr>
              <a:t>The printout stays with the workshop lead. Please hand it back at the 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8B90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AGENDA · 90 MINUTES</a:t>
            </a:r>
          </a:p>
        </p:txBody>
      </p:sp>
      <p:pic>
        <p:nvPicPr>
          <p:cNvPr id="4" name="Picture 3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" y="187451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0:00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984248"/>
            <a:ext cx="329184" cy="329184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874519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874519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Welcome, the AI Service Centre, why 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0" y="1874519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551176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2660904"/>
            <a:ext cx="329184" cy="329184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2551176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55117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Architecture and setup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0" y="2551176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3227832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3337560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0360" y="3227832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Notebook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227832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Talking to an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0" y="3227832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" y="3904487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4014215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80360" y="3904487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 + notebook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904487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From document to chunks · reading documents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0" y="3904487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13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4581144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0:38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4690872"/>
            <a:ext cx="329184" cy="329184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0360" y="4581144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4581144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What we found so far · embeddings and vector search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0" y="4581144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7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" y="5257800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367528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80360" y="5257800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Notebook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5257800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819120" y="5257800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13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" y="5934455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0:58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0" y="6044183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80360" y="5934455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 + notebook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5934455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Prompt and citations · RAG · is the answer any good?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819120" y="5934455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18 min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" y="6611112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1:16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" y="6720840"/>
            <a:ext cx="329184" cy="329184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80360" y="6611112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Notebook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6611112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Putting it together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819120" y="6611112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10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" y="7287768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5A6065"/>
                </a:solidFill>
                <a:latin typeface="Arial"/>
              </a:rPr>
              <a:t>1:26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0" y="7397496"/>
            <a:ext cx="329184" cy="329184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80360" y="7287768"/>
            <a:ext cx="3840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Slides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7287768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Evaluation, where to go next, feedback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819120" y="7287768"/>
            <a:ext cx="1417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0">
                <a:solidFill>
                  <a:srgbClr val="8B9094"/>
                </a:solidFill>
                <a:latin typeface="Arial"/>
              </a:rPr>
              <a:t>4 min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0704" y="8229600"/>
            <a:ext cx="1761743" cy="384048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859024" y="8229600"/>
            <a:ext cx="862583" cy="38404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58183" y="8229600"/>
            <a:ext cx="1761743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556504" y="8229600"/>
            <a:ext cx="2301240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94320" y="8229600"/>
            <a:ext cx="1222247" cy="38404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53144" y="8229600"/>
            <a:ext cx="2301240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490960" y="8229600"/>
            <a:ext cx="3200400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4727935" y="8229600"/>
            <a:ext cx="1761743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6526256" y="8229600"/>
            <a:ext cx="682751" cy="384048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60704" y="8778240"/>
            <a:ext cx="1618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6A800"/>
                </a:solidFill>
                <a:latin typeface="Arial"/>
              </a:rPr>
              <a:t>■ </a:t>
            </a:r>
            <a:r>
              <a:rPr sz="1600" b="0">
                <a:solidFill>
                  <a:srgbClr val="5A6065"/>
                </a:solidFill>
                <a:latin typeface="Arial"/>
              </a:rPr>
              <a:t>notebooks, hands-on: 58 min     </a:t>
            </a:r>
            <a:r>
              <a:rPr sz="1600" b="0">
                <a:solidFill>
                  <a:srgbClr val="007A9E"/>
                </a:solidFill>
                <a:latin typeface="Arial"/>
              </a:rPr>
              <a:t>■ </a:t>
            </a:r>
            <a:r>
              <a:rPr sz="1600" b="0">
                <a:solidFill>
                  <a:srgbClr val="5A6065"/>
                </a:solidFill>
                <a:latin typeface="Arial"/>
              </a:rPr>
              <a:t>theory     </a:t>
            </a:r>
            <a:r>
              <a:rPr sz="1600" b="0">
                <a:solidFill>
                  <a:srgbClr val="B1063A"/>
                </a:solidFill>
                <a:latin typeface="Arial"/>
              </a:rPr>
              <a:t>■ </a:t>
            </a:r>
            <a:r>
              <a:rPr sz="1600" b="0">
                <a:solidFill>
                  <a:srgbClr val="5A6065"/>
                </a:solidFill>
                <a:latin typeface="Arial"/>
              </a:rPr>
              <a:t>welcome and wrap-up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106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FFFFFF"/>
                </a:solidFill>
                <a:latin typeface="Arial"/>
              </a:rPr>
              <a:t>AI SERVICE CENTRE
BERLIN-BRANDENBURG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Arial"/>
              </a:rPr>
              <a:t>Who we are and what you can use.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2807207" y="5321808"/>
            <a:ext cx="6473951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AI SERVICE CENTRES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FOUR AI SERVICE CENTRES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5</a:t>
            </a:r>
          </a:p>
        </p:txBody>
      </p:sp>
      <p:pic>
        <p:nvPicPr>
          <p:cNvPr id="8" name="Picture 7" descr="qr-kis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514600"/>
            <a:ext cx="260604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0" y="51663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5A6065"/>
                </a:solidFill>
                <a:latin typeface="Arial"/>
              </a:rPr>
              <a:t>hpi.de/ki-servicezentrum</a:t>
            </a:r>
          </a:p>
        </p:txBody>
      </p:sp>
      <p:pic>
        <p:nvPicPr>
          <p:cNvPr id="10" name="Picture 9" descr="map-german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691640"/>
            <a:ext cx="4764024" cy="6338509"/>
          </a:xfrm>
          <a:prstGeom prst="rect">
            <a:avLst/>
          </a:prstGeom>
        </p:spPr>
      </p:pic>
      <p:pic>
        <p:nvPicPr>
          <p:cNvPr id="11" name="Picture 10" descr="map-stat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4" y="1810512"/>
            <a:ext cx="4745736" cy="626748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7031736" y="3675888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77456" y="4407408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03136" y="4700016"/>
            <a:ext cx="109728" cy="109728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7306056" y="4462272"/>
            <a:ext cx="438912" cy="0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744968" y="2560320"/>
            <a:ext cx="2148840" cy="1901952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893808" y="2560320"/>
            <a:ext cx="2350008" cy="0"/>
          </a:xfrm>
          <a:prstGeom prst="line">
            <a:avLst/>
          </a:prstGeom>
          <a:ln w="28575">
            <a:solidFill>
              <a:srgbClr val="1BA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12152376" y="2468879"/>
            <a:ext cx="182880" cy="182880"/>
          </a:xfrm>
          <a:prstGeom prst="ellipse">
            <a:avLst/>
          </a:prstGeom>
          <a:solidFill>
            <a:srgbClr val="1BA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-kissk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35640" y="2148840"/>
            <a:ext cx="1234440" cy="35590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527280" y="210312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BABE3"/>
                </a:solidFill>
                <a:latin typeface="Arial"/>
              </a:rPr>
              <a:t>Göttingen | Kassel | Hannover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27280" y="25146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Sensitive and critical infrastructure, medicine &amp; energy</a:t>
            </a:r>
          </a:p>
        </p:txBody>
      </p:sp>
      <p:sp>
        <p:nvSpPr>
          <p:cNvPr id="22" name="Oval 21"/>
          <p:cNvSpPr/>
          <p:nvPr/>
        </p:nvSpPr>
        <p:spPr>
          <a:xfrm>
            <a:off x="8677656" y="3867912"/>
            <a:ext cx="109728" cy="109728"/>
          </a:xfrm>
          <a:prstGeom prst="ellipse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732520" y="3922776"/>
            <a:ext cx="3511296" cy="0"/>
          </a:xfrm>
          <a:prstGeom prst="line">
            <a:avLst/>
          </a:prstGeom>
          <a:ln w="28575">
            <a:solidFill>
              <a:srgbClr val="DD6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2152376" y="3831336"/>
            <a:ext cx="182880" cy="182880"/>
          </a:xfrm>
          <a:prstGeom prst="ellipse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-kisz-smal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35640" y="3474720"/>
            <a:ext cx="1234440" cy="43880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2527280" y="34290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DD6108"/>
                </a:solidFill>
                <a:latin typeface="Arial"/>
              </a:rPr>
              <a:t>Potsdam | Berlin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0" y="384048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Education and consulting, AI in business &amp; society</a:t>
            </a:r>
          </a:p>
        </p:txBody>
      </p:sp>
      <p:sp>
        <p:nvSpPr>
          <p:cNvPr id="28" name="Oval 27"/>
          <p:cNvSpPr/>
          <p:nvPr/>
        </p:nvSpPr>
        <p:spPr>
          <a:xfrm>
            <a:off x="5769864" y="4507992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15584" y="4745736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58384" y="5056632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193792" y="5157216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907024" y="5404104"/>
            <a:ext cx="109728" cy="109728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897880" y="4617720"/>
            <a:ext cx="658368" cy="429768"/>
          </a:xfrm>
          <a:prstGeom prst="line">
            <a:avLst/>
          </a:prstGeom>
          <a:ln w="28575">
            <a:solidFill>
              <a:srgbClr val="E935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556248" y="5047488"/>
            <a:ext cx="5687568" cy="0"/>
          </a:xfrm>
          <a:prstGeom prst="line">
            <a:avLst/>
          </a:prstGeom>
          <a:ln w="28575">
            <a:solidFill>
              <a:srgbClr val="E935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2152376" y="4956048"/>
            <a:ext cx="182880" cy="182880"/>
          </a:xfrm>
          <a:prstGeom prst="ellipse">
            <a:avLst/>
          </a:prstGeom>
          <a:solidFill>
            <a:srgbClr val="E935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logo-west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35640" y="4617720"/>
            <a:ext cx="1234440" cy="27744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527280" y="45720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9358D"/>
                </a:solidFill>
                <a:latin typeface="Arial"/>
              </a:rPr>
              <a:t>Bonn | St. Augustin | Aachen | Jülich | Dortmund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527280" y="498348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AI hardware, consulting and training; multimodal and transferable models</a:t>
            </a:r>
          </a:p>
        </p:txBody>
      </p:sp>
      <p:sp>
        <p:nvSpPr>
          <p:cNvPr id="39" name="Oval 38"/>
          <p:cNvSpPr/>
          <p:nvPr/>
        </p:nvSpPr>
        <p:spPr>
          <a:xfrm>
            <a:off x="6318504" y="5650992"/>
            <a:ext cx="109728" cy="109728"/>
          </a:xfrm>
          <a:prstGeom prst="ellipse">
            <a:avLst/>
          </a:prstGeom>
          <a:solidFill>
            <a:srgbClr val="8A6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6556248" y="5705856"/>
            <a:ext cx="2221992" cy="0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778240" y="5705856"/>
            <a:ext cx="1097280" cy="512064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875520" y="6217920"/>
            <a:ext cx="2368296" cy="0"/>
          </a:xfrm>
          <a:prstGeom prst="line">
            <a:avLst/>
          </a:prstGeom>
          <a:ln w="28575">
            <a:solidFill>
              <a:srgbClr val="8A6AF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12152376" y="6126480"/>
            <a:ext cx="182880" cy="182880"/>
          </a:xfrm>
          <a:prstGeom prst="ellipse">
            <a:avLst/>
          </a:prstGeom>
          <a:solidFill>
            <a:srgbClr val="8A6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ogo-hessia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35640" y="5852160"/>
            <a:ext cx="1234440" cy="430889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2527280" y="580644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8A6AF4"/>
                </a:solidFill>
                <a:latin typeface="Arial"/>
              </a:rPr>
              <a:t>Darmstadt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527280" y="621792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Explainability, generalisability and contextual adaptation</a:t>
            </a:r>
          </a:p>
        </p:txBody>
      </p:sp>
      <p:pic>
        <p:nvPicPr>
          <p:cNvPr id="47" name="Picture 46" descr="logo-centre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95544" y="8659368"/>
            <a:ext cx="4096512" cy="147804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3898880" y="8138160"/>
            <a:ext cx="4206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Goal: </a:t>
            </a:r>
            <a:r>
              <a:rPr sz="1800" b="1">
                <a:solidFill>
                  <a:srgbClr val="17161C"/>
                </a:solidFill>
                <a:latin typeface="Arial"/>
              </a:rPr>
              <a:t>lower the barriers to putting AI to work in society and business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EDUCATION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qr-newsle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94560"/>
            <a:ext cx="2606040" cy="2606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0704" y="484632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5A6065"/>
                </a:solidFill>
                <a:latin typeface="Arial"/>
              </a:rPr>
              <a:t>Newsletter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4608" y="502920"/>
            <a:ext cx="1600200" cy="155448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64608" y="50292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Talks</a:t>
            </a:r>
          </a:p>
        </p:txBody>
      </p:sp>
      <p:pic>
        <p:nvPicPr>
          <p:cNvPr id="9" name="Picture 8" descr="qr-tal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502920"/>
            <a:ext cx="137160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0" y="19202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tele-task.de/series/1463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8" y="228600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Guest talks on research and innovation</a:t>
            </a:r>
          </a:p>
        </p:txBody>
      </p:sp>
      <p:pic>
        <p:nvPicPr>
          <p:cNvPr id="12" name="Picture 11" descr="tile-talk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02920"/>
            <a:ext cx="2578608" cy="1450467"/>
          </a:xfrm>
          <a:prstGeom prst="rect">
            <a:avLst/>
          </a:prstGeom>
        </p:spPr>
      </p:pic>
      <p:pic>
        <p:nvPicPr>
          <p:cNvPr id="13" name="Picture 12" descr="tile-talk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0" y="502920"/>
            <a:ext cx="2578608" cy="1289304"/>
          </a:xfrm>
          <a:prstGeom prst="rect">
            <a:avLst/>
          </a:prstGeom>
        </p:spPr>
      </p:pic>
      <p:pic>
        <p:nvPicPr>
          <p:cNvPr id="14" name="Picture 13" descr="tile-talk-3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44800" y="502920"/>
            <a:ext cx="2578608" cy="128930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864608" y="3794760"/>
            <a:ext cx="1600200" cy="1554480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79476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Work-
shops</a:t>
            </a:r>
          </a:p>
        </p:txBody>
      </p:sp>
      <p:pic>
        <p:nvPicPr>
          <p:cNvPr id="17" name="Picture 16" descr="qr-workshop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794760"/>
            <a:ext cx="1371600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75120" y="52120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aimaker.community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557784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Hands-on topics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For example: speech2summary, Docker for ML, semantic search</a:t>
            </a:r>
          </a:p>
        </p:txBody>
      </p:sp>
      <p:pic>
        <p:nvPicPr>
          <p:cNvPr id="20" name="Picture 19" descr="tile-workshop-1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794760"/>
            <a:ext cx="2578608" cy="1289304"/>
          </a:xfrm>
          <a:prstGeom prst="rect">
            <a:avLst/>
          </a:prstGeom>
        </p:spPr>
      </p:pic>
      <p:pic>
        <p:nvPicPr>
          <p:cNvPr id="21" name="Picture 20" descr="tile-workshop-2.jpe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01600" y="3794760"/>
            <a:ext cx="2578608" cy="1450467"/>
          </a:xfrm>
          <a:prstGeom prst="rect">
            <a:avLst/>
          </a:prstGeom>
        </p:spPr>
      </p:pic>
      <p:pic>
        <p:nvPicPr>
          <p:cNvPr id="22" name="Picture 21" descr="tile-workshop-3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544800" y="3794760"/>
            <a:ext cx="2578608" cy="128930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864608" y="7086600"/>
            <a:ext cx="1600200" cy="1554480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4608" y="7086600"/>
            <a:ext cx="160020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MOOCs</a:t>
            </a:r>
          </a:p>
        </p:txBody>
      </p:sp>
      <p:pic>
        <p:nvPicPr>
          <p:cNvPr id="25" name="Picture 24" descr="qr-mooc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0" y="7086600"/>
            <a:ext cx="1371600" cy="1371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75120" y="85039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open.hpi.de/channels/ai-service-center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4608" y="886968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ChatGPT: what does generative AI mean for society?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Profitable AI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>
                <a:solidFill>
                  <a:srgbClr val="17161C"/>
                </a:solidFill>
                <a:latin typeface="Arial"/>
              </a:rPr>
              <a:t>•  Understanding and avoiding AI bias</a:t>
            </a:r>
          </a:p>
        </p:txBody>
      </p:sp>
      <p:pic>
        <p:nvPicPr>
          <p:cNvPr id="28" name="Picture 27" descr="tile-mooc-1.jpe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0" y="7086600"/>
            <a:ext cx="2578608" cy="1289304"/>
          </a:xfrm>
          <a:prstGeom prst="rect">
            <a:avLst/>
          </a:prstGeom>
        </p:spPr>
      </p:pic>
      <p:pic>
        <p:nvPicPr>
          <p:cNvPr id="29" name="Picture 28" descr="tile-mooc-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801600" y="7086600"/>
            <a:ext cx="2578608" cy="1450467"/>
          </a:xfrm>
          <a:prstGeom prst="rect">
            <a:avLst/>
          </a:prstGeom>
        </p:spPr>
      </p:pic>
      <p:pic>
        <p:nvPicPr>
          <p:cNvPr id="30" name="Picture 29" descr="tile-mooc-3.jpe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544800" y="7086600"/>
            <a:ext cx="2578608" cy="128930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303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logo-kis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pic>
        <p:nvPicPr>
          <p:cNvPr id="6" name="Picture 5" descr="qr-ai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2514600"/>
            <a:ext cx="2606040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516636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5A6065"/>
                </a:solidFill>
                <a:latin typeface="Arial"/>
              </a:rPr>
              <a:t>aisc.hpi.de · request access</a:t>
            </a:r>
          </a:p>
        </p:txBody>
      </p:sp>
      <p:pic>
        <p:nvPicPr>
          <p:cNvPr id="8" name="Picture 7" descr="compute-banner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296" y="1828800"/>
            <a:ext cx="6400800" cy="3600450"/>
          </a:xfrm>
          <a:prstGeom prst="rect">
            <a:avLst/>
          </a:prstGeom>
        </p:spPr>
      </p:pic>
      <p:pic>
        <p:nvPicPr>
          <p:cNvPr id="9" name="Picture 8" descr="compute-racks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296" y="5440680"/>
            <a:ext cx="6400800" cy="4754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521440" y="1783080"/>
            <a:ext cx="6583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Access </a:t>
            </a:r>
            <a:r>
              <a:rPr sz="1700" b="0">
                <a:solidFill>
                  <a:srgbClr val="DD6108"/>
                </a:solidFill>
                <a:latin typeface="Arial"/>
              </a:rPr>
              <a:t>free of charge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No production use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Data should be </a:t>
            </a:r>
            <a:r>
              <a:rPr sz="1700" b="0">
                <a:solidFill>
                  <a:srgbClr val="DD6108"/>
                </a:solidFill>
                <a:latin typeface="Arial"/>
              </a:rPr>
              <a:t>anonymised or synthetic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No </a:t>
            </a:r>
            <a:r>
              <a:rPr sz="1700" b="0">
                <a:solidFill>
                  <a:srgbClr val="DD6108"/>
                </a:solidFill>
                <a:latin typeface="Arial"/>
              </a:rPr>
              <a:t>hosting of products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Reporting &amp; publication</a:t>
            </a:r>
            <a:r>
              <a:rPr sz="1700" b="0">
                <a:solidFill>
                  <a:srgbClr val="17161C"/>
                </a:solidFill>
                <a:latin typeface="Arial"/>
              </a:rPr>
              <a:t> by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Existing rights</a:t>
            </a:r>
            <a:r>
              <a:rPr sz="1700" b="0">
                <a:solidFill>
                  <a:srgbClr val="17161C"/>
                </a:solidFill>
                <a:latin typeface="Arial"/>
              </a:rPr>
              <a:t> stay with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•  </a:t>
            </a:r>
            <a:r>
              <a:rPr sz="1700" b="0">
                <a:solidFill>
                  <a:srgbClr val="DD6108"/>
                </a:solidFill>
                <a:latin typeface="Arial"/>
              </a:rPr>
              <a:t>New rights</a:t>
            </a:r>
            <a:r>
              <a:rPr sz="1700" b="0">
                <a:solidFill>
                  <a:srgbClr val="17161C"/>
                </a:solidFill>
                <a:latin typeface="Arial"/>
              </a:rPr>
              <a:t> stay with users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      ◦  Usage rights granted for research and teaching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5486400"/>
            <a:ext cx="32918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Training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64 NVIDIA H100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Inference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40 NVIDIA A30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ARM server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Ampere Altra Max M128-30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2× NVIDIA L40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GPU server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AMD Epyc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8× NVIDIA L40S GPUs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04720" y="5486400"/>
            <a:ext cx="32918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Edge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ARMv8 CPU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NVIDIA Jetson AGX modules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Neuromorphic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288 SpiNNaker2 chips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Storage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1.5 PB NVRAM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1600" b="1">
                <a:solidFill>
                  <a:srgbClr val="DD6108"/>
                </a:solidFill>
                <a:latin typeface="Arial"/>
              </a:rPr>
              <a:t>Network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400 Gb/s InfiniBand</a:t>
            </a:r>
          </a:p>
          <a:p>
            <a:pPr algn="l">
              <a:lnSpc>
                <a:spcPct val="110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•  200 Gb/s Ethernet</a:t>
            </a:r>
          </a:p>
          <a:p>
            <a:pPr algn="l">
              <a:lnSpc>
                <a:spcPct val="110000"/>
              </a:lnSpc>
            </a:pPr>
            <a:r>
              <a:rPr sz="6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qr-office-hou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31720"/>
            <a:ext cx="2697480" cy="2697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0704" y="507492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6065"/>
                </a:solidFill>
                <a:latin typeface="Arial"/>
              </a:rPr>
              <a:t>Book office 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011680"/>
            <a:ext cx="7132320" cy="8046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B1063A"/>
                </a:solidFill>
                <a:latin typeface="Arial"/>
              </a:rPr>
              <a:t>AI office hours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infrastructure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models &amp; frameworks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AI use cases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DD6108"/>
                </a:solidFill>
                <a:latin typeface="Arial"/>
              </a:rPr>
              <a:t>AI pilot projects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Co-developing a prototype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Applications every three months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Selection criteria such as AI maturity and public benefit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Results are published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F6A800"/>
                </a:solidFill>
                <a:latin typeface="Arial"/>
              </a:rPr>
              <a:t>Collaborations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Jointly organised network meetings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10000"/>
              </a:lnSpc>
            </a:pPr>
            <a:r>
              <a:rPr sz="2100" b="1">
                <a:solidFill>
                  <a:srgbClr val="17161C"/>
                </a:solidFill>
                <a:latin typeface="Arial"/>
              </a:rPr>
              <a:t>Past AI pilot projects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maths problems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plain language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Generating upcycling ideas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Reducing food waste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•  Dating documents by handwriting</a:t>
            </a:r>
          </a:p>
          <a:p>
            <a:pPr algn="l">
              <a:lnSpc>
                <a:spcPct val="110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</p:txBody>
      </p:sp>
      <p:pic>
        <p:nvPicPr>
          <p:cNvPr id="8" name="Picture 7" descr="consulting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1480" y="274320"/>
            <a:ext cx="6035040" cy="4526280"/>
          </a:xfrm>
          <a:prstGeom prst="rect">
            <a:avLst/>
          </a:prstGeom>
        </p:spPr>
      </p:pic>
      <p:pic>
        <p:nvPicPr>
          <p:cNvPr id="9" name="Picture 8" descr="qr-appl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67559" y="6400800"/>
            <a:ext cx="2697480" cy="2697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767559" y="9144000"/>
            <a:ext cx="2697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DC640D"/>
                </a:solidFill>
                <a:latin typeface="Arial"/>
              </a:rPr>
              <a:t>Apply now!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106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FFFFFF"/>
                </a:solidFill>
                <a:latin typeface="Arial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Arial"/>
              </a:rPr>
              <a:t>What language models don't know, and what that means for research.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WHY A LANGUAGE MODEL
ALONE IS NOT ENOUGH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2286000"/>
            <a:ext cx="4992624" cy="73152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No access to
your own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7161C"/>
                </a:solidFill>
                <a:latin typeface="Arial"/>
              </a:rPr>
              <a:t>Language models are trained mostly on public data. Internal documents about your processes and paywalled specialist publications are unknown to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2286000"/>
            <a:ext cx="4992624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Similar instead
of right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7161C"/>
                </a:solidFill>
                <a:latin typeface="Arial"/>
              </a:rPr>
              <a:t>When the right information is missing, the model falls back on related material: the rules for no-parking zones answer a question about no-stopping zones, popular science stands in for the specialist literature.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52960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252960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8B909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0" y="30632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7161C"/>
                </a:solidFill>
                <a:latin typeface="Arial"/>
              </a:rPr>
              <a:t>RAG decides what
the answer is built 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0" y="4343400"/>
            <a:ext cx="48463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7161C"/>
                </a:solidFill>
                <a:latin typeface="Arial"/>
              </a:rPr>
              <a:t>Retrieval-augmented generation sets which documents an answer may use, and shows which source every statement comes from.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55063" y="5321808"/>
            <a:ext cx="4169663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RAG IN PRACTICE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11</a:t>
            </a:r>
          </a:p>
        </p:txBody>
      </p:sp>
      <p:pic>
        <p:nvPicPr>
          <p:cNvPr id="8" name="Picture 7" descr="screenshot-sent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011680"/>
            <a:ext cx="5292852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44652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7161C"/>
                </a:solidFill>
                <a:latin typeface="Arial"/>
              </a:rPr>
              <a:t>SENTRA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694944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Research Services of the German Bundestag: semantic search across expert reports, an AI summary, every statement traced to its report.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8183879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</a:rPr>
              <a:t>github.com/aihpi/pilotproject-sentra</a:t>
            </a:r>
          </a:p>
        </p:txBody>
      </p:sp>
      <p:pic>
        <p:nvPicPr>
          <p:cNvPr id="12" name="Picture 11" descr="screenshot-grundschutzk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0344" y="2011680"/>
            <a:ext cx="7955279" cy="41681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10344" y="6446520"/>
            <a:ext cx="7955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7161C"/>
                </a:solidFill>
                <a:latin typeface="Arial"/>
              </a:rPr>
              <a:t>GrundschutzKI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10344" y="694944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IT baseline protection: questions in plain language, a short answer with a jump link, the BSI original open next to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10344" y="8183879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</a:rPr>
              <a:t>github.com/aihpi/pilotprojekt-GrundschutzKI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" y="8961120"/>
            <a:ext cx="1600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Semantic search  ·  an AI summary  ·  sources for transparency.  </a:t>
            </a:r>
            <a:r>
              <a:rPr sz="1900" b="0">
                <a:solidFill>
                  <a:srgbClr val="5A6065"/>
                </a:solidFill>
                <a:latin typeface="Arial"/>
              </a:rPr>
              <a:t>Today you build the same thing, small.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A8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0704" y="2606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spc="300">
                <a:solidFill>
                  <a:srgbClr val="17161C"/>
                </a:solidFill>
                <a:latin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" y="3154680"/>
            <a:ext cx="15544800" cy="21031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17161C"/>
                </a:solidFill>
                <a:latin typeface="Arial"/>
              </a:rPr>
              <a:t>BUILD IT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1060704" y="5486400"/>
            <a:ext cx="1600200" cy="73152"/>
          </a:xfrm>
          <a:prstGeom prst="rect">
            <a:avLst/>
          </a:prstGeom>
          <a:solidFill>
            <a:srgbClr val="17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" y="5897880"/>
            <a:ext cx="1463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Five notebooks, one chatbot. A little theory before each.</a:t>
            </a:r>
          </a:p>
        </p:txBody>
      </p:sp>
      <p:sp>
        <p:nvSpPr>
          <p:cNvPr id="6" name="Freeform 5"/>
          <p:cNvSpPr/>
          <p:nvPr/>
        </p:nvSpPr>
        <p:spPr>
          <a:xfrm>
            <a:off x="0" y="10835640"/>
            <a:ext cx="4572000" cy="7399724392800"/>
          </a:xfrm>
          <a:custGeom>
            <a:avLst/>
            <a:gdLst/>
            <a:ahLst/>
            <a:cxnLst/>
            <a:rect l="l" t="t" r="r" b="b"/>
            <a:pathLst>
              <a:path w="5" h="8092437">
                <a:moveTo>
                  <a:pt x="0" y="8092437"/>
                </a:moveTo>
                <a:lnTo>
                  <a:pt x="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8915400"/>
            <a:ext cx="2395728" cy="1599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ARCHITECTURE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1207008" y="2011680"/>
            <a:ext cx="3703320" cy="5577840"/>
          </a:xfrm>
          <a:prstGeom prst="rect">
            <a:avLst/>
          </a:prstGeom>
          <a:solidFill>
            <a:srgbClr val="EAF4F8"/>
          </a:solidFill>
          <a:ln w="19050">
            <a:solidFill>
              <a:srgbClr val="9CCB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47488" y="2011680"/>
            <a:ext cx="8805672" cy="5577840"/>
          </a:xfrm>
          <a:prstGeom prst="rect">
            <a:avLst/>
          </a:prstGeom>
          <a:solidFill>
            <a:srgbClr val="FDF1E9"/>
          </a:solidFill>
          <a:ln w="19050">
            <a:solidFill>
              <a:srgbClr val="F2B9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17320" y="2212848"/>
            <a:ext cx="384048" cy="38404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76272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5A6065"/>
                </a:solidFill>
                <a:latin typeface="Arial"/>
              </a:rPr>
              <a:t>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57860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once · notebooks 2 + 3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2212848"/>
            <a:ext cx="384048" cy="384048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221284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176272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300">
                <a:solidFill>
                  <a:srgbClr val="5A6065"/>
                </a:solidFill>
                <a:latin typeface="Arial"/>
              </a:rPr>
              <a:t>INFERENCE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57860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every question · notebooks 3 + 4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0" y="3072384"/>
            <a:ext cx="2880360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75688" y="3273552"/>
            <a:ext cx="2514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Documents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75688" y="3712463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PDF, Word, HTML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0" y="4617720"/>
            <a:ext cx="4937760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75688" y="481888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Embedding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5257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Text in, vector out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0" y="6144768"/>
            <a:ext cx="4937760" cy="1179576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75688" y="6345936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Vector 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5688" y="6784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Index for similarity search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25512" y="3072384"/>
            <a:ext cx="2898648" cy="1179576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3273552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712463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asked by the user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25512" y="6144768"/>
            <a:ext cx="2898648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0" y="6345936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Relevant passages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6784848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go into the prompt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54512" y="4617720"/>
            <a:ext cx="2862072" cy="1179576"/>
          </a:xfrm>
          <a:prstGeom prst="rect">
            <a:avLst/>
          </a:prstGeom>
          <a:solidFill>
            <a:srgbClr val="E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01400" y="4818888"/>
            <a:ext cx="24963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LLM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5257800"/>
            <a:ext cx="24963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7161C"/>
                </a:solidFill>
                <a:latin typeface="Arial"/>
              </a:rPr>
              <a:t>language 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346936" y="4617720"/>
            <a:ext cx="2898648" cy="1179576"/>
          </a:xfrm>
          <a:prstGeom prst="rect">
            <a:avLst/>
          </a:prstGeom>
          <a:solidFill>
            <a:srgbClr val="DD6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593824" y="4818888"/>
            <a:ext cx="2532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593824" y="5257800"/>
            <a:ext cx="25328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Arial"/>
              </a:rPr>
              <a:t>with sources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64408" y="4251960"/>
            <a:ext cx="0" cy="320040"/>
          </a:xfrm>
          <a:prstGeom prst="line">
            <a:avLst/>
          </a:prstGeom>
          <a:ln w="38100">
            <a:solidFill>
              <a:srgbClr val="007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264408" y="5797296"/>
            <a:ext cx="0" cy="301752"/>
          </a:xfrm>
          <a:prstGeom prst="line">
            <a:avLst/>
          </a:prstGeom>
          <a:ln w="38100">
            <a:solidFill>
              <a:srgbClr val="007A9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6858000" y="4361688"/>
            <a:ext cx="777240" cy="77724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522976" y="5797296"/>
            <a:ext cx="0" cy="301752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766560" y="6729984"/>
            <a:ext cx="713232" cy="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287000" y="4361688"/>
            <a:ext cx="612648" cy="64008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0287000" y="5458968"/>
            <a:ext cx="612648" cy="64008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3844016" y="5212080"/>
            <a:ext cx="457200" cy="0"/>
          </a:xfrm>
          <a:prstGeom prst="line">
            <a:avLst/>
          </a:prstGeom>
          <a:ln w="38100">
            <a:solidFill>
              <a:srgbClr val="DD610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60704" y="809244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7A9E"/>
                </a:solidFill>
                <a:latin typeface="Arial"/>
              </a:rPr>
              <a:t>Once, ahead of time, </a:t>
            </a:r>
            <a:r>
              <a:rPr sz="1700" b="0">
                <a:solidFill>
                  <a:srgbClr val="17161C"/>
                </a:solidFill>
                <a:latin typeface="Arial"/>
              </a:rPr>
              <a:t>the documents are read and cut into chunks. The embedding model turns every chunk into a vector, a list of numbers that captures its meaning. The vectors go into the vector database.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18320" y="8092440"/>
            <a:ext cx="7863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DD6108"/>
                </a:solidFill>
                <a:latin typeface="Arial"/>
              </a:rPr>
              <a:t>For every question, </a:t>
            </a:r>
            <a:r>
              <a:rPr sz="1700" b="0">
                <a:solidFill>
                  <a:srgbClr val="17161C"/>
                </a:solidFill>
                <a:latin typeface="Arial"/>
              </a:rPr>
              <a:t>the same model turns the question into a vector and searches the same database. The closest chunks go to the language model with the question, and it answers with sources.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SETUP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196596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9659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947672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Get the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377440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git clone https://github.com/aihpi/workshop-rag-basics.git
cd workshop-rag-basics/workshop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3465575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465575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447287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77055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sync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" y="4672584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67258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654296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Add your 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084064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cp .env.example .env    # then paste the key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5879592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8795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5861304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6291072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run python check_setup.py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0704" y="708660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7086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7068312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7161C"/>
                </a:solidFill>
                <a:latin typeface="Arial"/>
              </a:rPr>
              <a:t>Start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7498079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5A6065"/>
                </a:solidFill>
                <a:latin typeface="Courier New"/>
              </a:rPr>
              <a:t>uv run jupyter lab</a:t>
            </a:r>
          </a:p>
        </p:txBody>
      </p:sp>
      <p:pic>
        <p:nvPicPr>
          <p:cNvPr id="28" name="Picture 27" descr="qr-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920240"/>
            <a:ext cx="1554480" cy="1554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A6065"/>
                </a:solidFill>
                <a:latin typeface="Arial"/>
              </a:rPr>
              <a:t>aihpi/workshop-rag-basics</a:t>
            </a:r>
          </a:p>
        </p:txBody>
      </p:sp>
      <p:pic>
        <p:nvPicPr>
          <p:cNvPr id="30" name="Picture 29" descr="live-relo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2011680"/>
            <a:ext cx="6949440" cy="123078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972800" y="3931920"/>
            <a:ext cx="67665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Cells that start with %%writefile app.py write the chatbot. Chainlit notices the change and reloads it in your browser at localhost:8000.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59893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CHAT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35508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Courier New"/>
              </a:rPr>
              <a:t>gemma-4-31b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7040879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EMBEDDING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740664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Courier New"/>
              </a:rPr>
              <a:t>octen-embedding-8b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80924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RUNS 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8458200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our own infrastructure in Potsdam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TALKING TO AN LLM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1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Connect to the model through the gateway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Ask about a paper the model has never seen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Build a chatbot that remembers and streams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Personality: change the system prompt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Starter buttons with @cl.set_starters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Stopwatch: show how long each answer took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77266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2103120"/>
            <a:ext cx="7589520" cy="4709160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79" y="2880360"/>
            <a:ext cx="6126480" cy="914400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521440" y="29900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In Kage et al. (2018), what were the lifetime-encoded beads loaded with?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61319" y="402336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19" y="4160520"/>
            <a:ext cx="6492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The beads were loaded with quantum dots (QDs), with lifetimes of about 2.5 ns, 10 ns and 25 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61319" y="5440680"/>
            <a:ext cx="6949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Sounds sure. It's wrong: the paper used organic dyes and quantum dots, with lifetimes from 1.7 to 22.6 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FROM DOCUMENT TO CHUNKS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828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STEP 1 · DOCLING READS THE PAGE</a:t>
            </a:r>
          </a:p>
        </p:txBody>
      </p:sp>
      <p:pic>
        <p:nvPicPr>
          <p:cNvPr id="9" name="Picture 8" descr="doc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286000"/>
            <a:ext cx="7863840" cy="32989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0704" y="5760720"/>
            <a:ext cx="7680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 PDF only stores where to draw each letter. Docling finds headings, paragraphs, tables and figures, and writes Markdown.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1828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STEP 2 · CUT INTO CHUNKS</a:t>
            </a:r>
          </a:p>
        </p:txBody>
      </p:sp>
      <p:pic>
        <p:nvPicPr>
          <p:cNvPr id="12" name="Picture 11" descr="chunk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2286000"/>
            <a:ext cx="7863840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0" y="5760720"/>
            <a:ext cx="78638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Our notebook: </a:t>
            </a:r>
            <a:r>
              <a:rPr sz="1800" b="0">
                <a:solidFill>
                  <a:srgbClr val="17161C"/>
                </a:solidFill>
                <a:latin typeface="Arial"/>
              </a:rPr>
              <a:t>every 1000 characters, with 200 overlap. Simple, the same for every document, but it may cut through a table.</a:t>
            </a:r>
          </a:p>
          <a:p>
            <a:pPr algn="l">
              <a:lnSpc>
                <a:spcPct val="125000"/>
              </a:lnSpc>
            </a:pPr>
            <a:r>
              <a:rPr sz="800" b="0">
                <a:solidFill>
                  <a:srgbClr val="17161C"/>
                </a:solidFill>
                <a:latin typeface="Arial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GrundschutzKI: </a:t>
            </a:r>
            <a:r>
              <a:rPr sz="1800" b="0">
                <a:solidFill>
                  <a:srgbClr val="17161C"/>
                </a:solidFill>
                <a:latin typeface="Arial"/>
              </a:rPr>
              <a:t>at every heading, because the BSI standards are clearly structured. A chunk keeps its title. Docling ships several such chunkers.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READING DOCUMENTS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2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Convert the three papers with Docling, page by page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See a table come through as a table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Cut the pages into chunks, and look where the cuts land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Where are the cuts? Send the first three chunks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Only the tables: send every table Docling found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show the original PDF next to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77266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2103120"/>
            <a:ext cx="7589520" cy="4590288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514831" y="2880360"/>
            <a:ext cx="3995928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651992" y="2990088"/>
            <a:ext cx="37216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📎 Schmidt_2022_SciReports.pdf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19" y="3675887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Docling reads Schmidt_2022_SciReports.pdf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561319" y="4315968"/>
            <a:ext cx="69494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19" y="4453128"/>
            <a:ext cx="649224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Schmidt_2022_SciReports.pdf: 10 pages, 54 chunks. This is page 1:
A multiparametric fluorescence assay for screening aptamer-protein interactions based on microbeads 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WHAT DID YOU FIND?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0" y="777240"/>
            <a:ext cx="4480560" cy="1005840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15800" y="777240"/>
            <a:ext cx="4114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Vote by show of hands.
Answers on the next slide.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Asked about the Kage paper, what did the model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457200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A   Said it doesn't know the paper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B   Answered confidently, with the wrong dyes and lifetimes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C   Quoted the paper correctly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What happened to the tables when Docling read the papers?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56832" y="457200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A   They were dropped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B   They became loose lines of numbers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C   They stayed tables, in Markdown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52960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252960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 · YOUR TURN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0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What happens with smaller chunks, 300 characters instead of 1000?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0" y="457200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A   Fewer chunks, and tables stay whole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B   More chunks, and more of them cut through a table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900" b="0">
                <a:solidFill>
                  <a:srgbClr val="FFFFFF"/>
                </a:solidFill>
                <a:latin typeface="Arial"/>
              </a:rPr>
              <a:t>C   Nothing changes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60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FFFFFF"/>
                </a:solidFill>
                <a:latin typeface="Arial"/>
              </a:rPr>
              <a:t>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0704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Asked about the Kage paper, what did the model do?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0704" y="4526280"/>
            <a:ext cx="4992624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35024" y="47091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1063A"/>
                </a:solidFill>
                <a:latin typeface="Arial"/>
              </a:rPr>
              <a:t>B</a:t>
            </a:r>
            <a:r>
              <a:rPr sz="1700" b="1">
                <a:solidFill>
                  <a:srgbClr val="17161C"/>
                </a:solidFill>
                <a:latin typeface="Arial"/>
              </a:rPr>
              <a:t>   Answered confidently, with the wrong dyes and lifetimes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5760720"/>
            <a:ext cx="44805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It said quantum dots, 2.5, 10 and 25 ns. The paper used organic dyes and quantum dots, 1.7 to 22.6 ns. A model doesn't know your documents, and doesn't say 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56832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What happened to the tables when Docling read the papers?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56832" y="4526280"/>
            <a:ext cx="4992624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7091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1063A"/>
                </a:solidFill>
                <a:latin typeface="Arial"/>
              </a:rPr>
              <a:t>C</a:t>
            </a:r>
            <a:r>
              <a:rPr sz="1700" b="1">
                <a:solidFill>
                  <a:srgbClr val="17161C"/>
                </a:solidFill>
                <a:latin typeface="Arial"/>
              </a:rPr>
              <a:t>   They stayed tables, in Markdown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5760720"/>
            <a:ext cx="44805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All 5 tables in the three papers came through with their rows and columns, searchable like any other text.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252960" y="2286000"/>
            <a:ext cx="4992624" cy="73152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252960" y="26060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0D3D6"/>
                </a:solidFill>
                <a:latin typeface="Arial"/>
              </a:rPr>
              <a:t>NOTEBOOK 2 · YOUR 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0" y="306324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What happens with smaller chunks, 300 characters instead of 1000?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252960" y="4526280"/>
            <a:ext cx="4992624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527280" y="47091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B1063A"/>
                </a:solidFill>
                <a:latin typeface="Arial"/>
              </a:rPr>
              <a:t>B</a:t>
            </a:r>
            <a:r>
              <a:rPr sz="1700" b="1">
                <a:solidFill>
                  <a:srgbClr val="17161C"/>
                </a:solidFill>
                <a:latin typeface="Arial"/>
              </a:rPr>
              <a:t>   More chunks, and more of them cut through a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27280" y="5760720"/>
            <a:ext cx="44805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628 instead of 197 chunks, and 17 instead of 5 end in the middle of a table row. At 3000: 69 chunks, none.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0704" y="8229600"/>
            <a:ext cx="1618488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8229600"/>
            <a:ext cx="27432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NEXT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8229600"/>
            <a:ext cx="13898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We have good chunks. How do we find the right ones for a question? Embeddings.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EMBEDDINGS AND VECTOR SEARCH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20</a:t>
            </a:r>
          </a:p>
        </p:txBody>
      </p:sp>
      <p:pic>
        <p:nvPicPr>
          <p:cNvPr id="8" name="Picture 7" descr="embedd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1920240"/>
            <a:ext cx="6766560" cy="4016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263640"/>
            <a:ext cx="6583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An embedding model </a:t>
            </a:r>
            <a:r>
              <a:rPr sz="1800" b="0">
                <a:solidFill>
                  <a:srgbClr val="17161C"/>
                </a:solidFill>
                <a:latin typeface="Arial"/>
              </a:rPr>
              <a:t>turns text into 4096 numbers. Similar meaning, similar direction, even without shared words.</a:t>
            </a:r>
          </a:p>
        </p:txBody>
      </p:sp>
      <p:pic>
        <p:nvPicPr>
          <p:cNvPr id="10" name="Picture 9" descr="qdra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920240"/>
            <a:ext cx="9692640" cy="37868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6263640"/>
            <a:ext cx="95097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Qdrant </a:t>
            </a:r>
            <a:r>
              <a:rPr sz="1800" b="0">
                <a:solidFill>
                  <a:srgbClr val="17161C"/>
                </a:solidFill>
                <a:latin typeface="Arial"/>
              </a:rPr>
              <a:t>stores one point per chunk: the vector to search by, and the payload you get back, with the text, the file and the page.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SEARCH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3 · 13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Embed sentences and compare how similar they are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Store all chunks in Qdrant, in memory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Turn the bot into a search engine, no LLM yet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Fewer, better results: pick a score cutoff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Search one paper only: a dropdown and a filter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open each hit as a PDF page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77266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0" y="2103120"/>
            <a:ext cx="7589520" cy="6071616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79" y="2880360"/>
            <a:ext cx="6126480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521440" y="2990088"/>
            <a:ext cx="5852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What were the lifetime-encoded beads loaded with?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61319" y="3675887"/>
            <a:ext cx="6949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19" y="3813048"/>
            <a:ext cx="6492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Kage_2018_SciReports.pdf, p. 2  (score 0.73)
› … loaded with different organic fluorophores …
Kage_2018_SciReports.pdf, p. 3  (score 0.64)
› Table 1. Lifetime codes and respective luminophores 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395959" y="6236207"/>
            <a:ext cx="4114800" cy="566928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533120" y="6345936"/>
            <a:ext cx="3840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What is the capital of France?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61319" y="7031736"/>
            <a:ext cx="6949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19" y="7168896"/>
            <a:ext cx="6492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Kage_2018_SciReports.pdf, p. 6  (score 0.17) 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832104" y="5321808"/>
            <a:ext cx="25237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PROMPT AND CITATIONS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22</a:t>
            </a:r>
          </a:p>
        </p:txBody>
      </p:sp>
      <p:pic>
        <p:nvPicPr>
          <p:cNvPr id="8" name="Picture 7" descr="rag-prom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1828800"/>
            <a:ext cx="10424160" cy="3852407"/>
          </a:xfrm>
          <a:prstGeom prst="rect">
            <a:avLst/>
          </a:prstGeom>
        </p:spPr>
      </p:pic>
      <p:pic>
        <p:nvPicPr>
          <p:cNvPr id="9" name="Picture 8" descr="cita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" y="5943600"/>
            <a:ext cx="8503920" cy="24661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252960" y="2103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RETRIEVE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5 closest chunks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0" y="3246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AUGMENT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prompt with them, numbered [1] to [5]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0" y="4389120"/>
            <a:ext cx="5669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300">
                <a:solidFill>
                  <a:srgbClr val="007A9E"/>
                </a:solidFill>
                <a:latin typeface="Arial"/>
              </a:rPr>
              <a:t>GENERATE</a:t>
            </a:r>
          </a:p>
          <a:p>
            <a:pPr algn="l">
              <a:lnSpc>
                <a:spcPct val="11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the answer, citing those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0" y="6309360"/>
            <a:ext cx="5486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17161C"/>
                </a:solidFill>
                <a:latin typeface="Arial"/>
              </a:rPr>
              <a:t>Every [n] leads back to a chunk, and every chunk remembers its file and page. That is all a citation is.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RETRIEVAL-AUGMENTED GENERATION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4 · 15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24231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IN THIS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88036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Ask notebook 1's question again, this time with context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Let the model cite the numbered chunks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7161C"/>
                </a:solidFill>
                <a:latin typeface="Arial"/>
              </a:rPr>
              <a:t>•  Score both answers: faithfulness with context and without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5074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55321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5064" y="55595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Strict or not: remove "say you don't know"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62179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5064" y="62453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How much context: limit 2 versus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69037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5064" y="69311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Show the evidence in the search step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60704" y="75895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75895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55064" y="7616952"/>
            <a:ext cx="8001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follow-up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841248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41280" y="2103120"/>
            <a:ext cx="7589520" cy="5852160"/>
          </a:xfrm>
          <a:prstGeom prst="roundRect">
            <a:avLst>
              <a:gd name="adj" fmla="val 4000"/>
            </a:avLst>
          </a:prstGeom>
          <a:solidFill>
            <a:srgbClr val="F4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61319" y="2331720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9094"/>
                </a:solidFill>
                <a:latin typeface="Courier New"/>
              </a:rPr>
              <a:t>localhost:8000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384279" y="2880360"/>
            <a:ext cx="6126480" cy="914400"/>
          </a:xfrm>
          <a:prstGeom prst="roundRect">
            <a:avLst/>
          </a:prstGeom>
          <a:solidFill>
            <a:srgbClr val="E2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521440" y="29900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In Kage et al. (2018), what were the lifetime-encoded beads loaded with?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61319" y="4023360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Search the papers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61319" y="4663440"/>
            <a:ext cx="694944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19" y="4800600"/>
            <a:ext cx="64922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7161C"/>
                </a:solidFill>
                <a:latin typeface="Arial"/>
              </a:rPr>
              <a:t>PMMA beads stained with organic dyes from PolyAn GmbH [1], and melamine beads loaded with CdSe/CdS/ZnS quantum dots [1], [2].
Sources:  Kage_2018_SciReports, p.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19" y="7086600"/>
            <a:ext cx="6949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D6108"/>
                </a:solidFill>
                <a:latin typeface="Arial"/>
              </a:rPr>
              <a:t>✓ </a:t>
            </a:r>
            <a:r>
              <a:rPr sz="1500" b="0">
                <a:solidFill>
                  <a:srgbClr val="5A6065"/>
                </a:solidFill>
                <a:latin typeface="Arial"/>
              </a:rPr>
              <a:t>Click the source: the PDF opens at page 2.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161288" y="5321808"/>
            <a:ext cx="318211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17161C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PUTTING IT TOGETHER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691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DD6108"/>
                </a:solidFill>
                <a:latin typeface="Arial"/>
              </a:rPr>
              <a:t>NOTEBOOK 5 · 10 MIN</a:t>
            </a:r>
          </a:p>
        </p:txBody>
      </p:sp>
      <p:pic>
        <p:nvPicPr>
          <p:cNvPr id="9" name="Picture 8" descr="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240280"/>
            <a:ext cx="9418320" cy="33263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60704" y="580644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One app.py with every piece. Attach a PDF in the chat and the top row runs live: read, chunk, embed, store. Then ask about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22402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YOUR TURN · IN THE CHATBOT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41480" y="2724912"/>
            <a:ext cx="5989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Your own document: attach a PDF and ask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247120" y="342900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47120" y="34290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41480" y="3456432"/>
            <a:ext cx="5989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Chat with this document only: a Qdrant filter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0" y="416052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47120" y="41605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41480" y="4187952"/>
            <a:ext cx="5989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Faithfulness under every answer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247120" y="4892040"/>
            <a:ext cx="384048" cy="384048"/>
          </a:xfrm>
          <a:prstGeom prst="rect">
            <a:avLst/>
          </a:prstGeom>
          <a:solidFill>
            <a:srgbClr val="F6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247120" y="48920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7161C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41480" y="4919472"/>
            <a:ext cx="5989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If time: switch the model, compare scores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571500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B9094"/>
                </a:solidFill>
                <a:latin typeface="Arial"/>
              </a:rPr>
              <a:t>Solutions are folded away under each exercise.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" y="70408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PIECE · NOTEBOOK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749807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9304" y="749807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Read a PDF with Docling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41264" y="749807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47104" y="749807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75704" y="749807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Cut into chunks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27664" y="749807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033504" y="749807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262104" y="749807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Turn text into vectors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514064" y="749807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0704" y="836675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9304" y="836675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Store and search in Qdrant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41264" y="836675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47104" y="836675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75704" y="836675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Answer from the chunks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27664" y="836675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033504" y="8366759"/>
            <a:ext cx="5212080" cy="685800"/>
          </a:xfrm>
          <a:prstGeom prst="rect">
            <a:avLst/>
          </a:prstGeom>
          <a:solidFill>
            <a:srgbClr val="ED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262104" y="8366759"/>
            <a:ext cx="429768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Arial"/>
              </a:rPr>
              <a:t>Cite the page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514064" y="8366759"/>
            <a:ext cx="5486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DD610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IS THE ANSWER ANY GOOD?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828800"/>
            <a:ext cx="1609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7161C"/>
                </a:solidFill>
                <a:latin typeface="Arial"/>
              </a:rPr>
              <a:t>You scored faithfulness in notebook 4. Changed the chunk size or the number of chunks? Measure whether it helped. Neither score needs a hand-written correct answer.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0704" y="3063240"/>
            <a:ext cx="7863840" cy="45720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3291840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07A9E"/>
                </a:solidFill>
                <a:latin typeface="Arial"/>
              </a:rPr>
              <a:t>Faithfulness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3931920"/>
            <a:ext cx="7223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Is every claim backed by the retrieved chunks?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26464" y="4800600"/>
            <a:ext cx="71323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9343" y="4800600"/>
            <a:ext cx="6858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Courier New"/>
              </a:rPr>
              <a:t>supported claims ÷ all claims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6464" y="5806440"/>
            <a:ext cx="71323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A judge model splits the answer into claims and checks each one against the chunks. 0.5 means half the claims have no source.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90304" y="3063240"/>
            <a:ext cx="7863840" cy="45720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56064" y="3291840"/>
            <a:ext cx="7223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07A9E"/>
                </a:solidFill>
                <a:latin typeface="Arial"/>
              </a:rPr>
              <a:t>Relevance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6064" y="3931920"/>
            <a:ext cx="7223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161C"/>
                </a:solidFill>
                <a:latin typeface="Arial"/>
              </a:rPr>
              <a:t>Does the answer address the question?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56064" y="4800600"/>
            <a:ext cx="71323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38944" y="4800600"/>
            <a:ext cx="6858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7161C"/>
                </a:solidFill>
                <a:latin typeface="Courier New"/>
              </a:rPr>
              <a:t>similarity(questions from the answer, real question)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5806440"/>
            <a:ext cx="71323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A judge model writes the questions this answer would fit; their embeddings are compared with the question that was asked.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" y="8001000"/>
            <a:ext cx="16093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7161C"/>
                </a:solidFill>
                <a:latin typeface="Arial"/>
              </a:rPr>
              <a:t>In the template: </a:t>
            </a:r>
            <a:r>
              <a:rPr sz="1800" b="0">
                <a:solidFill>
                  <a:srgbClr val="17161C"/>
                </a:solidFill>
                <a:latin typeface="Arial"/>
              </a:rPr>
              <a:t>both scores for every answer, a badge in the chat, and an evaluation app that compares configurations. Built on Ragas.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914400" cy="10058400"/>
          </a:xfrm>
          <a:custGeom>
            <a:avLst/>
            <a:gdLst/>
            <a:ahLst/>
            <a:cxnLst/>
            <a:rect l="l" t="t" r="r" b="b"/>
            <a:pathLst>
              <a:path w="1" h="11">
                <a:moveTo>
                  <a:pt x="0" y="0"/>
                </a:moveTo>
                <a:lnTo>
                  <a:pt x="1" y="0"/>
                </a:lnTo>
                <a:lnTo>
                  <a:pt x="1" y="9"/>
                </a:lnTo>
                <a:lnTo>
                  <a:pt x="0" y="11"/>
                </a:lnTo>
                <a:close/>
              </a:path>
            </a:pathLst>
          </a:cu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490471" y="5321808"/>
            <a:ext cx="384047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spc="400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" y="393192"/>
            <a:ext cx="114300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5A6065"/>
                </a:solidFill>
                <a:latin typeface="Arial"/>
              </a:rPr>
              <a:t>WHERE TO GO NEXT</a:t>
            </a:r>
          </a:p>
        </p:txBody>
      </p:sp>
      <p:pic>
        <p:nvPicPr>
          <p:cNvPr id="5" name="Picture 4" descr="logo-bmf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6736" y="320040"/>
            <a:ext cx="2395728" cy="1599029"/>
          </a:xfrm>
          <a:prstGeom prst="rect">
            <a:avLst/>
          </a:prstGeom>
        </p:spPr>
      </p:pic>
      <p:pic>
        <p:nvPicPr>
          <p:cNvPr id="6" name="Picture 5" descr="logo-kis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34488" y="393192"/>
            <a:ext cx="2560320" cy="905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0704" y="1965960"/>
            <a:ext cx="16184880" cy="749808"/>
          </a:xfrm>
          <a:prstGeom prst="rect">
            <a:avLst/>
          </a:prstGeom>
          <a:solidFill>
            <a:srgbClr val="00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1965960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965960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The template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0704" y="2752344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2752344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PDFs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752344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Also txt, md, csv and 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3538728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538728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Fixed 1000-character chunks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538728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Structure-aware chunkers, chosen per data source in a config file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4325112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4325112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Qdrant in memory, rebuilt on every start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4325112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Qdrant server, ingested once, updated when files change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5111496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5111496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Vector search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5111496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Hybrid search: vectors plus keyword matching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5897879"/>
            <a:ext cx="16184880" cy="74980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25880" y="5897879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[1] and a file name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5897879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Citation format set in the config: title, file, page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6684264"/>
            <a:ext cx="161848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25880" y="6684264"/>
            <a:ext cx="59436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Faithfulness, one answer at a 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684264"/>
            <a:ext cx="95097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7161C"/>
                </a:solidFill>
                <a:latin typeface="Arial"/>
              </a:rPr>
              <a:t>Faithfulness and relevance for every answer, an app to compare setups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" y="7863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THIS WORKSHOP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" y="82753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  <a:hlinkClick r:id="rId4"/>
              </a:rPr>
              <a:t>github.com/aihpi/workshop-rag-basics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7104" y="7863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THE TEMPLATE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82753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  <a:hlinkClick r:id="rId5"/>
              </a:rPr>
              <a:t>github.com/aihpi/pilotproject-rag-template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33504" y="7863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8B9094"/>
                </a:solidFill>
                <a:latin typeface="Arial"/>
              </a:rPr>
              <a:t>OTHER EMBEDDING MODELS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33504" y="827532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C640D"/>
                </a:solidFill>
                <a:latin typeface="Courier New"/>
                <a:hlinkClick r:id="rId6"/>
              </a:rPr>
              <a:t>huggingface.co/spaces/mteb/leaderboard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7048" y="1691640"/>
            <a:ext cx="12344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5A6065"/>
                </a:solidFill>
                <a:latin typeface="Arial"/>
              </a:rPr>
              <a:t>YOUR FEEDBACK 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7048" y="283464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7161C"/>
                </a:solidFill>
                <a:latin typeface="Arial"/>
              </a:rPr>
              <a:t>We shape our next workshops around your answers. Two minutes is enough.</a:t>
            </a:r>
          </a:p>
        </p:txBody>
      </p:sp>
      <p:sp>
        <p:nvSpPr>
          <p:cNvPr id="4" name="Rectangle 3"/>
          <p:cNvSpPr/>
          <p:nvPr/>
        </p:nvSpPr>
        <p:spPr>
          <a:xfrm>
            <a:off x="1527048" y="4160520"/>
            <a:ext cx="1143000" cy="73152"/>
          </a:xfrm>
          <a:prstGeom prst="rect">
            <a:avLst/>
          </a:prstGeom>
          <a:solidFill>
            <a:srgbClr val="B10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4544568"/>
            <a:ext cx="2670048" cy="26806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17720" y="512064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17161C"/>
                </a:solidFill>
                <a:latin typeface="Arial"/>
                <a:hlinkClick r:id="rId3"/>
              </a:rPr>
              <a:t>kisz@hpi.de</a:t>
            </a:r>
          </a:p>
          <a:p>
            <a:pPr algn="l">
              <a:lnSpc>
                <a:spcPct val="140000"/>
              </a:lnSpc>
            </a:pPr>
            <a:r>
              <a:rPr sz="2200" b="0">
                <a:solidFill>
                  <a:srgbClr val="17161C"/>
                </a:solidFill>
                <a:latin typeface="Arial"/>
                <a:hlinkClick r:id="rId4"/>
              </a:rPr>
              <a:t>hpi.de/kisz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5A6065"/>
                </a:solidFill>
                <a:latin typeface="Arial"/>
              </a:rPr>
              <a:t>Felix Boelter  |  [Co-moderator]</a:t>
            </a:r>
          </a:p>
        </p:txBody>
      </p:sp>
      <p:sp>
        <p:nvSpPr>
          <p:cNvPr id="7" name="Rectangle 6"/>
          <p:cNvSpPr/>
          <p:nvPr/>
        </p:nvSpPr>
        <p:spPr>
          <a:xfrm>
            <a:off x="1527048" y="7589520"/>
            <a:ext cx="6766560" cy="18288"/>
          </a:xfrm>
          <a:prstGeom prst="rect">
            <a:avLst/>
          </a:prstGeom>
          <a:solidFill>
            <a:srgbClr val="D0D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27048" y="7772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spc="300">
                <a:solidFill>
                  <a:srgbClr val="B1063A"/>
                </a:solidFill>
                <a:latin typeface="Arial"/>
              </a:rPr>
              <a:t>KEEP GOING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8183879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161C"/>
                </a:solidFill>
                <a:latin typeface="Arial"/>
                <a:hlinkClick r:id="rId5"/>
              </a:rPr>
              <a:t>github.com/aihpi/workshop-rag-basics</a:t>
            </a:r>
            <a:r>
              <a:rPr sz="1500" b="0">
                <a:solidFill>
                  <a:srgbClr val="5A6065"/>
                </a:solidFill>
                <a:latin typeface="Arial"/>
              </a:rPr>
              <a:t>  ·  this workshop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161C"/>
                </a:solidFill>
                <a:latin typeface="Arial"/>
                <a:hlinkClick r:id="rId6"/>
              </a:rPr>
              <a:t>github.com/aihpi/pilotproject-rag-template</a:t>
            </a:r>
            <a:r>
              <a:rPr sz="1500" b="0">
                <a:solidFill>
                  <a:srgbClr val="5A6065"/>
                </a:solidFill>
                <a:latin typeface="Arial"/>
              </a:rPr>
              <a:t>  ·  template</a:t>
            </a:r>
          </a:p>
        </p:txBody>
      </p:sp>
      <p:pic>
        <p:nvPicPr>
          <p:cNvPr id="10" name="Picture 9" descr="logo-kisz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41880" y="676656"/>
            <a:ext cx="2560320" cy="905528"/>
          </a:xfrm>
          <a:prstGeom prst="rect">
            <a:avLst/>
          </a:prstGeom>
        </p:spPr>
      </p:pic>
      <p:pic>
        <p:nvPicPr>
          <p:cNvPr id="11" name="Picture 10" descr="logo-bmft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05304" y="1810512"/>
            <a:ext cx="2560320" cy="1708886"/>
          </a:xfrm>
          <a:prstGeom prst="rect">
            <a:avLst/>
          </a:prstGeom>
        </p:spPr>
      </p:pic>
      <p:pic>
        <p:nvPicPr>
          <p:cNvPr id="12" name="Picture 11" descr="hpi-tagli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" y="9354312"/>
            <a:ext cx="2670048" cy="991732"/>
          </a:xfrm>
          <a:prstGeom prst="rect">
            <a:avLst/>
          </a:prstGeom>
        </p:spPr>
      </p:pic>
      <p:pic>
        <p:nvPicPr>
          <p:cNvPr id="13" name="Picture 12" descr="hpi-build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87968" y="6144768"/>
            <a:ext cx="10716768" cy="496726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647920" y="996696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8B9094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