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8288000" cy="1047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90 minutes. Goal: understand how AI-assisted research on your own documents works, and build it yourself, step by step, in five notebooks.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the list round now, not at the end, or it gets lost on the way. Collect it again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who we are, and how you can keep working with us. About 5 minutes for slides 3 to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centres across Germany. Our site in Potsdam and Berlin covers education, consulting and the use of AI in business and society.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and open. Newsletter via the QR code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to use, no production use. Request access at aisc.hpi.de.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call to action: book office hours (QR on the left), apply for a pilot project, which opens every three months (QR on the 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question: why is a language model on its own not enough for research in specialist documents? About 5 minutes for 8 to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no-parking versus no-stopping example makes the point fastest: the model answers plausibly, but from the wrong legal text. You'll see the same in notebook 1, with a scientific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live demo today, just these two to show RAG in real use. SENTRA: up to 2000 requests a year at the Bundestag's research services. GrundschutzKI: do-it-yourself instead of external consulting, also with NIS2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here: theory in small doses, then hands-on. Write the gateway key on the whiteboard.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Stress the two phases: ingestion happens once, inference with every question. The same embedding model in both. The badges show which notebook builds which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minutes, if everyone ran check_setup.py at home. Whoever didn't: start uv sync and check_setup.py now; Docling downloads about 500 MB of models the first time. Notebook 1 works before that finishes.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Point out the confident wrong answer, it comes back in notebook 4. Then the Your turn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One method of many: fixed size with overlap is what the notebook does. Structured documents chunk better along headings.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Docling takes about a minute for the three papers; talk through the Markdown while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minutes for both slides. Ask the room, by show of hands, then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the answers, ask whether anyone picked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The cat/kitten numbers are the real ones participants will see in notebook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minutes. Make them notice that search always returns something, even for France: that's why exercise 1 asks for a score cutoff. Good questions scored 0.33 to 0.73 in testing, France 0.17.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RAG = retrieve, augment, generate. Citations are bookkeeping,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minutes. Compare with the invented answer from notebook 1, same question. Let them click a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Remind them how the pieces fit: everything from notebooks 1 to 4, one file. Only test documents, nothing confidential, when they attach their own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minutes. The template is where to start a real project, so nobody starts from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QR code up while questions come in. Contact: kisz@hpi.de.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jpg"/><Relationship Id="rId7" Type="http://schemas.openxmlformats.org/officeDocument/2006/relationships/image" Target="../media/image18.png"/><Relationship Id="rId8" Type="http://schemas.openxmlformats.org/officeDocument/2006/relationships/image" Target="../media/image19.jpg"/><Relationship Id="rId9" Type="http://schemas.openxmlformats.org/officeDocument/2006/relationships/image" Target="../media/image20.jpg"/><Relationship Id="rId10" Type="http://schemas.openxmlformats.org/officeDocument/2006/relationships/image" Target="../media/image21.jpg"/><Relationship Id="rId11" Type="http://schemas.openxmlformats.org/officeDocument/2006/relationships/image" Target="../media/image22.png"/><Relationship Id="rId12" Type="http://schemas.openxmlformats.org/officeDocument/2006/relationships/image" Target="../media/image23.jpg"/><Relationship Id="rId13" Type="http://schemas.openxmlformats.org/officeDocument/2006/relationships/image" Target="../media/image24.png"/><Relationship Id="rId14" Type="http://schemas.openxmlformats.org/officeDocument/2006/relationships/image" Target="../media/image25.jp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jp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hyperlink" Target="https://github.com/aihpi/workshop-rag-basics" TargetMode="External"/><Relationship Id="rId5" Type="http://schemas.openxmlformats.org/officeDocument/2006/relationships/hyperlink" Target="https://github.com/aihpi/pilotproject-rag-template" TargetMode="External"/><Relationship Id="rId6" Type="http://schemas.openxmlformats.org/officeDocument/2006/relationships/hyperlink" Target="https://huggingface.co/spaces/mteb/leaderboard" TargetMode="Externa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mailto:kisz@hpi.de" TargetMode="External"/><Relationship Id="rId4" Type="http://schemas.openxmlformats.org/officeDocument/2006/relationships/hyperlink" Target="https://hpi.de/kisz" TargetMode="External"/><Relationship Id="rId5" Type="http://schemas.openxmlformats.org/officeDocument/2006/relationships/hyperlink" Target="https://github.com/aihpi/workshop-rag-basics" TargetMode="External"/><Relationship Id="rId6" Type="http://schemas.openxmlformats.org/officeDocument/2006/relationships/hyperlink" Target="https://github.com/aihpi/pilotproject-rag-template" TargetMode="Externa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2048256"/>
            <a:ext cx="1371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 spc="400">
                <a:solidFill>
                  <a:srgbClr val="DC640D"/>
                </a:solidFill>
                <a:latin typeface="Arial"/>
              </a:rPr>
              <a:t>[EVENT]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578608"/>
            <a:ext cx="1371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900" b="1">
                <a:solidFill>
                  <a:srgbClr val="5A6065"/>
                </a:solidFill>
                <a:latin typeface="Arial"/>
              </a:rPr>
              <a:t>BUILD A RAG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3758184"/>
            <a:ext cx="1371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50" b="0">
                <a:solidFill>
                  <a:srgbClr val="B1063A"/>
                </a:solidFill>
                <a:latin typeface="Arial"/>
              </a:rPr>
              <a:t>AI-assisted research on your own documents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7048" y="475488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17161C"/>
                </a:solidFill>
                <a:latin typeface="Arial"/>
              </a:rPr>
              <a:t>[Presenter]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5A6065"/>
                </a:solidFill>
                <a:latin typeface="Arial"/>
              </a:rPr>
              <a:t>AI Service Centre Berlin-Brandenburg  |  [Date]</a:t>
            </a:r>
          </a:p>
        </p:txBody>
      </p:sp>
      <p:pic>
        <p:nvPicPr>
          <p:cNvPr id="7" name="Picture 6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8" name="Picture 7" descr="logo-bmf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9" name="Picture 8" descr="hpi-tag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0" name="Picture 9" descr="hpi-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PARTICIPANT LIST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37744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The list is going round now. Please sign in while everyone is still seated.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0704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2776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5656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2776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22776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22776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84848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Email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4848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84848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47120" y="2514600"/>
            <a:ext cx="5715000" cy="73152"/>
          </a:xfrm>
          <a:prstGeom prst="rect">
            <a:avLst/>
          </a:pr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247120" y="2834640"/>
            <a:ext cx="5715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5A6065"/>
                </a:solidFill>
                <a:latin typeface="Arial"/>
              </a:rPr>
              <a:t>The printout stays with the workshop lead. Please hand it back at the 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AI SERVICE CENTRE
BERLIN-BRANDENBURG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Who we are and what you can use.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2807207" y="5321808"/>
            <a:ext cx="647395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AI SERVICE CENTRES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FOUR AI SERVICE CENTRES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4</a:t>
            </a:r>
          </a:p>
        </p:txBody>
      </p:sp>
      <p:pic>
        <p:nvPicPr>
          <p:cNvPr id="8" name="Picture 7" descr="qr-kis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514600"/>
            <a:ext cx="260604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hpi.de/ki-servicezentrum</a:t>
            </a:r>
          </a:p>
        </p:txBody>
      </p:sp>
      <p:pic>
        <p:nvPicPr>
          <p:cNvPr id="10" name="Picture 9" descr="map-germ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691640"/>
            <a:ext cx="4764024" cy="6338509"/>
          </a:xfrm>
          <a:prstGeom prst="rect">
            <a:avLst/>
          </a:prstGeom>
        </p:spPr>
      </p:pic>
      <p:pic>
        <p:nvPicPr>
          <p:cNvPr id="11" name="Picture 10" descr="map-sta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1810512"/>
            <a:ext cx="4745736" cy="62674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7031736" y="367588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77456" y="440740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03136" y="4700016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306056" y="4462272"/>
            <a:ext cx="438912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744968" y="2560320"/>
            <a:ext cx="2148840" cy="1901952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93808" y="2560320"/>
            <a:ext cx="2350008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2152376" y="2468879"/>
            <a:ext cx="182880" cy="182880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-kissk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5640" y="2148840"/>
            <a:ext cx="1234440" cy="3559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527280" y="21031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ABE3"/>
                </a:solidFill>
                <a:latin typeface="Arial"/>
              </a:rPr>
              <a:t>Göttingen | Kassel | Hannover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0" y="2514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Sensitive and critical infrastructure, medicine &amp; energy</a:t>
            </a:r>
          </a:p>
        </p:txBody>
      </p:sp>
      <p:sp>
        <p:nvSpPr>
          <p:cNvPr id="22" name="Oval 21"/>
          <p:cNvSpPr/>
          <p:nvPr/>
        </p:nvSpPr>
        <p:spPr>
          <a:xfrm>
            <a:off x="8677656" y="3867912"/>
            <a:ext cx="109728" cy="109728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732520" y="3922776"/>
            <a:ext cx="3511296" cy="0"/>
          </a:xfrm>
          <a:prstGeom prst="line">
            <a:avLst/>
          </a:prstGeom>
          <a:ln w="28575">
            <a:solidFill>
              <a:srgbClr val="DD6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2152376" y="3831336"/>
            <a:ext cx="182880" cy="182880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-kisz-sma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35640" y="3474720"/>
            <a:ext cx="1234440" cy="43880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527280" y="3429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DD6108"/>
                </a:solidFill>
                <a:latin typeface="Arial"/>
              </a:rPr>
              <a:t>Potsdam | Berlin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0" y="3840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Education and consulting, AI in business &amp; society</a:t>
            </a:r>
          </a:p>
        </p:txBody>
      </p:sp>
      <p:sp>
        <p:nvSpPr>
          <p:cNvPr id="28" name="Oval 27"/>
          <p:cNvSpPr/>
          <p:nvPr/>
        </p:nvSpPr>
        <p:spPr>
          <a:xfrm>
            <a:off x="5769864" y="450799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15584" y="474573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58384" y="505663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93792" y="515721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07024" y="5404104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897880" y="4617720"/>
            <a:ext cx="658368" cy="429768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556248" y="5047488"/>
            <a:ext cx="5687568" cy="0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2152376" y="4956048"/>
            <a:ext cx="182880" cy="182880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ogo-west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5640" y="4617720"/>
            <a:ext cx="1234440" cy="27744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0" y="4572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9358D"/>
                </a:solidFill>
                <a:latin typeface="Arial"/>
              </a:rPr>
              <a:t>Bonn | St. Augustin | Aachen | Jülich | Dortmund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27280" y="4983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AI hardware, consulting and training; multimodal and transferable models</a:t>
            </a:r>
          </a:p>
        </p:txBody>
      </p:sp>
      <p:sp>
        <p:nvSpPr>
          <p:cNvPr id="39" name="Oval 38"/>
          <p:cNvSpPr/>
          <p:nvPr/>
        </p:nvSpPr>
        <p:spPr>
          <a:xfrm>
            <a:off x="6318504" y="5650992"/>
            <a:ext cx="109728" cy="109728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556248" y="5705856"/>
            <a:ext cx="2221992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778240" y="5705856"/>
            <a:ext cx="1097280" cy="512064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875520" y="6217920"/>
            <a:ext cx="2368296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2152376" y="6126480"/>
            <a:ext cx="182880" cy="182880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ogo-hessia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35640" y="5852160"/>
            <a:ext cx="1234440" cy="43088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2527280" y="58064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8A6AF4"/>
                </a:solidFill>
                <a:latin typeface="Arial"/>
              </a:rPr>
              <a:t>Darmstadt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27280" y="621792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Explainability, generalisability and contextual adaptation</a:t>
            </a:r>
          </a:p>
        </p:txBody>
      </p:sp>
      <p:pic>
        <p:nvPicPr>
          <p:cNvPr id="47" name="Picture 46" descr="logo-centr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95544" y="8659368"/>
            <a:ext cx="4096512" cy="147804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3898880" y="8138160"/>
            <a:ext cx="4206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Goal: </a:t>
            </a:r>
            <a:r>
              <a:rPr sz="1800" b="1">
                <a:solidFill>
                  <a:srgbClr val="17161C"/>
                </a:solidFill>
                <a:latin typeface="Arial"/>
              </a:rPr>
              <a:t>lower the barriers to putting AI to work in society and business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qr-news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94560"/>
            <a:ext cx="2606040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484632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Newsletter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Talks</a:t>
            </a:r>
          </a:p>
        </p:txBody>
      </p:sp>
      <p:pic>
        <p:nvPicPr>
          <p:cNvPr id="9" name="Picture 8" descr="qr-tal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50292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19202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tele-task.de/series/1463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228600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Guest talks on research and innovation</a:t>
            </a:r>
          </a:p>
        </p:txBody>
      </p:sp>
      <p:pic>
        <p:nvPicPr>
          <p:cNvPr id="12" name="Picture 11" descr="tile-talk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02920"/>
            <a:ext cx="2578608" cy="1450467"/>
          </a:xfrm>
          <a:prstGeom prst="rect">
            <a:avLst/>
          </a:prstGeom>
        </p:spPr>
      </p:pic>
      <p:pic>
        <p:nvPicPr>
          <p:cNvPr id="13" name="Picture 12" descr="tile-talk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0" y="502920"/>
            <a:ext cx="2578608" cy="1289304"/>
          </a:xfrm>
          <a:prstGeom prst="rect">
            <a:avLst/>
          </a:prstGeom>
        </p:spPr>
      </p:pic>
      <p:pic>
        <p:nvPicPr>
          <p:cNvPr id="14" name="Picture 13" descr="tile-talk-3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0" y="502920"/>
            <a:ext cx="2578608" cy="128930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Work-
shops</a:t>
            </a:r>
          </a:p>
        </p:txBody>
      </p:sp>
      <p:pic>
        <p:nvPicPr>
          <p:cNvPr id="17" name="Picture 16" descr="qr-worksho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7947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7512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aimaker.community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557784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Hands-on topics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For example: speech2summary, Docker for ML, semantic search</a:t>
            </a:r>
          </a:p>
        </p:txBody>
      </p:sp>
      <p:pic>
        <p:nvPicPr>
          <p:cNvPr id="20" name="Picture 19" descr="tile-workshop-1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794760"/>
            <a:ext cx="2578608" cy="1289304"/>
          </a:xfrm>
          <a:prstGeom prst="rect">
            <a:avLst/>
          </a:prstGeom>
        </p:spPr>
      </p:pic>
      <p:pic>
        <p:nvPicPr>
          <p:cNvPr id="21" name="Picture 20" descr="tile-workshop-2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0" y="3794760"/>
            <a:ext cx="2578608" cy="1450467"/>
          </a:xfrm>
          <a:prstGeom prst="rect">
            <a:avLst/>
          </a:prstGeom>
        </p:spPr>
      </p:pic>
      <p:pic>
        <p:nvPicPr>
          <p:cNvPr id="22" name="Picture 21" descr="tile-workshop-3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544800" y="3794760"/>
            <a:ext cx="2578608" cy="128930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MOOCs</a:t>
            </a:r>
          </a:p>
        </p:txBody>
      </p:sp>
      <p:pic>
        <p:nvPicPr>
          <p:cNvPr id="25" name="Picture 24" descr="qr-mooc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0" y="7086600"/>
            <a:ext cx="1371600" cy="1371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75120" y="85039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open.hpi.de/channels/ai-service-center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886968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ChatGPT: what does generative AI mean for society?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Profitable AI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Understanding and avoiding AI bias</a:t>
            </a:r>
          </a:p>
        </p:txBody>
      </p:sp>
      <p:pic>
        <p:nvPicPr>
          <p:cNvPr id="28" name="Picture 27" descr="tile-mooc-1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0" y="7086600"/>
            <a:ext cx="2578608" cy="1289304"/>
          </a:xfrm>
          <a:prstGeom prst="rect">
            <a:avLst/>
          </a:prstGeom>
        </p:spPr>
      </p:pic>
      <p:pic>
        <p:nvPicPr>
          <p:cNvPr id="29" name="Picture 28" descr="tile-mooc-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801600" y="7086600"/>
            <a:ext cx="2578608" cy="1450467"/>
          </a:xfrm>
          <a:prstGeom prst="rect">
            <a:avLst/>
          </a:prstGeom>
        </p:spPr>
      </p:pic>
      <p:pic>
        <p:nvPicPr>
          <p:cNvPr id="30" name="Picture 29" descr="tile-mooc-3.jpe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544800" y="7086600"/>
            <a:ext cx="2578608" cy="12893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30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6" name="Picture 5" descr="qr-a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514600"/>
            <a:ext cx="260604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aisc.hpi.de · request access</a:t>
            </a:r>
          </a:p>
        </p:txBody>
      </p:sp>
      <p:pic>
        <p:nvPicPr>
          <p:cNvPr id="8" name="Picture 7" descr="compute-banner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1828800"/>
            <a:ext cx="6400800" cy="3600450"/>
          </a:xfrm>
          <a:prstGeom prst="rect">
            <a:avLst/>
          </a:prstGeom>
        </p:spPr>
      </p:pic>
      <p:pic>
        <p:nvPicPr>
          <p:cNvPr id="9" name="Picture 8" descr="compute-racks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6" y="5440680"/>
            <a:ext cx="6400800" cy="475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521440" y="1783080"/>
            <a:ext cx="6583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Access </a:t>
            </a:r>
            <a:r>
              <a:rPr sz="1700" b="0">
                <a:solidFill>
                  <a:srgbClr val="DD6108"/>
                </a:solidFill>
                <a:latin typeface="Arial"/>
              </a:rPr>
              <a:t>free of charge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No production use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Data should be </a:t>
            </a:r>
            <a:r>
              <a:rPr sz="1700" b="0">
                <a:solidFill>
                  <a:srgbClr val="DD6108"/>
                </a:solidFill>
                <a:latin typeface="Arial"/>
              </a:rPr>
              <a:t>anonymised or synthetic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No </a:t>
            </a:r>
            <a:r>
              <a:rPr sz="1700" b="0">
                <a:solidFill>
                  <a:srgbClr val="DD6108"/>
                </a:solidFill>
                <a:latin typeface="Arial"/>
              </a:rPr>
              <a:t>hosting of products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Reporting &amp; publication</a:t>
            </a:r>
            <a:r>
              <a:rPr sz="1700" b="0">
                <a:solidFill>
                  <a:srgbClr val="17161C"/>
                </a:solidFill>
                <a:latin typeface="Arial"/>
              </a:rPr>
              <a:t> by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Existing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New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Usage rights granted for research and teaching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Training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64 NVIDIA H100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Inference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 NVIDIA A30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ARM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Ampere Altra Max M128-30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2× NVIDIA L40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GPU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AMD Epyc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8× NVIDIA L40S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Edge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ARMv8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NVIDIA Jetson AGX modules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Neuromorphic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288 SpiNNaker2 chips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Storage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1.5 PB NVRAM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Network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400 Gb/s InfiniBand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200 Gb/s Ethernet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qr-office-h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31720"/>
            <a:ext cx="269748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507492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6065"/>
                </a:solidFill>
                <a:latin typeface="Arial"/>
              </a:rPr>
              <a:t>Book office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7132320" cy="804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B1063A"/>
                </a:solidFill>
                <a:latin typeface="Arial"/>
              </a:rPr>
              <a:t>AI office hours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infrastructure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models &amp; frameworks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use cases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DD6108"/>
                </a:solidFill>
                <a:latin typeface="Arial"/>
              </a:rPr>
              <a:t>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Co-developing a prototype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Applications every three months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Selection criteria such as AI maturity and public benefit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Results are published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F6A800"/>
                </a:solidFill>
                <a:latin typeface="Arial"/>
              </a:rPr>
              <a:t>Collaborations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Jointly organised network meetings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17161C"/>
                </a:solidFill>
                <a:latin typeface="Arial"/>
              </a:rPr>
              <a:t>Past 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maths problems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plain language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upcycling ideas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Reducing food waste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Dating documents by handwriting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pic>
        <p:nvPicPr>
          <p:cNvPr id="8" name="Picture 7" descr="consulting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480" y="274320"/>
            <a:ext cx="6035040" cy="4526280"/>
          </a:xfrm>
          <a:prstGeom prst="rect">
            <a:avLst/>
          </a:prstGeom>
        </p:spPr>
      </p:pic>
      <p:pic>
        <p:nvPicPr>
          <p:cNvPr id="9" name="Picture 8" descr="qr-app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67559" y="6400800"/>
            <a:ext cx="2697480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767559" y="91440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Apply now!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What language models don't know, and what that means for research.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WHY A LANGUAGE MODEL
ALONE IS NOT ENOUGH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No access to
your own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Language models are trained mostly on public data. Internal documents about your processes and paywalled specialist publications are unknown to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Similar instead
of 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When the right information is missing, the model falls back on related material: the rules for no-parking zones answer a question about no-stopping zones, popular science stands in for the specialist literature.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RAG decides what
the answer is built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0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Retrieval-augmented generation sets which documents an answer may use, and shows which source every statement comes from.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55063" y="5321808"/>
            <a:ext cx="416966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RAG IN PRACTICE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10</a:t>
            </a:r>
          </a:p>
        </p:txBody>
      </p:sp>
      <p:pic>
        <p:nvPicPr>
          <p:cNvPr id="8" name="Picture 7" descr="screenshot-sent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011680"/>
            <a:ext cx="5292852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SENTRA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Research Services of the German Bundestag: semantic search across expert reports, an AI summary, every statement traced to its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github.com/aihpi/pilotproject-sentra</a:t>
            </a:r>
          </a:p>
        </p:txBody>
      </p:sp>
      <p:pic>
        <p:nvPicPr>
          <p:cNvPr id="12" name="Picture 11" descr="screenshot-grundschutz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2011680"/>
            <a:ext cx="7955279" cy="41681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1034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GrundschutzKI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034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IT baseline protection: questions in plain language, a short answer with a jump link, the BSI original open next to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034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github.com/aihpi/pilotprojekt-GrundschutzKI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8961120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Semantic search  ·  an AI summary  ·  sources for transparency.  </a:t>
            </a:r>
            <a:r>
              <a:rPr sz="1900" b="0">
                <a:solidFill>
                  <a:srgbClr val="5A6065"/>
                </a:solidFill>
                <a:latin typeface="Arial"/>
              </a:rPr>
              <a:t>Today you build the same thing, small.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A8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17161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17161C"/>
                </a:solidFill>
                <a:latin typeface="Arial"/>
              </a:rPr>
              <a:t>BUILD IT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17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Five notebooks, one chatbot. A little theory before each.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ARCHITECTURE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7008" y="2011680"/>
            <a:ext cx="3703320" cy="5577840"/>
          </a:xfrm>
          <a:prstGeom prst="rect">
            <a:avLst/>
          </a:prstGeom>
          <a:solidFill>
            <a:srgbClr val="EAF4F8"/>
          </a:solidFill>
          <a:ln w="19050">
            <a:solidFill>
              <a:srgbClr val="9CCB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47488" y="2011680"/>
            <a:ext cx="8805672" cy="5577840"/>
          </a:xfrm>
          <a:prstGeom prst="rect">
            <a:avLst/>
          </a:prstGeom>
          <a:solidFill>
            <a:srgbClr val="FDF1E9"/>
          </a:solidFill>
          <a:ln w="19050">
            <a:solidFill>
              <a:srgbClr val="F2B9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once · notebooks 2 + 3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every question · notebooks 3 + 4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3072384"/>
            <a:ext cx="28803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75688" y="3273552"/>
            <a:ext cx="251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Documents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3712463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PDF, Word, HTML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617720"/>
            <a:ext cx="49377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75688" y="481888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Embedding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5257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Text in, vector 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6144768"/>
            <a:ext cx="4937760" cy="1179576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75688" y="6345936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Vector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5688" y="6784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Index for similarity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25512" y="3072384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3273552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712463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asked by the user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25512" y="6144768"/>
            <a:ext cx="2898648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6345936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Relevant passages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784848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go into the prompt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54512" y="4617720"/>
            <a:ext cx="2862072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01400" y="4818888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5257800"/>
            <a:ext cx="2496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language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46936" y="4617720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93824" y="4818888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593824" y="5257800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with sources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64408" y="4251960"/>
            <a:ext cx="0" cy="320040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64408" y="5797296"/>
            <a:ext cx="0" cy="301752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858000" y="4361688"/>
            <a:ext cx="777240" cy="77724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522976" y="5797296"/>
            <a:ext cx="0" cy="301752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766560" y="6729984"/>
            <a:ext cx="713232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287000" y="436168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287000" y="545896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844016" y="5212080"/>
            <a:ext cx="457200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60704" y="809244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7A9E"/>
                </a:solidFill>
                <a:latin typeface="Arial"/>
              </a:rPr>
              <a:t>Once, ahead of time, </a:t>
            </a:r>
            <a:r>
              <a:rPr sz="1700" b="0">
                <a:solidFill>
                  <a:srgbClr val="17161C"/>
                </a:solidFill>
                <a:latin typeface="Arial"/>
              </a:rPr>
              <a:t>the documents are read and cut into chunks. The embedding model turns every chunk into a vector, a list of numbers that captures its meaning. The vectors go into the vector database.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092440"/>
            <a:ext cx="7863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DD6108"/>
                </a:solidFill>
                <a:latin typeface="Arial"/>
              </a:rPr>
              <a:t>For every question, </a:t>
            </a:r>
            <a:r>
              <a:rPr sz="1700" b="0">
                <a:solidFill>
                  <a:srgbClr val="17161C"/>
                </a:solidFill>
                <a:latin typeface="Arial"/>
              </a:rPr>
              <a:t>the same model turns the question into a vector and searches the same database. The closest chunks go to the language model with the question, and it answers with sources.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SETUP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47672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Get the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37744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git clone https://github.com/aihpi/workshop-rag-basics.git
cd workshop-rag-basics/workshop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3465575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46557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447287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77055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sync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4672584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67258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654296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Add your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084064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cp .env.example .env    # then paste the key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5879592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8795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5861304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6291072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python check_setup.py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708660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7086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7068312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7498079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jupyter lab</a:t>
            </a:r>
          </a:p>
        </p:txBody>
      </p:sp>
      <p:pic>
        <p:nvPicPr>
          <p:cNvPr id="28" name="Picture 27" descr="qr-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920240"/>
            <a:ext cx="1554480" cy="1554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A6065"/>
                </a:solidFill>
                <a:latin typeface="Arial"/>
              </a:rPr>
              <a:t>aihpi/workshop-rag-basics</a:t>
            </a:r>
          </a:p>
        </p:txBody>
      </p:sp>
      <p:pic>
        <p:nvPicPr>
          <p:cNvPr id="30" name="Picture 29" descr="live-re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2011680"/>
            <a:ext cx="6949440" cy="123078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72800" y="3931920"/>
            <a:ext cx="6766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Cells that start with %%writefile app.py write the chatbot. Chainlit notices the change and reloads it in your browser at localhost:8000.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5989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CHAT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35508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gemma-4-31b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704087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EMBEDDING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740664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octen-embedding-8b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8092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RUNS 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845820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our own infrastructure in Potsdam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TALKING TO AN LLM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1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Connect to the model through the gateway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about a paper the model has never seen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Build a chatbot that remembers and streams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Personality: change the system 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Starter buttons with @cl.set_starters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Stopwatch: show how long each answer took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470916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402336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4160520"/>
            <a:ext cx="6492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The beads were loaded with quantum dots (QDs), with lifetimes of about 2.5 ns, 10 ns and 25 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1319" y="5440680"/>
            <a:ext cx="6949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Sounds sure. It's wrong: the paper used organic dyes and quantum dots, with lifetimes from 1.7 to 22.6 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FROM DOCUMENT TO CHUNKS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1 · DOCLING READS THE PAGE</a:t>
            </a:r>
          </a:p>
        </p:txBody>
      </p:sp>
      <p:pic>
        <p:nvPicPr>
          <p:cNvPr id="9" name="Picture 8" descr="doc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86000"/>
            <a:ext cx="7863840" cy="3298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0704" y="576072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 PDF only stores where to draw each letter. Docling finds headings, paragraphs, tables and figures, and writes Markdown.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2 · CUT INTO CHUNKS</a:t>
            </a:r>
          </a:p>
        </p:txBody>
      </p:sp>
      <p:pic>
        <p:nvPicPr>
          <p:cNvPr id="12" name="Picture 11" descr="chunk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286000"/>
            <a:ext cx="7863840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5760720"/>
            <a:ext cx="7863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Our notebook: </a:t>
            </a:r>
            <a:r>
              <a:rPr sz="1800" b="0">
                <a:solidFill>
                  <a:srgbClr val="17161C"/>
                </a:solidFill>
                <a:latin typeface="Arial"/>
              </a:rPr>
              <a:t>every 1000 characters, with 200 overlap. Simple, the same for every document, but it may cut through a table.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GrundschutzKI: </a:t>
            </a:r>
            <a:r>
              <a:rPr sz="1800" b="0">
                <a:solidFill>
                  <a:srgbClr val="17161C"/>
                </a:solidFill>
                <a:latin typeface="Arial"/>
              </a:rPr>
              <a:t>at every heading, because the BSI standards are clearly structured. A chunk keeps its title. Docling ships several such chunkers.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READING DOCUMENTS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2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Convert the three papers with Docling, page by page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See a table come through as a table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Cut the pages into chunks, and look where the cuts 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Where are the cuts? Send the first three chunks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Only the tables: send every table Docling found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show the original PDF next to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4590288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14831" y="2880360"/>
            <a:ext cx="3995928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651992" y="2990088"/>
            <a:ext cx="37216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📎 Schmidt_2022_SciReports.pdf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19" y="3675887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Docling reads Schmidt_2022_SciReports.pdf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61319" y="4315968"/>
            <a:ext cx="69494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19" y="4453128"/>
            <a:ext cx="64922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Schmidt_2022_SciReports.pdf: 10 pages, 54 chunks. This is page 1:
A multiparametric fluorescence assay for screening aptamer-protein interactions based on microbeads 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THREE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0" y="777240"/>
            <a:ext cx="4480560" cy="100584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15800" y="777240"/>
            <a:ext cx="4114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Vote by show of hands.
Answers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QUESTION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is in the vector database?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48056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The complete PDF files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Text chunks as vectors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The language model's weights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QUESTION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Where does a chunk end in our notebook?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448056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After 1000 characters, overlapping the next by 200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At the end of each sentence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At the next heading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QUESTION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30632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Is the model trained on your data?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0" y="448056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Yes, with every question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No, the chunks go into the prompt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Only on the first upload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QUESTION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0632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is in the vector database?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4434840"/>
            <a:ext cx="4992624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46177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B</a:t>
            </a:r>
            <a:r>
              <a:rPr sz="1700" b="1">
                <a:solidFill>
                  <a:srgbClr val="17161C"/>
                </a:solidFill>
                <a:latin typeface="Arial"/>
              </a:rPr>
              <a:t>   correct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5212080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Chunks, each turned into a vector. The model itself stays unchanged.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QUESTION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Where does a chunk end in our notebook?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56832" y="4434840"/>
            <a:ext cx="4992624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177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A</a:t>
            </a:r>
            <a:r>
              <a:rPr sz="1700" b="1">
                <a:solidFill>
                  <a:srgbClr val="17161C"/>
                </a:solidFill>
                <a:latin typeface="Arial"/>
              </a:rPr>
              <a:t>   correct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5212080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Simple and the same for every document. GrundschutzKI cuts at headings instead, so a chunk keeps its title.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QUESTION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0" y="30632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Is the model trained on your data?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52960" y="4434840"/>
            <a:ext cx="4992624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27280" y="46177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B</a:t>
            </a:r>
            <a:r>
              <a:rPr sz="1700" b="1">
                <a:solidFill>
                  <a:srgbClr val="17161C"/>
                </a:solidFill>
                <a:latin typeface="Arial"/>
              </a:rPr>
              <a:t>   correct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0" y="5212080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RAG does not change the model. The chunks it finds are added to the question.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7315200"/>
            <a:ext cx="161848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7315200"/>
            <a:ext cx="27432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TAKEAWAY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7315200"/>
            <a:ext cx="131673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The chunks sit in the database as vectors. The language model itself is never touched.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EMBEDDINGS AND VECTOR 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19</a:t>
            </a:r>
          </a:p>
        </p:txBody>
      </p:sp>
      <p:pic>
        <p:nvPicPr>
          <p:cNvPr id="8" name="Picture 7" descr="embedd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920240"/>
            <a:ext cx="6766560" cy="4016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263640"/>
            <a:ext cx="6583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An embedding model </a:t>
            </a:r>
            <a:r>
              <a:rPr sz="1800" b="0">
                <a:solidFill>
                  <a:srgbClr val="17161C"/>
                </a:solidFill>
                <a:latin typeface="Arial"/>
              </a:rPr>
              <a:t>turns text into 4096 numbers. Similar meaning, similar direction, even without shared words.</a:t>
            </a:r>
          </a:p>
        </p:txBody>
      </p:sp>
      <p:pic>
        <p:nvPicPr>
          <p:cNvPr id="10" name="Picture 9" descr="qdra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920240"/>
            <a:ext cx="9692640" cy="37868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6263640"/>
            <a:ext cx="9509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Qdrant </a:t>
            </a:r>
            <a:r>
              <a:rPr sz="1800" b="0">
                <a:solidFill>
                  <a:srgbClr val="17161C"/>
                </a:solidFill>
                <a:latin typeface="Arial"/>
              </a:rPr>
              <a:t>stores one point per chunk: the vector to search by, and the payload you get back, with the text, the file and the page.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3 · 13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Embed sentences and compare how similar they are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Store all chunks in Qdrant, in memory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the bot into a search engine, no LLM yet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Fewer, better results: pick a score cutoff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Search one paper only: a dropdown and a 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open each hit as a PDF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6071616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79" y="2880360"/>
            <a:ext cx="612648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0" y="2990088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were the lifetime-encoded beads loaded with?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3675887"/>
            <a:ext cx="6949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3813048"/>
            <a:ext cx="6492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2  (score 0.73)
› … loaded with different organic fluorophores …
Kage_2018_SciReports.pdf, p. 3  (score 0.64)
› Table 1. Lifetime codes and respective luminophores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395959" y="6236207"/>
            <a:ext cx="411480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33120" y="6345936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is the capital of France?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1319" y="7031736"/>
            <a:ext cx="6949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716889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6  (score 0.17) 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PROMPT AND CITATIONS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21</a:t>
            </a:r>
          </a:p>
        </p:txBody>
      </p:sp>
      <p:pic>
        <p:nvPicPr>
          <p:cNvPr id="8" name="Picture 7" descr="rag-prom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828800"/>
            <a:ext cx="10424160" cy="3852407"/>
          </a:xfrm>
          <a:prstGeom prst="rect">
            <a:avLst/>
          </a:prstGeom>
        </p:spPr>
      </p:pic>
      <p:pic>
        <p:nvPicPr>
          <p:cNvPr id="9" name="Picture 8" descr="cit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5943600"/>
            <a:ext cx="8503920" cy="24661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252960" y="2103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RETRIEVE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5 closest 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0" y="3246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AUGMENT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prompt with them, numbered [1] to [5]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0" y="4389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GENERATE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answer, citing those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0" y="630936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Every [n] leads back to a chunk, and every chunk remembers its file and page. That is all a citation 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RETRIEVAL-AUGMENTED GENERATION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4 · 13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notebook 1's question again, this time with context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Let the model cite the numbered chunks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every [n] into a link to the PDF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Strict or not: remove "say you don't know"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How much context: limit 2 versus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Show the evidence in the search step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0704" y="75895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7589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55064" y="76169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follow-up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84124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0" y="2103120"/>
            <a:ext cx="7589520" cy="585216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19" y="402336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Search the papers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1319" y="4663440"/>
            <a:ext cx="69494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4800600"/>
            <a:ext cx="64922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PMMA beads stained with organic dyes from PolyAn GmbH [1], and melamine beads loaded with CdSe/CdS/ZnS quantum dots [1], [2].
Sources:  Kage_2018_SciReports, p.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19" y="708660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Click the source: the PDF opens at page 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PUTTING IT TOGETHER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5 · 10 MIN</a:t>
            </a:r>
          </a:p>
        </p:txBody>
      </p:sp>
      <p:pic>
        <p:nvPicPr>
          <p:cNvPr id="9" name="Picture 8" descr="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40280"/>
            <a:ext cx="9418320" cy="33263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0704" y="580644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One app.py with every piece. Attach a PDF in the chat and the top row runs live: read, chunk, embed, store. Then ask about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2240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41480" y="272491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Your own document: attach a PDF and 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247120" y="35661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3566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41480" y="359359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Chat with this document only: a Qdrant 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0" y="443484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0" y="44348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41480" y="446227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a dropdown to switch the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534924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70408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PIECE · NOTEBOOK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93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Read a PDF with Docling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12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471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Cut into chunks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276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0335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621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Turn text into vectors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5140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07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93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Store and search in Qdrant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12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471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757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Answer from the chunks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276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0335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2621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Cite the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40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WHERE TO GO NEXT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1965960"/>
            <a:ext cx="16184880" cy="74980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965960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965960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The template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2752344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2752344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PDFs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752344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Also txt, md, csv and 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3538728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538728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Fixed 1000-character chunks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538728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Structure-aware chunkers, chosen per data source in a config file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4325112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4325112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in memory, rebuilt on every 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325112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server, ingested once, updated when files change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5111496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5111496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Vector search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111496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Hybrid search: vectors plus keyword matching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5897879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5897879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[1] and a file 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5897879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Citation format set in the config: title, file, page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6684264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6684264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 judge the answers by eye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684264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An evaluation app that scores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THIS WORKSHOP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4"/>
              </a:rPr>
              <a:t>github.com/aihpi/workshop-rag-basics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THE TEMPLATE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5"/>
              </a:rPr>
              <a:t>github.com/aihpi/pilotproject-rag-template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335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OTHER EMBEDDING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335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6"/>
              </a:rPr>
              <a:t>huggingface.co/spaces/mteb/leaderboard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1691640"/>
            <a:ext cx="12344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5A6065"/>
                </a:solidFill>
                <a:latin typeface="Arial"/>
              </a:rPr>
              <a:t>YOUR FEEDBACK 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83464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We shape our next workshops around your answers. Two minutes is enough.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7048" y="416052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4544568"/>
            <a:ext cx="2670048" cy="2680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512064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3"/>
              </a:rPr>
              <a:t>kisz@hpi.de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4"/>
              </a:rPr>
              <a:t>hpi.de/kisz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[Presenter]</a:t>
            </a:r>
          </a:p>
        </p:txBody>
      </p:sp>
      <p:sp>
        <p:nvSpPr>
          <p:cNvPr id="7" name="Rectangle 6"/>
          <p:cNvSpPr/>
          <p:nvPr/>
        </p:nvSpPr>
        <p:spPr>
          <a:xfrm>
            <a:off x="1527048" y="7589520"/>
            <a:ext cx="6766560" cy="18288"/>
          </a:xfrm>
          <a:prstGeom prst="rect">
            <a:avLst/>
          </a:prstGeom>
          <a:solidFill>
            <a:srgbClr val="D0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27048" y="7772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B1063A"/>
                </a:solidFill>
                <a:latin typeface="Arial"/>
              </a:rPr>
              <a:t>KEEP GOING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8183879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5"/>
              </a:rPr>
              <a:t>github.com/aihpi/workshop-rag-basics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this workshop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6"/>
              </a:rPr>
              <a:t>github.com/aihpi/pilotproject-rag-template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template</a:t>
            </a:r>
          </a:p>
        </p:txBody>
      </p:sp>
      <p:pic>
        <p:nvPicPr>
          <p:cNvPr id="10" name="Picture 9" descr="logo-kisz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11" name="Picture 10" descr="logo-bmft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12" name="Picture 11" descr="hpi-tagl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3" name="Picture 12" descr="hpi-build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