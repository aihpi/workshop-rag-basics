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8288000" cy="10477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S0, 15 minutes with the install. 90 minutes, mostly in the notebooks. The participant list is going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 the list round now, not at the end. Get everyone to start git clone and uv sync now: it's about 2 GB on the workshop Wi-Fi, and it runs while we talk through the next three slides. Collect the list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three lines aloud. Ask: is this what you came for? Write anything that doesn't fit on the whiteboard; we come back to it at the end (slide 18).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seconds. The four centres, our offers in one line each. Details are in the appendix; office hours and pilot projects come back on slide 19.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box on this picture is one notebook. Ingestion happens once, inference with every question; the same embedding model in both. Ask: do we agree on the route?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on the whiteboard now. check_setup.py downloads about 500 MB of Docling models the first time; notebook 1 works before that finishes. Anyone whose uv sync is still running: raise a hand. Ask: everyone sees 'You're ready'?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S1. Don't say whether the answer is right. They decide in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Count hands per letter, write the numbers on the whiteboard. No reveal: notebook 4 tells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of you voted C or D. That is the honest answer, and it is the problem. Notebook 4 tells us which half.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S2. Docling needs about a minute for the three papers; talk through the Markdown while it runs. GrundschutzKI cuts at headings instead; that is in the 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out, hands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Reveal. Anyone see something different? The chunk numbers are measured on the three papers.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S3. Make them ask the France question before you explain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cat and kitten numbers are the ones they just saw. Ask: do we know what we've built so far?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S4. Same question as notebook 1. Let them click a source. Strict-or-not is a bonus today; it comes back in the transfer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 back to the vote on the whiteboard. The ✗ lines are the half nobody could see; one claim (quantum dots) was right. Their own run will show different claims and a different score. Then the question: B, written at ingestion from Docling's page numbers (notebook 3, slide 14). Ask: do we see how far we've come?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S5. The score is already in the app. Expect at least one answer that is worse than on the papers; that's the point. A scanned PDF has no text layer, and with OCR off the bot gets nothing to answer from.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 each; above 12 people, tables of four, one sentence per table. Show the OFTEN line only after the round. Close the loop with the whiteboard list from slide 3. Ask: can you repeat it on your own? If someone asks why not put all PDFs in the prompt: cost per question, page citations, and collections larger than any context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template is where a real project starts. Office hours if you get stuck on your collection. SENTRA and GrundschutzKI (appendix) are two pilot projects built this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the QR code up while questions come in. Contact: kisz@hpi.de.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after this slide is for questions and for reading afterwards.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centres across Germany. Our site in Potsdam and Berlin covers education, consulting and the use of AI in business and society.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free and open. Newsletter via the QR code on the left.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Free to use, no production use. Request access at aisc.hpi.de.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 call to action: book office hours (QR on the left), apply for a pilot project, which opens every three months (QR on the right).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live demo today, just these two to show RAG in real use. SENTRA: up to 2000 requests a year at the Bundestag's research services. GrundschutzKI: do-it-yourself instead of external consulting, also with NIS2 in mind.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minutes. One method of many: fixed size with overlap is what the notebook does. Structured documents chunk better along headings.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minutes. RAG = retrieve, augment, generate. Citations are bookkeeping,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to 2 minutes, a recap: they built faithfulness themselves in notebook 4. Relevance is new. Link it to the exercises: limit 2 versus 15, chunk size 300 versus 3000 are exactly the changes you would measure this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hyperlink" Target="mailto:kisz@hpi.de" TargetMode="External"/><Relationship Id="rId4" Type="http://schemas.openxmlformats.org/officeDocument/2006/relationships/hyperlink" Target="https://hpi.de/kisz" TargetMode="External"/><Relationship Id="rId5" Type="http://schemas.openxmlformats.org/officeDocument/2006/relationships/hyperlink" Target="https://github.com/aihpi/workshop-rag-basics" TargetMode="External"/><Relationship Id="rId6" Type="http://schemas.openxmlformats.org/officeDocument/2006/relationships/hyperlink" Target="https://github.com/aihpi/pilotproject-rag-template" TargetMode="External"/><Relationship Id="rId7" Type="http://schemas.openxmlformats.org/officeDocument/2006/relationships/image" Target="../media/image1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19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24.png"/><Relationship Id="rId1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jpg"/><Relationship Id="rId7" Type="http://schemas.openxmlformats.org/officeDocument/2006/relationships/image" Target="../media/image30.png"/><Relationship Id="rId8" Type="http://schemas.openxmlformats.org/officeDocument/2006/relationships/image" Target="../media/image31.jpg"/><Relationship Id="rId9" Type="http://schemas.openxmlformats.org/officeDocument/2006/relationships/image" Target="../media/image32.jpg"/><Relationship Id="rId10" Type="http://schemas.openxmlformats.org/officeDocument/2006/relationships/image" Target="../media/image33.jpg"/><Relationship Id="rId11" Type="http://schemas.openxmlformats.org/officeDocument/2006/relationships/image" Target="../media/image34.png"/><Relationship Id="rId12" Type="http://schemas.openxmlformats.org/officeDocument/2006/relationships/image" Target="../media/image35.jpg"/><Relationship Id="rId13" Type="http://schemas.openxmlformats.org/officeDocument/2006/relationships/image" Target="../media/image36.png"/><Relationship Id="rId14" Type="http://schemas.openxmlformats.org/officeDocument/2006/relationships/image" Target="../media/image37.jpg"/><Relationship Id="rId1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39.jpg"/><Relationship Id="rId5" Type="http://schemas.openxmlformats.org/officeDocument/2006/relationships/image" Target="../media/image40.jpg"/><Relationship Id="rId6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41.jp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13.png"/><Relationship Id="rId5" Type="http://schemas.openxmlformats.org/officeDocument/2006/relationships/image" Target="../media/image44.png"/><Relationship Id="rId6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27048" y="2048256"/>
            <a:ext cx="1371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 spc="400">
                <a:solidFill>
                  <a:srgbClr val="DC640D"/>
                </a:solidFill>
                <a:latin typeface="Arial"/>
              </a:rPr>
              <a:t>[EVENT]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27048" y="2578608"/>
            <a:ext cx="1371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900" b="1">
                <a:solidFill>
                  <a:srgbClr val="5A6065"/>
                </a:solidFill>
                <a:latin typeface="Arial"/>
              </a:rPr>
              <a:t>HANDS-ON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7048" y="3758184"/>
            <a:ext cx="1371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50" b="0">
                <a:solidFill>
                  <a:srgbClr val="B1063A"/>
                </a:solidFill>
                <a:latin typeface="Arial"/>
              </a:rPr>
              <a:t>Build your own document Q&amp;A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1527048" y="4754880"/>
            <a:ext cx="1143000" cy="73152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27048" y="5266944"/>
            <a:ext cx="1280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17161C"/>
                </a:solidFill>
                <a:latin typeface="Arial"/>
              </a:rPr>
              <a:t>Felix Boelter  |  [Co-moderator]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5A6065"/>
                </a:solidFill>
                <a:latin typeface="Arial"/>
              </a:rPr>
              <a:t>AI Service Centre Berlin-Brandenburg  |  [Date]</a:t>
            </a:r>
          </a:p>
        </p:txBody>
      </p:sp>
      <p:pic>
        <p:nvPicPr>
          <p:cNvPr id="7" name="Picture 6" descr="logo-kis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1880" y="676656"/>
            <a:ext cx="2560320" cy="905528"/>
          </a:xfrm>
          <a:prstGeom prst="rect">
            <a:avLst/>
          </a:prstGeom>
        </p:spPr>
      </p:pic>
      <p:pic>
        <p:nvPicPr>
          <p:cNvPr id="8" name="Picture 7" descr="logo-bmf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05304" y="1810512"/>
            <a:ext cx="2560320" cy="1708886"/>
          </a:xfrm>
          <a:prstGeom prst="rect">
            <a:avLst/>
          </a:prstGeom>
        </p:spPr>
      </p:pic>
      <p:pic>
        <p:nvPicPr>
          <p:cNvPr id="9" name="Picture 8" descr="hpi-tag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9354312"/>
            <a:ext cx="2670048" cy="991732"/>
          </a:xfrm>
          <a:prstGeom prst="rect">
            <a:avLst/>
          </a:prstGeom>
        </p:spPr>
      </p:pic>
      <p:pic>
        <p:nvPicPr>
          <p:cNvPr id="10" name="Picture 9" descr="hpi-build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87968" y="6144768"/>
            <a:ext cx="10716768" cy="496726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8B90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PARTICIPANT LIST</a:t>
            </a:r>
          </a:p>
        </p:txBody>
      </p:sp>
      <p:pic>
        <p:nvPicPr>
          <p:cNvPr id="4" name="Picture 3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5" name="Picture 4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0704" y="2377440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17161C"/>
                </a:solidFill>
                <a:latin typeface="Arial"/>
              </a:rPr>
              <a:t>The list is going round now. Please sign in while everyone is still seated.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60704" y="3931920"/>
            <a:ext cx="2834640" cy="685800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43584" y="3931920"/>
            <a:ext cx="25603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Name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0704" y="464515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60704" y="519379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60704" y="574243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22776" y="3931920"/>
            <a:ext cx="2834640" cy="685800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05656" y="3931920"/>
            <a:ext cx="25603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Institution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22776" y="464515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22776" y="519379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22776" y="574243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784848" y="3931920"/>
            <a:ext cx="2834640" cy="685800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67728" y="3931920"/>
            <a:ext cx="25603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Email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84848" y="464515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784848" y="519379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84848" y="574243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6675120"/>
            <a:ext cx="8595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5A6065"/>
                </a:solidFill>
                <a:latin typeface="Arial"/>
              </a:rPr>
              <a:t>The printout stays with the workshop lead. Please hand it back at the end.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424160" y="2377440"/>
            <a:ext cx="7406640" cy="5669280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0" y="265176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300">
                <a:solidFill>
                  <a:srgbClr val="17161C"/>
                </a:solidFill>
                <a:latin typeface="Arial"/>
              </a:rPr>
              <a:t>START THE INSTALL 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3200400"/>
            <a:ext cx="67665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17161C"/>
                </a:solidFill>
                <a:latin typeface="Arial"/>
              </a:rPr>
              <a:t>It downloads about 2 GB, so let it run while we talk.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4343400"/>
            <a:ext cx="67665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17161C"/>
                </a:solidFill>
                <a:latin typeface="Courier New"/>
              </a:rPr>
              <a:t>git clone https://github.com/
    aihpi/workshop-rag-basics.git
cd workshop-rag-basics/workshop
uv sync</a:t>
            </a:r>
          </a:p>
        </p:txBody>
      </p:sp>
      <p:pic>
        <p:nvPicPr>
          <p:cNvPr id="27" name="Picture 26" descr="qr-re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89920" y="6400800"/>
            <a:ext cx="1371600" cy="13716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344400" y="6720840"/>
            <a:ext cx="5303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Needs uv and Git, from the
workshop-getting-started guide.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8B90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BY 1:30 YOU HAVE</a:t>
            </a:r>
          </a:p>
        </p:txBody>
      </p:sp>
      <p:pic>
        <p:nvPicPr>
          <p:cNvPr id="4" name="Picture 3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5" name="Picture 4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60704" y="2103120"/>
            <a:ext cx="502920" cy="502920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" y="21031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103120"/>
            <a:ext cx="15087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>
                <a:solidFill>
                  <a:srgbClr val="17161C"/>
                </a:solidFill>
                <a:latin typeface="Arial"/>
              </a:rPr>
              <a:t>A chatbot on your laptop that answers from your own PDF.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0704" y="3246120"/>
            <a:ext cx="502920" cy="502920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32461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246120"/>
            <a:ext cx="15087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>
                <a:solidFill>
                  <a:srgbClr val="17161C"/>
                </a:solidFill>
                <a:latin typeface="Arial"/>
              </a:rPr>
              <a:t>Every claim links to the page it came from, with a score that says how well it is backed.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0704" y="4389120"/>
            <a:ext cx="502920" cy="502920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43891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389120"/>
            <a:ext cx="15087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>
                <a:solidFill>
                  <a:srgbClr val="17161C"/>
                </a:solidFill>
                <a:latin typeface="Arial"/>
              </a:rPr>
              <a:t>A list of what to check before you trust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" y="59436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AGENDA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0704" y="6903720"/>
            <a:ext cx="2651760" cy="914400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0431" y="6903720"/>
            <a:ext cx="246887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Welcome · setup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" y="644652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A6065"/>
                </a:solidFill>
                <a:latin typeface="Arial"/>
              </a:rPr>
              <a:t>0:00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58183" y="6903720"/>
            <a:ext cx="2292096" cy="914400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67911" y="6903720"/>
            <a:ext cx="210921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7161C"/>
                </a:solidFill>
                <a:latin typeface="Arial"/>
              </a:rPr>
              <a:t>1 · Chat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58183" y="6446520"/>
            <a:ext cx="22920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A6065"/>
                </a:solidFill>
                <a:latin typeface="Arial"/>
              </a:rPr>
              <a:t>0:15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5999" y="6903720"/>
            <a:ext cx="2292096" cy="914400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05728" y="6903720"/>
            <a:ext cx="210921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7161C"/>
                </a:solidFill>
                <a:latin typeface="Arial"/>
              </a:rPr>
              <a:t>2 · Documents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5999" y="6446520"/>
            <a:ext cx="22920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A6065"/>
                </a:solidFill>
                <a:latin typeface="Arial"/>
              </a:rPr>
              <a:t>0:28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33816" y="6903720"/>
            <a:ext cx="2292096" cy="914400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43543" y="6903720"/>
            <a:ext cx="210921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7161C"/>
                </a:solidFill>
                <a:latin typeface="Arial"/>
              </a:rPr>
              <a:t>3 · Search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33816" y="6446520"/>
            <a:ext cx="22920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A6065"/>
                </a:solidFill>
                <a:latin typeface="Arial"/>
              </a:rPr>
              <a:t>0:41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771632" y="6903720"/>
            <a:ext cx="2831592" cy="914400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81359" y="6903720"/>
            <a:ext cx="264871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7161C"/>
                </a:solidFill>
                <a:latin typeface="Arial"/>
              </a:rPr>
              <a:t>4 · RAG + score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71632" y="6446520"/>
            <a:ext cx="28315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A6065"/>
                </a:solidFill>
                <a:latin typeface="Arial"/>
              </a:rPr>
              <a:t>0:54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3648944" y="6903720"/>
            <a:ext cx="3191256" cy="914400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758671" y="6903720"/>
            <a:ext cx="300837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7161C"/>
                </a:solidFill>
                <a:latin typeface="Arial"/>
              </a:rPr>
              <a:t>5 · Your PDF · transfer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648944" y="6446520"/>
            <a:ext cx="31912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A6065"/>
                </a:solidFill>
                <a:latin typeface="Arial"/>
              </a:rPr>
              <a:t>1:10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6885920" y="6903720"/>
            <a:ext cx="313944" cy="914400"/>
          </a:xfrm>
          <a:prstGeom prst="rect">
            <a:avLst/>
          </a:prstGeom>
          <a:solidFill>
            <a:srgbClr val="8B90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0704" y="8092440"/>
            <a:ext cx="1618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5A6065"/>
                </a:solidFill>
                <a:latin typeface="Arial"/>
              </a:rPr>
              <a:t>Every notebook block: a minute of slides, then the notebook, then a quick check.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AI SERVICE CENTRE
BERLIN-BRANDENBURG</a:t>
            </a:r>
          </a:p>
        </p:txBody>
      </p:sp>
      <p:pic>
        <p:nvPicPr>
          <p:cNvPr id="4" name="Picture 3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5" name="Picture 4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60704" y="2194560"/>
            <a:ext cx="164592" cy="1325880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2176272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7161C"/>
                </a:solidFill>
                <a:latin typeface="Arial"/>
              </a:rPr>
              <a:t>Free workshops, talks and MOOCs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816352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A6065"/>
                </a:solidFill>
                <a:latin typeface="Arial"/>
              </a:rPr>
              <a:t>Like today, and online at openHPI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0704" y="4206240"/>
            <a:ext cx="164592" cy="1325880"/>
          </a:xfrm>
          <a:prstGeom prst="rect">
            <a:avLst/>
          </a:prstGeom>
          <a:solidFill>
            <a:srgbClr val="30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08760" y="4187952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7161C"/>
                </a:solidFill>
                <a:latin typeface="Arial"/>
              </a:rPr>
              <a:t>Free GPU infrastructure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4828031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A6065"/>
                </a:solidFill>
                <a:latin typeface="Arial"/>
              </a:rPr>
              <a:t>For research and teaching, request access at aisc.hpi.de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0704" y="6217920"/>
            <a:ext cx="164592" cy="1325880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6199632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7161C"/>
                </a:solidFill>
                <a:latin typeface="Arial"/>
              </a:rPr>
              <a:t>Office hours and pilot projects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6839712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A6065"/>
                </a:solidFill>
                <a:latin typeface="Arial"/>
              </a:rPr>
              <a:t>For your own project: more at the end</a:t>
            </a:r>
          </a:p>
        </p:txBody>
      </p:sp>
      <p:pic>
        <p:nvPicPr>
          <p:cNvPr id="15" name="Picture 14" descr="map-german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5840" y="2103120"/>
            <a:ext cx="4023360" cy="5353060"/>
          </a:xfrm>
          <a:prstGeom prst="rect">
            <a:avLst/>
          </a:prstGeom>
        </p:spPr>
      </p:pic>
      <p:pic>
        <p:nvPicPr>
          <p:cNvPr id="16" name="Picture 15" descr="map-stat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35840" y="2203510"/>
            <a:ext cx="4007915" cy="5293073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14153973" y="3774918"/>
            <a:ext cx="100584" cy="100584"/>
          </a:xfrm>
          <a:prstGeom prst="ellipse">
            <a:avLst/>
          </a:prstGeom>
          <a:solidFill>
            <a:srgbClr val="1BA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4192584" y="4392709"/>
            <a:ext cx="100584" cy="100584"/>
          </a:xfrm>
          <a:prstGeom prst="ellipse">
            <a:avLst/>
          </a:prstGeom>
          <a:solidFill>
            <a:srgbClr val="1BA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3960913" y="4639825"/>
            <a:ext cx="100584" cy="100584"/>
          </a:xfrm>
          <a:prstGeom prst="ellipse">
            <a:avLst/>
          </a:prstGeom>
          <a:solidFill>
            <a:srgbClr val="1BA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493709" y="3886796"/>
            <a:ext cx="201168" cy="201168"/>
          </a:xfrm>
          <a:prstGeom prst="ellipse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088284" y="4477655"/>
            <a:ext cx="100584" cy="100584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3126896" y="4678437"/>
            <a:ext cx="100584" cy="100584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740777" y="4940998"/>
            <a:ext cx="100584" cy="100584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2601774" y="5025944"/>
            <a:ext cx="100584" cy="100584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204120" y="5234448"/>
            <a:ext cx="100584" cy="100584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3551627" y="5442952"/>
            <a:ext cx="100584" cy="100584"/>
          </a:xfrm>
          <a:prstGeom prst="ellipse">
            <a:avLst/>
          </a:prstGeom>
          <a:solidFill>
            <a:srgbClr val="8A6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435840" y="7635240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5A6065"/>
                </a:solidFill>
                <a:latin typeface="Arial"/>
              </a:rPr>
              <a:t>Four AI service centres, funded by the BMFTR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832104" y="5321808"/>
            <a:ext cx="25237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ARCHITECTURE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207008" y="2011680"/>
            <a:ext cx="3703320" cy="5577840"/>
          </a:xfrm>
          <a:prstGeom prst="rect">
            <a:avLst/>
          </a:prstGeom>
          <a:solidFill>
            <a:srgbClr val="EAF4F8"/>
          </a:solidFill>
          <a:ln w="19050">
            <a:solidFill>
              <a:srgbClr val="9CCB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47488" y="2011680"/>
            <a:ext cx="8805672" cy="5577840"/>
          </a:xfrm>
          <a:prstGeom prst="rect">
            <a:avLst/>
          </a:prstGeom>
          <a:solidFill>
            <a:srgbClr val="FDF1E9"/>
          </a:solidFill>
          <a:ln w="19050">
            <a:solidFill>
              <a:srgbClr val="F2B9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17320" y="2212848"/>
            <a:ext cx="384048" cy="384048"/>
          </a:xfrm>
          <a:prstGeom prst="rect">
            <a:avLst/>
          </a:pr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221284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176272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300">
                <a:solidFill>
                  <a:srgbClr val="5A6065"/>
                </a:solidFill>
                <a:latin typeface="Arial"/>
              </a:rPr>
              <a:t>INGESTION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2578608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once · notebooks 2 + 3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57800" y="2212848"/>
            <a:ext cx="384048" cy="384048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221284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2176272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300">
                <a:solidFill>
                  <a:srgbClr val="5A6065"/>
                </a:solidFill>
                <a:latin typeface="Arial"/>
              </a:rPr>
              <a:t>INFERENCE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578608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every question · notebooks 3 + 4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0" y="3072384"/>
            <a:ext cx="2880360" cy="1179576"/>
          </a:xfrm>
          <a:prstGeom prst="rect">
            <a:avLst/>
          </a:prstGeom>
          <a:solidFill>
            <a:srgbClr val="E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75688" y="3273552"/>
            <a:ext cx="2514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Documents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75688" y="3712463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PDFs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0" y="4617720"/>
            <a:ext cx="4937760" cy="1179576"/>
          </a:xfrm>
          <a:prstGeom prst="rect">
            <a:avLst/>
          </a:prstGeom>
          <a:solidFill>
            <a:srgbClr val="E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75688" y="4818888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Embedding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75688" y="52578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Text in, vector out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0" y="6144768"/>
            <a:ext cx="4937760" cy="1179576"/>
          </a:xfrm>
          <a:prstGeom prst="rect">
            <a:avLst/>
          </a:pr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75688" y="6345936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Vector database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75688" y="67848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Index for similarity search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25512" y="3072384"/>
            <a:ext cx="2898648" cy="1179576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0" y="3273552"/>
            <a:ext cx="25328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Question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3712463"/>
            <a:ext cx="25328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asked by the user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25512" y="6144768"/>
            <a:ext cx="2898648" cy="1179576"/>
          </a:xfrm>
          <a:prstGeom prst="rect">
            <a:avLst/>
          </a:prstGeom>
          <a:solidFill>
            <a:srgbClr val="E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0" y="6345936"/>
            <a:ext cx="25328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Relevant passages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6784848"/>
            <a:ext cx="25328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go into the prompt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954512" y="4617720"/>
            <a:ext cx="2862072" cy="1179576"/>
          </a:xfrm>
          <a:prstGeom prst="rect">
            <a:avLst/>
          </a:prstGeom>
          <a:solidFill>
            <a:srgbClr val="E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201400" y="4818888"/>
            <a:ext cx="24963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LLM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01400" y="5257800"/>
            <a:ext cx="24963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language model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4346936" y="4617720"/>
            <a:ext cx="2898648" cy="1179576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593824" y="4818888"/>
            <a:ext cx="25328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593824" y="5257800"/>
            <a:ext cx="25328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with sources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264408" y="4251960"/>
            <a:ext cx="0" cy="320040"/>
          </a:xfrm>
          <a:prstGeom prst="line">
            <a:avLst/>
          </a:prstGeom>
          <a:ln w="38100">
            <a:solidFill>
              <a:srgbClr val="007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64408" y="5797296"/>
            <a:ext cx="0" cy="301752"/>
          </a:xfrm>
          <a:prstGeom prst="line">
            <a:avLst/>
          </a:prstGeom>
          <a:ln w="38100">
            <a:solidFill>
              <a:srgbClr val="007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6858000" y="4361688"/>
            <a:ext cx="777240" cy="777240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522976" y="5797296"/>
            <a:ext cx="0" cy="301752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766560" y="6729984"/>
            <a:ext cx="713232" cy="0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87000" y="4361688"/>
            <a:ext cx="612648" cy="640080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0287000" y="5458968"/>
            <a:ext cx="612648" cy="640080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3844016" y="5212080"/>
            <a:ext cx="457200" cy="0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060704" y="8092440"/>
            <a:ext cx="76809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07A9E"/>
                </a:solidFill>
                <a:latin typeface="Arial"/>
              </a:rPr>
              <a:t>Once, ahead of time, </a:t>
            </a:r>
            <a:r>
              <a:rPr sz="1700" b="0">
                <a:solidFill>
                  <a:srgbClr val="17161C"/>
                </a:solidFill>
                <a:latin typeface="Arial"/>
              </a:rPr>
              <a:t>the documents are read and cut into chunks. The embedding model turns every chunk into a vector, a list of numbers that captures its meaning. The vectors go into the vector database.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20" y="8092440"/>
            <a:ext cx="7863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DD6108"/>
                </a:solidFill>
                <a:latin typeface="Arial"/>
              </a:rPr>
              <a:t>For every question, </a:t>
            </a:r>
            <a:r>
              <a:rPr sz="1700" b="0">
                <a:solidFill>
                  <a:srgbClr val="17161C"/>
                </a:solidFill>
                <a:latin typeface="Arial"/>
              </a:rPr>
              <a:t>the same model turns the question into a vector and searches the same database. The closest chunks go to the language model with the question, and it answers with sources.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SETUP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60704" y="196596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19659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947672"/>
            <a:ext cx="8229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Install (started on slide 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377440"/>
            <a:ext cx="8961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Courier New"/>
              </a:rPr>
              <a:t>git clone https://github.com/aihpi/workshop-rag-basics.git
cd workshop-rag-basics/workshop
uv sync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0704" y="3648456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364845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630168"/>
            <a:ext cx="8229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Add the key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4059936"/>
            <a:ext cx="8961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Courier New"/>
              </a:rPr>
              <a:t>cp .env.example .env    # then paste the key from the whiteboard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0704" y="4837176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" y="4837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4818888"/>
            <a:ext cx="8229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Check, and fetch Docling's models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5248656"/>
            <a:ext cx="8961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Courier New"/>
              </a:rPr>
              <a:t>uv run python check_setup.py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0704" y="6025896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602589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6007608"/>
            <a:ext cx="8229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Start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6437376"/>
            <a:ext cx="8961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Courier New"/>
              </a:rPr>
              <a:t>uv run jupyter lab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" y="7397496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Done when check_setup.py prints </a:t>
            </a:r>
            <a:r>
              <a:rPr sz="1800" b="1">
                <a:solidFill>
                  <a:srgbClr val="17161C"/>
                </a:solidFill>
                <a:latin typeface="Arial"/>
              </a:rPr>
              <a:t>You're ready for the workshop.</a:t>
            </a:r>
          </a:p>
        </p:txBody>
      </p:sp>
      <p:pic>
        <p:nvPicPr>
          <p:cNvPr id="24" name="Picture 23" descr="live-relo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2011680"/>
            <a:ext cx="6949440" cy="123078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0972800" y="3931920"/>
            <a:ext cx="67665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Cells that start with %%writefile app.py write the chatbot. Chainlit notices the change and reloads it in your browser at localhost:8000.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59893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CHAT MODEL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355080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Courier New"/>
              </a:rPr>
              <a:t>gemma-4-31b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7040879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EMBEDDING 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7406640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Courier New"/>
              </a:rPr>
              <a:t>octen-embedding-8b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80924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RUNS 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8458200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our own infrastructure in Potsdam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TALKING TO AN LLM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60704" y="16916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D6108"/>
                </a:solidFill>
                <a:latin typeface="Arial"/>
              </a:rPr>
              <a:t>NOTEBOOK 1 · 6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24231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IN THIS NOTEBOOK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88036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Connect to the model through the gateway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Ask about a detail from one of our papers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Build a chatbot that remembers and streams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5074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YOUR TURN · IN THE CHATBOT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5064" y="55595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Personality: change the system prompt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5064" y="62453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Bonus: stopwatch, you'll want it in notebook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7040880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Solutions are folded away under each exercise.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41280" y="2103120"/>
            <a:ext cx="7589520" cy="2788920"/>
          </a:xfrm>
          <a:prstGeom prst="roundRect">
            <a:avLst>
              <a:gd name="adj" fmla="val 4000"/>
            </a:avLst>
          </a:prstGeom>
          <a:solidFill>
            <a:srgbClr val="F4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61319" y="2331720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9094"/>
                </a:solidFill>
                <a:latin typeface="Courier New"/>
              </a:rPr>
              <a:t>localhost:8000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384279" y="2880360"/>
            <a:ext cx="6126480" cy="914400"/>
          </a:xfrm>
          <a:prstGeom prst="roundRect">
            <a:avLst/>
          </a:prstGeom>
          <a:solidFill>
            <a:srgbClr val="E2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521440" y="299008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In Kage et al. (2018), what were the lifetime-encoded beads loaded with?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61319" y="4023360"/>
            <a:ext cx="6949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D6108"/>
                </a:solidFill>
                <a:latin typeface="Arial"/>
              </a:rPr>
              <a:t>✓ </a:t>
            </a:r>
            <a:r>
              <a:rPr sz="1500" b="0">
                <a:solidFill>
                  <a:srgbClr val="5A6065"/>
                </a:solidFill>
                <a:latin typeface="Arial"/>
              </a:rPr>
              <a:t>The model answers. Is it right?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A606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490471" y="5321808"/>
            <a:ext cx="384047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FFFFFF"/>
                </a:solidFill>
                <a:latin typeface="Arial"/>
              </a:rPr>
              <a:t>WAS IT RIGHT?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200" y="777240"/>
            <a:ext cx="4480560" cy="1005840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115800" y="777240"/>
            <a:ext cx="41148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Hands up.
Remember your letter.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60704" y="2286000"/>
            <a:ext cx="15636239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606040"/>
            <a:ext cx="156362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0D3D6"/>
                </a:solidFill>
                <a:latin typeface="Arial"/>
              </a:rPr>
              <a:t>NOTEBOOK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3063240"/>
            <a:ext cx="15544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The model answered the Kage question. Was it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4572000"/>
            <a:ext cx="155448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2100" b="0">
                <a:solidFill>
                  <a:srgbClr val="FFFFFF"/>
                </a:solidFill>
                <a:latin typeface="Arial"/>
              </a:rPr>
              <a:t>A   right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2100" b="0">
                <a:solidFill>
                  <a:srgbClr val="FFFFFF"/>
                </a:solidFill>
                <a:latin typeface="Arial"/>
              </a:rPr>
              <a:t>B   wrong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2100" b="0">
                <a:solidFill>
                  <a:srgbClr val="FFFFFF"/>
                </a:solidFill>
                <a:latin typeface="Arial"/>
              </a:rPr>
              <a:t>C   partly right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2100" b="0">
                <a:solidFill>
                  <a:srgbClr val="FFFFFF"/>
                </a:solidFill>
                <a:latin typeface="Arial"/>
              </a:rPr>
              <a:t>D   can't tell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490471" y="5321808"/>
            <a:ext cx="384047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HALF RIGHT, AND YOU CAN'T
TELL WHICH HALF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60704" y="2286000"/>
            <a:ext cx="4992624" cy="73152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300">
                <a:solidFill>
                  <a:srgbClr val="8B9094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3063240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17161C"/>
                </a:solidFill>
                <a:latin typeface="Arial"/>
              </a:rPr>
              <a:t>No access to
your documents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4343400"/>
            <a:ext cx="48463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17161C"/>
                </a:solidFill>
                <a:latin typeface="Arial"/>
              </a:rPr>
              <a:t>Language models are trained mostly on public data. Your lab reports and paywalled papers are unknown to them.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56832" y="2286000"/>
            <a:ext cx="4992624" cy="73152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300">
                <a:solidFill>
                  <a:srgbClr val="8B9094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3063240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17161C"/>
                </a:solidFill>
                <a:latin typeface="Arial"/>
              </a:rPr>
              <a:t>Similar instead
of right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4343400"/>
            <a:ext cx="48463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17161C"/>
                </a:solidFill>
                <a:latin typeface="Arial"/>
              </a:rPr>
              <a:t>When the right information is missing, the model falls back on related material: the rules for no-parking zones answer a question about no-stopping zones.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252960" y="2286000"/>
            <a:ext cx="4992624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252960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300">
                <a:solidFill>
                  <a:srgbClr val="8B9094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0" y="3063240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17161C"/>
                </a:solidFill>
                <a:latin typeface="Arial"/>
              </a:rPr>
              <a:t>RAG decides what
the answer is built 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0" y="4343400"/>
            <a:ext cx="48463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17161C"/>
                </a:solidFill>
                <a:latin typeface="Arial"/>
              </a:rPr>
              <a:t>Retrieval-augmented generation sets which documents an answer may use, and cites the page.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READING DOCUMENTS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60704" y="16916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D6108"/>
                </a:solidFill>
                <a:latin typeface="Arial"/>
              </a:rPr>
              <a:t>NOTEBOOK 2 · 7 MIN</a:t>
            </a:r>
          </a:p>
        </p:txBody>
      </p:sp>
      <p:pic>
        <p:nvPicPr>
          <p:cNvPr id="8" name="Picture 7" descr="docl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2240280"/>
            <a:ext cx="7863840" cy="329897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0704" y="5669280"/>
            <a:ext cx="7772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A PDF stores where to draw each letter. Docling finds headings, paragraphs and tables, and writes Markdown.</a:t>
            </a:r>
          </a:p>
        </p:txBody>
      </p:sp>
      <p:pic>
        <p:nvPicPr>
          <p:cNvPr id="10" name="Picture 9" descr="chunk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2640" y="2240280"/>
            <a:ext cx="7863840" cy="2743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92640" y="5669280"/>
            <a:ext cx="7863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We cut chunks of 1000 characters; a new one starts every 800, so neighbours share 200.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7360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YOUR TURN · IN THE CHATBOT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0704" y="78181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78181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55064" y="7845552"/>
            <a:ext cx="14950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Where are the cuts? Try 300 and 3000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0704" y="8458200"/>
            <a:ext cx="384048" cy="384048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" y="84582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55064" y="8485632"/>
            <a:ext cx="14950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Bonus: only the tables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A606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490471" y="5321808"/>
            <a:ext cx="384047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FFFFFF"/>
                </a:solidFill>
                <a:latin typeface="Arial"/>
              </a:rPr>
              <a:t>WHAT DID YOU FIND?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200" y="777240"/>
            <a:ext cx="4480560" cy="1005840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115800" y="777240"/>
            <a:ext cx="41148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Vote by show of hands.
Answers on the next slide.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60704" y="2286000"/>
            <a:ext cx="7543800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606040"/>
            <a:ext cx="7543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0D3D6"/>
                </a:solidFill>
                <a:latin typeface="Arial"/>
              </a:rPr>
              <a:t>NOTEBOOK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3063240"/>
            <a:ext cx="7452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What happened to the tables when Docling read the papers?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4572000"/>
            <a:ext cx="7452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2100" b="0">
                <a:solidFill>
                  <a:srgbClr val="FFFFFF"/>
                </a:solidFill>
                <a:latin typeface="Arial"/>
              </a:rPr>
              <a:t>A   They were dropped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2100" b="0">
                <a:solidFill>
                  <a:srgbClr val="FFFFFF"/>
                </a:solidFill>
                <a:latin typeface="Arial"/>
              </a:rPr>
              <a:t>B   They became loose lines of numbers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2100" b="0">
                <a:solidFill>
                  <a:srgbClr val="FFFFFF"/>
                </a:solidFill>
                <a:latin typeface="Arial"/>
              </a:rPr>
              <a:t>C   They stayed tables, in Markdown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53144" y="2286000"/>
            <a:ext cx="7543800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53144" y="2606040"/>
            <a:ext cx="7543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0D3D6"/>
                </a:solidFill>
                <a:latin typeface="Arial"/>
              </a:rPr>
              <a:t>NOTEBOOK 2 · YOUR TURN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53144" y="3063240"/>
            <a:ext cx="7452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What happens with smaller chunks, 300 characters instead of 1000?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53144" y="4572000"/>
            <a:ext cx="7452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2100" b="0">
                <a:solidFill>
                  <a:srgbClr val="FFFFFF"/>
                </a:solidFill>
                <a:latin typeface="Arial"/>
              </a:rPr>
              <a:t>A   Fewer chunks, and tables stay whole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2100" b="0">
                <a:solidFill>
                  <a:srgbClr val="FFFFFF"/>
                </a:solidFill>
                <a:latin typeface="Arial"/>
              </a:rPr>
              <a:t>B   More chunks, and more of them cut through a table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2100" b="0">
                <a:solidFill>
                  <a:srgbClr val="FFFFFF"/>
                </a:solidFill>
                <a:latin typeface="Arial"/>
              </a:rPr>
              <a:t>C   Nothing changes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A606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490471" y="5321808"/>
            <a:ext cx="384047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FFFFFF"/>
                </a:solidFill>
                <a:latin typeface="Arial"/>
              </a:rPr>
              <a:t>WHAT WE FOUND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0704" y="2286000"/>
            <a:ext cx="7543800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" y="2606040"/>
            <a:ext cx="7543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0D3D6"/>
                </a:solidFill>
                <a:latin typeface="Arial"/>
              </a:rPr>
              <a:t>NOTEBOOK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" y="3063240"/>
            <a:ext cx="7452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What happened to the tables when Docling read the papers?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0704" y="4526280"/>
            <a:ext cx="754380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35024" y="4709160"/>
            <a:ext cx="6995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B1063A"/>
                </a:solidFill>
                <a:latin typeface="Arial"/>
              </a:rPr>
              <a:t>C</a:t>
            </a:r>
            <a:r>
              <a:rPr sz="1900" b="1">
                <a:solidFill>
                  <a:srgbClr val="17161C"/>
                </a:solidFill>
                <a:latin typeface="Arial"/>
              </a:rPr>
              <a:t>   They stayed tables, in Markdown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5024" y="5760720"/>
            <a:ext cx="699515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All 5 tables in the three papers came through with their rows and columns, searchable like any other text.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53144" y="2286000"/>
            <a:ext cx="7543800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53144" y="2606040"/>
            <a:ext cx="7543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0D3D6"/>
                </a:solidFill>
                <a:latin typeface="Arial"/>
              </a:rPr>
              <a:t>NOTEBOOK 2 · YOUR TURN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53144" y="3063240"/>
            <a:ext cx="7452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What happens with smaller chunks, 300 characters instead of 1000?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53144" y="4526280"/>
            <a:ext cx="754380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27464" y="4709160"/>
            <a:ext cx="6995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B1063A"/>
                </a:solidFill>
                <a:latin typeface="Arial"/>
              </a:rPr>
              <a:t>B</a:t>
            </a:r>
            <a:r>
              <a:rPr sz="1900" b="1">
                <a:solidFill>
                  <a:srgbClr val="17161C"/>
                </a:solidFill>
                <a:latin typeface="Arial"/>
              </a:rPr>
              <a:t>   More chunks, and more of them cut through a 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27464" y="5760720"/>
            <a:ext cx="699515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628 instead of 197 chunks, and 17 instead of 5 end in the middle of a table row. At 3000: 69 chunks, none.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0704" y="8229600"/>
            <a:ext cx="1618488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8229600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8229600"/>
            <a:ext cx="138988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17161C"/>
                </a:solidFill>
                <a:latin typeface="Arial"/>
              </a:rPr>
              <a:t>We have good chunks. How do we find the right ones for a question?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SEARCH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60704" y="16916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D6108"/>
                </a:solidFill>
                <a:latin typeface="Arial"/>
              </a:rPr>
              <a:t>NOTEBOOK 3 · 8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24231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IN THIS NOTEBOOK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88036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Embed sentences and compare how similar they are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Store all chunks in Qdrant, in memory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Turn the bot into a search engine, no LLM yet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5074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YOUR TURN · IN THE CHATBOT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5064" y="55595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Fewer, better results: pick a score cutoff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5064" y="62453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Bonus: ask in German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7040880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Solutions are folded away under each exercise.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41280" y="2103120"/>
            <a:ext cx="7589520" cy="6071616"/>
          </a:xfrm>
          <a:prstGeom prst="roundRect">
            <a:avLst>
              <a:gd name="adj" fmla="val 4000"/>
            </a:avLst>
          </a:prstGeom>
          <a:solidFill>
            <a:srgbClr val="F4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61319" y="2331720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9094"/>
                </a:solidFill>
                <a:latin typeface="Courier New"/>
              </a:rPr>
              <a:t>localhost:8000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384279" y="2880360"/>
            <a:ext cx="6126480" cy="566928"/>
          </a:xfrm>
          <a:prstGeom prst="roundRect">
            <a:avLst/>
          </a:prstGeom>
          <a:solidFill>
            <a:srgbClr val="E2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521440" y="2990088"/>
            <a:ext cx="5852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What were the lifetime-encoded beads loaded with?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61319" y="3675887"/>
            <a:ext cx="69494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19" y="3813048"/>
            <a:ext cx="64922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Kage_2018_SciReports.pdf, p. 2  (score 0.73)
› … loaded with different organic fluorophores …
Kage_2018_SciReports.pdf, p. 3  (score 0.64)
› Table 1. Lifetime codes and respective luminophores 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395959" y="6236207"/>
            <a:ext cx="4114800" cy="566928"/>
          </a:xfrm>
          <a:prstGeom prst="roundRect">
            <a:avLst/>
          </a:prstGeom>
          <a:solidFill>
            <a:srgbClr val="E2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533120" y="6345936"/>
            <a:ext cx="3840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What is the capital of France?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561319" y="7031736"/>
            <a:ext cx="69494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19" y="7168896"/>
            <a:ext cx="6492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Kage_2018_SciReports.pdf, p. 6  (score 0.17) 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832104" y="5321808"/>
            <a:ext cx="25237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WHY DID FRANCE GET A HIT?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pic>
        <p:nvPicPr>
          <p:cNvPr id="7" name="Picture 6" descr="embeddin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1920240"/>
            <a:ext cx="6766560" cy="4016281"/>
          </a:xfrm>
          <a:prstGeom prst="rect">
            <a:avLst/>
          </a:prstGeom>
        </p:spPr>
      </p:pic>
      <p:pic>
        <p:nvPicPr>
          <p:cNvPr id="8" name="Picture 7" descr="qdra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79" y="1920240"/>
            <a:ext cx="9692640" cy="37868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0704" y="6263640"/>
            <a:ext cx="1618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7A9E"/>
                </a:solidFill>
                <a:latin typeface="Arial"/>
              </a:rPr>
              <a:t>1   </a:t>
            </a:r>
            <a:r>
              <a:rPr sz="2000" b="0">
                <a:solidFill>
                  <a:srgbClr val="17161C"/>
                </a:solidFill>
                <a:latin typeface="Arial"/>
              </a:rPr>
              <a:t>An embedding model turns text into a list of numbers, 4096 with ours. Similar meaning, similar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7178040"/>
            <a:ext cx="1618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7A9E"/>
                </a:solidFill>
                <a:latin typeface="Arial"/>
              </a:rPr>
              <a:t>2   </a:t>
            </a:r>
            <a:r>
              <a:rPr sz="2000" b="0">
                <a:solidFill>
                  <a:srgbClr val="17161C"/>
                </a:solidFill>
                <a:latin typeface="Arial"/>
              </a:rPr>
              <a:t>Search returns the closest chunks, however far away they are.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8092440"/>
            <a:ext cx="1618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7A9E"/>
                </a:solidFill>
                <a:latin typeface="Arial"/>
              </a:rPr>
              <a:t>3   </a:t>
            </a:r>
            <a:r>
              <a:rPr sz="2000" b="0">
                <a:solidFill>
                  <a:srgbClr val="17161C"/>
                </a:solidFill>
                <a:latin typeface="Arial"/>
              </a:rPr>
              <a:t>Qdrant stores one point per chunk: the vector, and a payload with text, file and page.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RETRIEVAL-AUGMENTED GENERATION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60704" y="16916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D6108"/>
                </a:solidFill>
                <a:latin typeface="Arial"/>
              </a:rPr>
              <a:t>NOTEBOOK 4 · 11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233172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300">
                <a:solidFill>
                  <a:srgbClr val="007A9E"/>
                </a:solidFill>
                <a:latin typeface="Arial"/>
              </a:rPr>
              <a:t>RETRIEVE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17161C"/>
                </a:solidFill>
                <a:latin typeface="Arial"/>
              </a:rPr>
              <a:t>the 5 closest chunks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3291839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300">
                <a:solidFill>
                  <a:srgbClr val="007A9E"/>
                </a:solidFill>
                <a:latin typeface="Arial"/>
              </a:rPr>
              <a:t>AUGMENT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17161C"/>
                </a:solidFill>
                <a:latin typeface="Arial"/>
              </a:rPr>
              <a:t>the prompt with them, numbered [1] to [5]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425196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300">
                <a:solidFill>
                  <a:srgbClr val="007A9E"/>
                </a:solidFill>
                <a:latin typeface="Arial"/>
              </a:rPr>
              <a:t>GENERATE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17161C"/>
                </a:solidFill>
                <a:latin typeface="Arial"/>
              </a:rPr>
              <a:t>the answer, citing those numbers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525780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7161C"/>
                </a:solidFill>
                <a:latin typeface="Arial"/>
              </a:rPr>
              <a:t>Every [n] leads to a chunk, and every chunk remembers its file and page.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6537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YOUR TURN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0704" y="699516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69951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55064" y="7022592"/>
            <a:ext cx="7452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How much context? Score limit 2 and limit 15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0704" y="7653528"/>
            <a:ext cx="384048" cy="384048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" y="765352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55064" y="7680960"/>
            <a:ext cx="7452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Bonus: strict or not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0704" y="8311896"/>
            <a:ext cx="384048" cy="384048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831189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55064" y="8339327"/>
            <a:ext cx="7452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Bonus: show the evidence; follow-up questions</a:t>
            </a:r>
          </a:p>
        </p:txBody>
      </p:sp>
      <p:pic>
        <p:nvPicPr>
          <p:cNvPr id="22" name="Picture 21" descr="rag-prom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0" y="1828800"/>
            <a:ext cx="8229600" cy="3041374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9601200" y="5212080"/>
            <a:ext cx="8229600" cy="3767328"/>
          </a:xfrm>
          <a:prstGeom prst="roundRect">
            <a:avLst>
              <a:gd name="adj" fmla="val 4000"/>
            </a:avLst>
          </a:prstGeom>
          <a:solidFill>
            <a:srgbClr val="F4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21240" y="5440680"/>
            <a:ext cx="7589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9094"/>
                </a:solidFill>
                <a:latin typeface="Courier New"/>
              </a:rPr>
              <a:t>localhost:8000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375135" y="5989320"/>
            <a:ext cx="6135624" cy="566928"/>
          </a:xfrm>
          <a:prstGeom prst="roundRect">
            <a:avLst/>
          </a:prstGeom>
          <a:solidFill>
            <a:srgbClr val="E2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512296" y="6099048"/>
            <a:ext cx="58613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What were the beads in Kage et al. loaded with?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21240" y="6784848"/>
            <a:ext cx="758952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0" y="6922008"/>
            <a:ext cx="713232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PMMA beads stained with organic dyes from PolyAn GmbH [1], and melamine beads loaded with CdSe/CdS/ZnS quantum dots [1], [2].
Sources:  Kage_2018_SciReports, p.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A606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490471" y="5321808"/>
            <a:ext cx="384047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FFFFFF"/>
                </a:solidFill>
                <a:latin typeface="Arial"/>
              </a:rPr>
              <a:t>WHICH HALF?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0704" y="2103120"/>
            <a:ext cx="9509760" cy="5394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286000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spc="200">
                <a:solidFill>
                  <a:srgbClr val="8B9094"/>
                </a:solidFill>
                <a:latin typeface="Arial"/>
              </a:rPr>
              <a:t>THE NOTEBOOK 1 ANSWER, JUDGED IN NOTEBOOK 4 (ONE RUN)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788920"/>
            <a:ext cx="896112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1">
                <a:solidFill>
                  <a:srgbClr val="2F9E62"/>
                </a:solidFill>
                <a:latin typeface="Arial"/>
              </a:rPr>
              <a:t>✓  </a:t>
            </a:r>
            <a:r>
              <a:rPr sz="1800" b="0">
                <a:solidFill>
                  <a:srgbClr val="17161C"/>
                </a:solidFill>
                <a:latin typeface="Arial"/>
              </a:rPr>
              <a:t>The beads were loaded with quantum dots (QDs).</a:t>
            </a:r>
          </a:p>
          <a:p>
            <a:pPr algn="l">
              <a:lnSpc>
                <a:spcPct val="145000"/>
              </a:lnSpc>
            </a:pPr>
            <a:r>
              <a:rPr sz="1800" b="1">
                <a:solidFill>
                  <a:srgbClr val="B1063A"/>
                </a:solidFill>
                <a:latin typeface="Arial"/>
              </a:rPr>
              <a:t>✗  </a:t>
            </a:r>
            <a:r>
              <a:rPr sz="1800" b="0">
                <a:solidFill>
                  <a:srgbClr val="17161C"/>
                </a:solidFill>
                <a:latin typeface="Arial"/>
              </a:rPr>
              <a:t>Three different types of quantum dots, to create distinct lifetime signatures.</a:t>
            </a:r>
          </a:p>
          <a:p>
            <a:pPr algn="l">
              <a:lnSpc>
                <a:spcPct val="145000"/>
              </a:lnSpc>
            </a:pPr>
            <a:r>
              <a:rPr sz="1800" b="1">
                <a:solidFill>
                  <a:srgbClr val="B1063A"/>
                </a:solidFill>
                <a:latin typeface="Arial"/>
              </a:rPr>
              <a:t>✗  </a:t>
            </a:r>
            <a:r>
              <a:rPr sz="1800" b="0">
                <a:solidFill>
                  <a:srgbClr val="17161C"/>
                </a:solidFill>
                <a:latin typeface="Arial"/>
              </a:rPr>
              <a:t>One type had a short lifetime of about 10 ns.</a:t>
            </a:r>
          </a:p>
          <a:p>
            <a:pPr algn="l">
              <a:lnSpc>
                <a:spcPct val="145000"/>
              </a:lnSpc>
            </a:pPr>
            <a:r>
              <a:rPr sz="1800" b="1">
                <a:solidFill>
                  <a:srgbClr val="B1063A"/>
                </a:solidFill>
                <a:latin typeface="Arial"/>
              </a:rPr>
              <a:t>✗  </a:t>
            </a:r>
            <a:r>
              <a:rPr sz="1800" b="0">
                <a:solidFill>
                  <a:srgbClr val="17161C"/>
                </a:solidFill>
                <a:latin typeface="Arial"/>
              </a:rPr>
              <a:t>One type had a medium lifetime of about 25 ns.</a:t>
            </a:r>
          </a:p>
          <a:p>
            <a:pPr algn="l">
              <a:lnSpc>
                <a:spcPct val="145000"/>
              </a:lnSpc>
            </a:pPr>
            <a:r>
              <a:rPr sz="1800" b="1">
                <a:solidFill>
                  <a:srgbClr val="B1063A"/>
                </a:solidFill>
                <a:latin typeface="Arial"/>
              </a:rPr>
              <a:t>✗  </a:t>
            </a:r>
            <a:r>
              <a:rPr sz="1800" b="0">
                <a:solidFill>
                  <a:srgbClr val="17161C"/>
                </a:solidFill>
                <a:latin typeface="Arial"/>
              </a:rPr>
              <a:t>One type had a long lifetime of about 50 ns.</a:t>
            </a:r>
          </a:p>
          <a:p>
            <a:pPr algn="l">
              <a:lnSpc>
                <a:spcPct val="145000"/>
              </a:lnSpc>
            </a:pPr>
            <a:r>
              <a:rPr sz="1800" b="1">
                <a:solidFill>
                  <a:srgbClr val="B1063A"/>
                </a:solidFill>
                <a:latin typeface="Arial"/>
              </a:rPr>
              <a:t>✗  </a:t>
            </a:r>
            <a:r>
              <a:rPr sz="1800" b="0">
                <a:solidFill>
                  <a:srgbClr val="17161C"/>
                </a:solidFill>
                <a:latin typeface="Arial"/>
              </a:rPr>
              <a:t>The beads were used as fiducial markers to correct for drift during imaging.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6583680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5A6065"/>
                </a:solidFill>
                <a:latin typeface="Courier New"/>
              </a:rPr>
              <a:t>faithfulness  </a:t>
            </a:r>
            <a:r>
              <a:rPr sz="2600" b="1">
                <a:solidFill>
                  <a:srgbClr val="17161C"/>
                </a:solidFill>
                <a:latin typeface="Courier New"/>
              </a:rPr>
              <a:t>0.17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2103120"/>
            <a:ext cx="6583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Which part of the system knows the page number of a chunk?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4023360"/>
            <a:ext cx="6583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A   the LLM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B   the payload in Qdrant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C   the embedding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PUTTING IT TOGETHER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60704" y="16916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D6108"/>
                </a:solidFill>
                <a:latin typeface="Arial"/>
              </a:rPr>
              <a:t>NOTEBOOK 5 · 6 MIN</a:t>
            </a:r>
          </a:p>
        </p:txBody>
      </p:sp>
      <p:pic>
        <p:nvPicPr>
          <p:cNvPr id="8" name="Picture 7" descr="over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2240280"/>
            <a:ext cx="9418320" cy="33263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247120" y="22402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YOUR TURN · IN THE CHATBOT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247120" y="269748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47120" y="26974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41480" y="2724912"/>
            <a:ext cx="59893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Your own document: attach a PDF, ask, check the page and the score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247120" y="3840480"/>
            <a:ext cx="384048" cy="384048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247120" y="38404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41480" y="3867912"/>
            <a:ext cx="59893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Bonus: chat with this document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" y="60350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PIECE · NOTEBOOK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0704" y="6492240"/>
            <a:ext cx="388620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6492240"/>
            <a:ext cx="3108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Read a PDF with Docling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6824" y="6492240"/>
            <a:ext cx="4572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29784" y="6492240"/>
            <a:ext cx="388620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12664" y="6492240"/>
            <a:ext cx="3108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Cut into chunks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5904" y="6492240"/>
            <a:ext cx="4572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98864" y="6492240"/>
            <a:ext cx="388620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81744" y="6492240"/>
            <a:ext cx="3108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Turn text into vectors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444984" y="6492240"/>
            <a:ext cx="4572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267944" y="6492240"/>
            <a:ext cx="388620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450824" y="6492240"/>
            <a:ext cx="3108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Store and search in Qdrant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514064" y="6492240"/>
            <a:ext cx="4572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0704" y="7360919"/>
            <a:ext cx="388620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43584" y="7360919"/>
            <a:ext cx="3108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Answer from the chunks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06824" y="7360919"/>
            <a:ext cx="4572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29784" y="7360919"/>
            <a:ext cx="388620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12664" y="7360919"/>
            <a:ext cx="3108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Cite the page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75904" y="7360919"/>
            <a:ext cx="4572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98864" y="7360919"/>
            <a:ext cx="388620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81744" y="7360919"/>
            <a:ext cx="3108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Score the answer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444984" y="7360919"/>
            <a:ext cx="4572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3267944" y="7360919"/>
            <a:ext cx="388620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450824" y="7360919"/>
            <a:ext cx="3108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Your own PDF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514064" y="7360919"/>
            <a:ext cx="4572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" y="8458200"/>
            <a:ext cx="1618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1063A"/>
                </a:solidFill>
                <a:latin typeface="Arial"/>
              </a:rPr>
              <a:t>Your PDF goes to the AISC gateway in Potsdam. </a:t>
            </a:r>
            <a:r>
              <a:rPr sz="1800" b="0">
                <a:solidFill>
                  <a:srgbClr val="B1063A"/>
                </a:solidFill>
                <a:latin typeface="Arial"/>
              </a:rPr>
              <a:t>Test or public documents only.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YOUR COLLECTION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60704" y="2194560"/>
            <a:ext cx="7863840" cy="329184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514600"/>
            <a:ext cx="7132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QUESTION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06324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17161C"/>
                </a:solidFill>
                <a:latin typeface="Arial"/>
              </a:rPr>
              <a:t>Which collection would you point this at?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90304" y="2194560"/>
            <a:ext cx="7863840" cy="329184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0" y="2514600"/>
            <a:ext cx="7132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QUESTION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306324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17161C"/>
                </a:solidFill>
                <a:latin typeface="Arial"/>
              </a:rPr>
              <a:t>What do you expect to break first, and why?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6080760"/>
            <a:ext cx="1618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5A6065"/>
                </a:solidFill>
                <a:latin typeface="Arial"/>
              </a:rPr>
              <a:t>One sentence each.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0704" y="7406640"/>
            <a:ext cx="1618488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D0D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7406640"/>
            <a:ext cx="274320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OFTEN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7406640"/>
            <a:ext cx="1389888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17161C"/>
                </a:solidFill>
                <a:latin typeface="Arial"/>
              </a:rPr>
              <a:t>Scanned PDFs  ·  tables  ·  questions across several documents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490471" y="5321808"/>
            <a:ext cx="384047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WHERE TO TAKE THIS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60704" y="1965960"/>
            <a:ext cx="16184880" cy="749808"/>
          </a:xfrm>
          <a:prstGeom prst="rect">
            <a:avLst/>
          </a:pr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1965960"/>
            <a:ext cx="62179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1965960"/>
            <a:ext cx="9235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The template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60704" y="2752344"/>
            <a:ext cx="16184880" cy="74980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2752344"/>
            <a:ext cx="62179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Fixed 1000-character chunks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752344"/>
            <a:ext cx="9235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Structure-aware chunkers, chosen per data source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0704" y="3538728"/>
            <a:ext cx="1618488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3538728"/>
            <a:ext cx="62179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Qdrant in memory, rebuilt on every 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538728"/>
            <a:ext cx="9235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Qdrant server, ingested once, updated when files change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0704" y="4325112"/>
            <a:ext cx="16184880" cy="74980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325112"/>
            <a:ext cx="62179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Vector search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4325112"/>
            <a:ext cx="9235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Hybrid search: vectors plus keyword matching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0704" y="5111496"/>
            <a:ext cx="1618488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25880" y="5111496"/>
            <a:ext cx="62179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Faithfulness, one answer at a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5111496"/>
            <a:ext cx="9235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An evaluation app that compares setups</a:t>
            </a:r>
          </a:p>
        </p:txBody>
      </p:sp>
      <p:pic>
        <p:nvPicPr>
          <p:cNvPr id="22" name="Picture 21" descr="qr-templ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6263640"/>
            <a:ext cx="1737360" cy="17373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026663" y="640080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The template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26663" y="6903720"/>
            <a:ext cx="3383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Arial"/>
              </a:rPr>
              <a:t>aihpi/pilotproject-rag-template on GitHub</a:t>
            </a:r>
          </a:p>
        </p:txBody>
      </p:sp>
      <p:pic>
        <p:nvPicPr>
          <p:cNvPr id="25" name="Picture 24" descr="qr-office-hou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6263640"/>
            <a:ext cx="1737360" cy="17373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513064" y="640080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Office hours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13064" y="6903720"/>
            <a:ext cx="3383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Arial"/>
              </a:rPr>
              <a:t>Stuck on your own collection? Book a slot.</a:t>
            </a:r>
          </a:p>
        </p:txBody>
      </p:sp>
      <p:pic>
        <p:nvPicPr>
          <p:cNvPr id="28" name="Picture 27" descr="qr-appl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33504" y="6263640"/>
            <a:ext cx="1737360" cy="17373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3999464" y="640080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Pilot projects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9464" y="6903720"/>
            <a:ext cx="3383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Arial"/>
              </a:rPr>
              <a:t>Build it with us; applications every three months.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27048" y="1691640"/>
            <a:ext cx="12344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>
                <a:solidFill>
                  <a:srgbClr val="5A6065"/>
                </a:solidFill>
                <a:latin typeface="Arial"/>
              </a:rPr>
              <a:t>YOUR FEEDBACK COUNTS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27048" y="2834640"/>
            <a:ext cx="8686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7161C"/>
                </a:solidFill>
                <a:latin typeface="Arial"/>
              </a:rPr>
              <a:t>We shape our next workshops around your answers. Two minutes is enough.</a:t>
            </a:r>
          </a:p>
        </p:txBody>
      </p:sp>
      <p:sp>
        <p:nvSpPr>
          <p:cNvPr id="4" name="Rectangle 3"/>
          <p:cNvSpPr/>
          <p:nvPr/>
        </p:nvSpPr>
        <p:spPr>
          <a:xfrm>
            <a:off x="1527048" y="4160520"/>
            <a:ext cx="1143000" cy="73152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qr-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4544568"/>
            <a:ext cx="2670048" cy="26806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17720" y="5120640"/>
            <a:ext cx="5486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17161C"/>
                </a:solidFill>
                <a:latin typeface="Arial"/>
                <a:hlinkClick r:id="rId3"/>
              </a:rPr>
              <a:t>kisz@hpi.de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17161C"/>
                </a:solidFill>
                <a:latin typeface="Arial"/>
                <a:hlinkClick r:id="rId4"/>
              </a:rPr>
              <a:t>hpi.de/kisz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5A6065"/>
                </a:solidFill>
                <a:latin typeface="Arial"/>
              </a:rPr>
              <a:t>Felix Boelter  |  [Co-moderator]</a:t>
            </a:r>
          </a:p>
        </p:txBody>
      </p:sp>
      <p:sp>
        <p:nvSpPr>
          <p:cNvPr id="7" name="Rectangle 6"/>
          <p:cNvSpPr/>
          <p:nvPr/>
        </p:nvSpPr>
        <p:spPr>
          <a:xfrm>
            <a:off x="1527048" y="7589520"/>
            <a:ext cx="6766560" cy="18288"/>
          </a:xfrm>
          <a:prstGeom prst="rect">
            <a:avLst/>
          </a:prstGeom>
          <a:solidFill>
            <a:srgbClr val="D0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27048" y="7772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B1063A"/>
                </a:solidFill>
                <a:latin typeface="Arial"/>
              </a:rPr>
              <a:t>KEEP GOING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7048" y="8183879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161C"/>
                </a:solidFill>
                <a:latin typeface="Arial"/>
                <a:hlinkClick r:id="rId5"/>
              </a:rPr>
              <a:t>github.com/aihpi/workshop-rag-basics</a:t>
            </a:r>
            <a:r>
              <a:rPr sz="1500" b="0">
                <a:solidFill>
                  <a:srgbClr val="5A6065"/>
                </a:solidFill>
                <a:latin typeface="Arial"/>
              </a:rPr>
              <a:t>  ·  this workshop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161C"/>
                </a:solidFill>
                <a:latin typeface="Arial"/>
                <a:hlinkClick r:id="rId6"/>
              </a:rPr>
              <a:t>github.com/aihpi/pilotproject-rag-template</a:t>
            </a:r>
            <a:r>
              <a:rPr sz="1500" b="0">
                <a:solidFill>
                  <a:srgbClr val="5A6065"/>
                </a:solidFill>
                <a:latin typeface="Arial"/>
              </a:rPr>
              <a:t>  ·  template</a:t>
            </a:r>
          </a:p>
        </p:txBody>
      </p:sp>
      <p:pic>
        <p:nvPicPr>
          <p:cNvPr id="10" name="Picture 9" descr="logo-kisz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041880" y="676656"/>
            <a:ext cx="2560320" cy="905528"/>
          </a:xfrm>
          <a:prstGeom prst="rect">
            <a:avLst/>
          </a:prstGeom>
        </p:spPr>
      </p:pic>
      <p:pic>
        <p:nvPicPr>
          <p:cNvPr id="11" name="Picture 10" descr="logo-bmft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005304" y="1810512"/>
            <a:ext cx="2560320" cy="1708886"/>
          </a:xfrm>
          <a:prstGeom prst="rect">
            <a:avLst/>
          </a:prstGeom>
        </p:spPr>
      </p:pic>
      <p:pic>
        <p:nvPicPr>
          <p:cNvPr id="12" name="Picture 11" descr="hpi-taglin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4944" y="9354312"/>
            <a:ext cx="2670048" cy="991732"/>
          </a:xfrm>
          <a:prstGeom prst="rect">
            <a:avLst/>
          </a:prstGeom>
        </p:spPr>
      </p:pic>
      <p:pic>
        <p:nvPicPr>
          <p:cNvPr id="13" name="Picture 12" descr="hpi-building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87968" y="6144768"/>
            <a:ext cx="10716768" cy="496726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A606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0704" y="26060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spc="30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" y="3154680"/>
            <a:ext cx="15544800" cy="21031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>
                <a:solidFill>
                  <a:srgbClr val="FFFFFF"/>
                </a:solidFill>
                <a:latin typeface="Arial"/>
              </a:rPr>
              <a:t>APPENDIX</a:t>
            </a:r>
          </a:p>
        </p:txBody>
      </p:sp>
      <p:sp>
        <p:nvSpPr>
          <p:cNvPr id="4" name="Rectangle 3"/>
          <p:cNvSpPr/>
          <p:nvPr/>
        </p:nvSpPr>
        <p:spPr>
          <a:xfrm>
            <a:off x="1060704" y="5486400"/>
            <a:ext cx="1600200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0704" y="5897880"/>
            <a:ext cx="1463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FFFFF"/>
                </a:solidFill>
                <a:latin typeface="Arial"/>
              </a:rPr>
              <a:t>Background for questions. Not part of the 90 minutes.</a:t>
            </a:r>
          </a:p>
        </p:txBody>
      </p:sp>
      <p:sp>
        <p:nvSpPr>
          <p:cNvPr id="6" name="Freeform 5"/>
          <p:cNvSpPr/>
          <p:nvPr/>
        </p:nvSpPr>
        <p:spPr>
          <a:xfrm>
            <a:off x="0" y="10835640"/>
            <a:ext cx="4572000" cy="7399724392800"/>
          </a:xfrm>
          <a:custGeom>
            <a:avLst/>
            <a:gdLst/>
            <a:ahLst/>
            <a:cxnLst/>
            <a:rect l="l" t="t" r="r" b="b"/>
            <a:pathLst>
              <a:path w="5" h="8092437">
                <a:moveTo>
                  <a:pt x="0" y="8092437"/>
                </a:moveTo>
                <a:lnTo>
                  <a:pt x="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" y="8915400"/>
            <a:ext cx="2395728" cy="15990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2807207" y="5321808"/>
            <a:ext cx="6473951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AI SERVICE CENTRES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FOUR AI SERVICE CENTRES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pic>
        <p:nvPicPr>
          <p:cNvPr id="7" name="Picture 6" descr="qr-kis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2514600"/>
            <a:ext cx="2606040" cy="2606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516636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5A6065"/>
                </a:solidFill>
                <a:latin typeface="Arial"/>
              </a:rPr>
              <a:t>hpi.de/ki-servicezentrum</a:t>
            </a:r>
          </a:p>
        </p:txBody>
      </p:sp>
      <p:pic>
        <p:nvPicPr>
          <p:cNvPr id="9" name="Picture 8" descr="map-german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1691640"/>
            <a:ext cx="4764024" cy="6338509"/>
          </a:xfrm>
          <a:prstGeom prst="rect">
            <a:avLst/>
          </a:prstGeom>
        </p:spPr>
      </p:pic>
      <p:pic>
        <p:nvPicPr>
          <p:cNvPr id="10" name="Picture 9" descr="map-stat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2624" y="1810512"/>
            <a:ext cx="4745736" cy="626748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031736" y="3675888"/>
            <a:ext cx="109728" cy="109728"/>
          </a:xfrm>
          <a:prstGeom prst="ellipse">
            <a:avLst/>
          </a:prstGeom>
          <a:solidFill>
            <a:srgbClr val="1BA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077456" y="4407408"/>
            <a:ext cx="109728" cy="109728"/>
          </a:xfrm>
          <a:prstGeom prst="ellipse">
            <a:avLst/>
          </a:prstGeom>
          <a:solidFill>
            <a:srgbClr val="1BA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03136" y="4700016"/>
            <a:ext cx="109728" cy="109728"/>
          </a:xfrm>
          <a:prstGeom prst="ellipse">
            <a:avLst/>
          </a:prstGeom>
          <a:solidFill>
            <a:srgbClr val="1BA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7306056" y="4462272"/>
            <a:ext cx="438912" cy="0"/>
          </a:xfrm>
          <a:prstGeom prst="line">
            <a:avLst/>
          </a:prstGeom>
          <a:ln w="28575">
            <a:solidFill>
              <a:srgbClr val="1BA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7744968" y="2560320"/>
            <a:ext cx="2148840" cy="1901952"/>
          </a:xfrm>
          <a:prstGeom prst="line">
            <a:avLst/>
          </a:prstGeom>
          <a:ln w="28575">
            <a:solidFill>
              <a:srgbClr val="1BA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893808" y="2560320"/>
            <a:ext cx="2350008" cy="0"/>
          </a:xfrm>
          <a:prstGeom prst="line">
            <a:avLst/>
          </a:prstGeom>
          <a:ln w="28575">
            <a:solidFill>
              <a:srgbClr val="1BA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12152376" y="2468879"/>
            <a:ext cx="182880" cy="182880"/>
          </a:xfrm>
          <a:prstGeom prst="ellipse">
            <a:avLst/>
          </a:prstGeom>
          <a:solidFill>
            <a:srgbClr val="1BA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ogo-kissk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35640" y="2148840"/>
            <a:ext cx="1234440" cy="35590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2527280" y="210312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BABE3"/>
                </a:solidFill>
                <a:latin typeface="Arial"/>
              </a:rPr>
              <a:t>Göttingen | Kassel | Hannover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27280" y="251460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Sensitive and critical infrastructure, medicine &amp; energy</a:t>
            </a:r>
          </a:p>
        </p:txBody>
      </p:sp>
      <p:sp>
        <p:nvSpPr>
          <p:cNvPr id="21" name="Oval 20"/>
          <p:cNvSpPr/>
          <p:nvPr/>
        </p:nvSpPr>
        <p:spPr>
          <a:xfrm>
            <a:off x="8677656" y="3867912"/>
            <a:ext cx="109728" cy="109728"/>
          </a:xfrm>
          <a:prstGeom prst="ellipse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8732520" y="3922776"/>
            <a:ext cx="3511296" cy="0"/>
          </a:xfrm>
          <a:prstGeom prst="line">
            <a:avLst/>
          </a:prstGeom>
          <a:ln w="28575">
            <a:solidFill>
              <a:srgbClr val="DD6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12152376" y="3831336"/>
            <a:ext cx="182880" cy="182880"/>
          </a:xfrm>
          <a:prstGeom prst="ellipse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-kisz-smal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35640" y="3474720"/>
            <a:ext cx="1234440" cy="43880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2527280" y="342900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DD6108"/>
                </a:solidFill>
                <a:latin typeface="Arial"/>
              </a:rPr>
              <a:t>Potsdam | Berlin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527280" y="384048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Education and consulting, AI in business &amp; society</a:t>
            </a:r>
          </a:p>
        </p:txBody>
      </p:sp>
      <p:sp>
        <p:nvSpPr>
          <p:cNvPr id="27" name="Oval 26"/>
          <p:cNvSpPr/>
          <p:nvPr/>
        </p:nvSpPr>
        <p:spPr>
          <a:xfrm>
            <a:off x="5769864" y="4507992"/>
            <a:ext cx="109728" cy="109728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815584" y="4745736"/>
            <a:ext cx="109728" cy="109728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358384" y="5056632"/>
            <a:ext cx="109728" cy="109728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193792" y="5157216"/>
            <a:ext cx="109728" cy="109728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907024" y="5404104"/>
            <a:ext cx="109728" cy="109728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5897880" y="4617720"/>
            <a:ext cx="658368" cy="429768"/>
          </a:xfrm>
          <a:prstGeom prst="line">
            <a:avLst/>
          </a:prstGeom>
          <a:ln w="28575">
            <a:solidFill>
              <a:srgbClr val="E935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556248" y="5047488"/>
            <a:ext cx="5687568" cy="0"/>
          </a:xfrm>
          <a:prstGeom prst="line">
            <a:avLst/>
          </a:prstGeom>
          <a:ln w="28575">
            <a:solidFill>
              <a:srgbClr val="E935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2152376" y="4956048"/>
            <a:ext cx="182880" cy="182880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logo-westai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35640" y="4617720"/>
            <a:ext cx="1234440" cy="277447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2527280" y="457200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9358D"/>
                </a:solidFill>
                <a:latin typeface="Arial"/>
              </a:rPr>
              <a:t>Bonn | St. Augustin | Aachen | Jülich | Dortmund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527280" y="498348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AI hardware, consulting and training; multimodal and transferable models</a:t>
            </a:r>
          </a:p>
        </p:txBody>
      </p:sp>
      <p:sp>
        <p:nvSpPr>
          <p:cNvPr id="38" name="Oval 37"/>
          <p:cNvSpPr/>
          <p:nvPr/>
        </p:nvSpPr>
        <p:spPr>
          <a:xfrm>
            <a:off x="6318504" y="5650992"/>
            <a:ext cx="109728" cy="109728"/>
          </a:xfrm>
          <a:prstGeom prst="ellipse">
            <a:avLst/>
          </a:prstGeom>
          <a:solidFill>
            <a:srgbClr val="8A6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6556248" y="5705856"/>
            <a:ext cx="2221992" cy="0"/>
          </a:xfrm>
          <a:prstGeom prst="line">
            <a:avLst/>
          </a:prstGeom>
          <a:ln w="28575">
            <a:solidFill>
              <a:srgbClr val="8A6A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778240" y="5705856"/>
            <a:ext cx="1097280" cy="512064"/>
          </a:xfrm>
          <a:prstGeom prst="line">
            <a:avLst/>
          </a:prstGeom>
          <a:ln w="28575">
            <a:solidFill>
              <a:srgbClr val="8A6A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875520" y="6217920"/>
            <a:ext cx="2368296" cy="0"/>
          </a:xfrm>
          <a:prstGeom prst="line">
            <a:avLst/>
          </a:prstGeom>
          <a:ln w="28575">
            <a:solidFill>
              <a:srgbClr val="8A6A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12152376" y="6126480"/>
            <a:ext cx="182880" cy="182880"/>
          </a:xfrm>
          <a:prstGeom prst="ellipse">
            <a:avLst/>
          </a:prstGeom>
          <a:solidFill>
            <a:srgbClr val="8A6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logo-hessia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35640" y="5852160"/>
            <a:ext cx="1234440" cy="430889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2527280" y="580644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8A6AF4"/>
                </a:solidFill>
                <a:latin typeface="Arial"/>
              </a:rPr>
              <a:t>Darmstadt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527280" y="621792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Explainability, generalisability and contextual adaptation</a:t>
            </a:r>
          </a:p>
        </p:txBody>
      </p:sp>
      <p:pic>
        <p:nvPicPr>
          <p:cNvPr id="46" name="Picture 45" descr="logo-centre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95544" y="8659368"/>
            <a:ext cx="4096512" cy="147804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3898880" y="8138160"/>
            <a:ext cx="4206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Goal: </a:t>
            </a:r>
            <a:r>
              <a:rPr sz="1800" b="1">
                <a:solidFill>
                  <a:srgbClr val="17161C"/>
                </a:solidFill>
                <a:latin typeface="Arial"/>
              </a:rPr>
              <a:t>lower the barriers to putting AI to work in society and business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EDUCATION</a:t>
            </a:r>
          </a:p>
        </p:txBody>
      </p:sp>
      <p:pic>
        <p:nvPicPr>
          <p:cNvPr id="4" name="Picture 3" descr="qr-newsle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194560"/>
            <a:ext cx="2606040" cy="2606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0704" y="484632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5A6065"/>
                </a:solidFill>
                <a:latin typeface="Arial"/>
              </a:rPr>
              <a:t>Newsletter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864608" y="502920"/>
            <a:ext cx="1600200" cy="1554480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64608" y="502920"/>
            <a:ext cx="160020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Talks</a:t>
            </a:r>
          </a:p>
        </p:txBody>
      </p:sp>
      <p:pic>
        <p:nvPicPr>
          <p:cNvPr id="8" name="Picture 7" descr="qr-tal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502920"/>
            <a:ext cx="137160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75120" y="192024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DC640D"/>
                </a:solidFill>
                <a:latin typeface="Arial"/>
              </a:rPr>
              <a:t>tele-task.de/series/1463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4608" y="2286000"/>
            <a:ext cx="5120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Guest talks on research and innovation</a:t>
            </a:r>
          </a:p>
        </p:txBody>
      </p:sp>
      <p:pic>
        <p:nvPicPr>
          <p:cNvPr id="11" name="Picture 10" descr="tile-talk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0" y="502920"/>
            <a:ext cx="2578608" cy="1450467"/>
          </a:xfrm>
          <a:prstGeom prst="rect">
            <a:avLst/>
          </a:prstGeom>
        </p:spPr>
      </p:pic>
      <p:pic>
        <p:nvPicPr>
          <p:cNvPr id="12" name="Picture 11" descr="tile-talk-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01600" y="502920"/>
            <a:ext cx="2578608" cy="1289304"/>
          </a:xfrm>
          <a:prstGeom prst="rect">
            <a:avLst/>
          </a:prstGeom>
        </p:spPr>
      </p:pic>
      <p:pic>
        <p:nvPicPr>
          <p:cNvPr id="13" name="Picture 12" descr="tile-talk-3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544800" y="502920"/>
            <a:ext cx="2578608" cy="128930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864608" y="3794760"/>
            <a:ext cx="1600200" cy="1554480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4608" y="3794760"/>
            <a:ext cx="160020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Work-
shops</a:t>
            </a:r>
          </a:p>
        </p:txBody>
      </p:sp>
      <p:pic>
        <p:nvPicPr>
          <p:cNvPr id="16" name="Picture 15" descr="qr-workshop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3794760"/>
            <a:ext cx="1371600" cy="13716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675120" y="52120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DC640D"/>
                </a:solidFill>
                <a:latin typeface="Arial"/>
              </a:rPr>
              <a:t>aimaker.community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5577840"/>
            <a:ext cx="5120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Hands-on topics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For example: speech2summary, Docker for ML, semantic search</a:t>
            </a:r>
          </a:p>
        </p:txBody>
      </p:sp>
      <p:pic>
        <p:nvPicPr>
          <p:cNvPr id="19" name="Picture 18" descr="tile-workshop-1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794760"/>
            <a:ext cx="2578608" cy="1289304"/>
          </a:xfrm>
          <a:prstGeom prst="rect">
            <a:avLst/>
          </a:prstGeom>
        </p:spPr>
      </p:pic>
      <p:pic>
        <p:nvPicPr>
          <p:cNvPr id="20" name="Picture 19" descr="tile-workshop-2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801600" y="3794760"/>
            <a:ext cx="2578608" cy="1450467"/>
          </a:xfrm>
          <a:prstGeom prst="rect">
            <a:avLst/>
          </a:prstGeom>
        </p:spPr>
      </p:pic>
      <p:pic>
        <p:nvPicPr>
          <p:cNvPr id="21" name="Picture 20" descr="tile-workshop-3.jpe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544800" y="3794760"/>
            <a:ext cx="2578608" cy="128930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864608" y="7086600"/>
            <a:ext cx="1600200" cy="1554480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64608" y="7086600"/>
            <a:ext cx="160020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MOOCs</a:t>
            </a:r>
          </a:p>
        </p:txBody>
      </p:sp>
      <p:pic>
        <p:nvPicPr>
          <p:cNvPr id="24" name="Picture 23" descr="qr-mooc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29600" y="7086600"/>
            <a:ext cx="1371600" cy="13716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675120" y="850392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DC640D"/>
                </a:solidFill>
                <a:latin typeface="Arial"/>
              </a:rPr>
              <a:t>open.hpi.de/channels/ai-service-center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4608" y="8869680"/>
            <a:ext cx="5120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ChatGPT: what does generative AI mean for society?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Profitable AI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Understanding and avoiding AI bias</a:t>
            </a:r>
          </a:p>
        </p:txBody>
      </p:sp>
      <p:pic>
        <p:nvPicPr>
          <p:cNvPr id="27" name="Picture 26" descr="tile-mooc-1.jpe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58400" y="7086600"/>
            <a:ext cx="2578608" cy="1289304"/>
          </a:xfrm>
          <a:prstGeom prst="rect">
            <a:avLst/>
          </a:prstGeom>
        </p:spPr>
      </p:pic>
      <p:pic>
        <p:nvPicPr>
          <p:cNvPr id="28" name="Picture 27" descr="tile-mooc-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801600" y="7086600"/>
            <a:ext cx="2578608" cy="1450467"/>
          </a:xfrm>
          <a:prstGeom prst="rect">
            <a:avLst/>
          </a:prstGeom>
        </p:spPr>
      </p:pic>
      <p:pic>
        <p:nvPicPr>
          <p:cNvPr id="29" name="Picture 28" descr="tile-mooc-3.jpe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544800" y="7086600"/>
            <a:ext cx="2578608" cy="128930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30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INFRASTRUCTURE</a:t>
            </a:r>
          </a:p>
        </p:txBody>
      </p:sp>
      <p:pic>
        <p:nvPicPr>
          <p:cNvPr id="4" name="Picture 3" descr="logo-kis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pic>
        <p:nvPicPr>
          <p:cNvPr id="5" name="Picture 4" descr="qr-a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2514600"/>
            <a:ext cx="2606040" cy="2606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516636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5A6065"/>
                </a:solidFill>
                <a:latin typeface="Arial"/>
              </a:rPr>
              <a:t>aisc.hpi.de · request access</a:t>
            </a:r>
          </a:p>
        </p:txBody>
      </p:sp>
      <p:pic>
        <p:nvPicPr>
          <p:cNvPr id="7" name="Picture 6" descr="compute-banner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296" y="1828800"/>
            <a:ext cx="6400800" cy="3600450"/>
          </a:xfrm>
          <a:prstGeom prst="rect">
            <a:avLst/>
          </a:prstGeom>
        </p:spPr>
      </p:pic>
      <p:pic>
        <p:nvPicPr>
          <p:cNvPr id="8" name="Picture 7" descr="compute-racks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4296" y="5440680"/>
            <a:ext cx="6400800" cy="4754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521440" y="1783080"/>
            <a:ext cx="6583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•  Access </a:t>
            </a:r>
            <a:r>
              <a:rPr sz="1700" b="0">
                <a:solidFill>
                  <a:srgbClr val="DD6108"/>
                </a:solidFill>
                <a:latin typeface="Arial"/>
              </a:rPr>
              <a:t>free of charge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•  No production use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      ◦  Data should be </a:t>
            </a:r>
            <a:r>
              <a:rPr sz="1700" b="0">
                <a:solidFill>
                  <a:srgbClr val="DD6108"/>
                </a:solidFill>
                <a:latin typeface="Arial"/>
              </a:rPr>
              <a:t>anonymised or synthetic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      ◦  No </a:t>
            </a:r>
            <a:r>
              <a:rPr sz="1700" b="0">
                <a:solidFill>
                  <a:srgbClr val="DD6108"/>
                </a:solidFill>
                <a:latin typeface="Arial"/>
              </a:rPr>
              <a:t>hosting of products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•  </a:t>
            </a:r>
            <a:r>
              <a:rPr sz="1700" b="0">
                <a:solidFill>
                  <a:srgbClr val="DD6108"/>
                </a:solidFill>
                <a:latin typeface="Arial"/>
              </a:rPr>
              <a:t>Reporting &amp; publication</a:t>
            </a:r>
            <a:r>
              <a:rPr sz="1700" b="0">
                <a:solidFill>
                  <a:srgbClr val="17161C"/>
                </a:solidFill>
                <a:latin typeface="Arial"/>
              </a:rPr>
              <a:t> by users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•  </a:t>
            </a:r>
            <a:r>
              <a:rPr sz="1700" b="0">
                <a:solidFill>
                  <a:srgbClr val="DD6108"/>
                </a:solidFill>
                <a:latin typeface="Arial"/>
              </a:rPr>
              <a:t>Existing rights</a:t>
            </a:r>
            <a:r>
              <a:rPr sz="1700" b="0">
                <a:solidFill>
                  <a:srgbClr val="17161C"/>
                </a:solidFill>
                <a:latin typeface="Arial"/>
              </a:rPr>
              <a:t> stay with users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•  </a:t>
            </a:r>
            <a:r>
              <a:rPr sz="1700" b="0">
                <a:solidFill>
                  <a:srgbClr val="DD6108"/>
                </a:solidFill>
                <a:latin typeface="Arial"/>
              </a:rPr>
              <a:t>New rights</a:t>
            </a:r>
            <a:r>
              <a:rPr sz="1700" b="0">
                <a:solidFill>
                  <a:srgbClr val="17161C"/>
                </a:solidFill>
                <a:latin typeface="Arial"/>
              </a:rPr>
              <a:t> stay with users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      ◦  Usage rights granted for research and teaching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5486400"/>
            <a:ext cx="32918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Training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64 NVIDIA H100 GPUs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Inference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40 NVIDIA A30 GPUs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ARM server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Ampere Altra Max M128-30 CPU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2× NVIDIA L40 GPUs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GPU server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AMD Epyc CPU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8× NVIDIA L40S GPUs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04720" y="5486400"/>
            <a:ext cx="32918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Edge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ARMv8 CPU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NVIDIA Jetson AGX modules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Neuromorphic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288 SpiNNaker2 chips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Storage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1.5 PB NVRAM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Network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400 Gb/s InfiniBand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200 Gb/s Ethernet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CONSULTING</a:t>
            </a:r>
          </a:p>
        </p:txBody>
      </p:sp>
      <p:pic>
        <p:nvPicPr>
          <p:cNvPr id="4" name="Picture 3" descr="qr-office-hou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31720"/>
            <a:ext cx="2697480" cy="2697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0704" y="5074920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5A6065"/>
                </a:solidFill>
                <a:latin typeface="Arial"/>
              </a:rPr>
              <a:t>Book office hours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011680"/>
            <a:ext cx="7132320" cy="8046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B1063A"/>
                </a:solidFill>
                <a:latin typeface="Arial"/>
              </a:rPr>
              <a:t>AI office hours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AI infrastructure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AI models &amp; frameworks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AI use cases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100" b="1">
                <a:solidFill>
                  <a:srgbClr val="DD6108"/>
                </a:solidFill>
                <a:latin typeface="Arial"/>
              </a:rPr>
              <a:t>AI pilot projects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Co-developing a prototype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Applications every three months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Selection criteria such as AI maturity and public benefit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Results are published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100" b="1">
                <a:solidFill>
                  <a:srgbClr val="F6A800"/>
                </a:solidFill>
                <a:latin typeface="Arial"/>
              </a:rPr>
              <a:t>Collaborations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Jointly organised network meetings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100" b="1">
                <a:solidFill>
                  <a:srgbClr val="17161C"/>
                </a:solidFill>
                <a:latin typeface="Arial"/>
              </a:rPr>
              <a:t>Past AI pilot projects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Generating maths problems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Generating plain language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Generating upcycling ideas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Reducing food waste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Dating documents by handwriting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17161C"/>
                </a:solidFill>
                <a:latin typeface="Arial"/>
              </a:rPr>
              <a:t> </a:t>
            </a:r>
          </a:p>
        </p:txBody>
      </p:sp>
      <p:pic>
        <p:nvPicPr>
          <p:cNvPr id="7" name="Picture 6" descr="consulting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41480" y="274320"/>
            <a:ext cx="6035040" cy="4526280"/>
          </a:xfrm>
          <a:prstGeom prst="rect">
            <a:avLst/>
          </a:prstGeom>
        </p:spPr>
      </p:pic>
      <p:pic>
        <p:nvPicPr>
          <p:cNvPr id="8" name="Picture 7" descr="qr-appl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67559" y="6400800"/>
            <a:ext cx="2697480" cy="2697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767559" y="9144000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DC640D"/>
                </a:solidFill>
                <a:latin typeface="Arial"/>
              </a:rPr>
              <a:t>Apply now!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55063" y="5321808"/>
            <a:ext cx="4169663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RAG IN PRACTICE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pic>
        <p:nvPicPr>
          <p:cNvPr id="7" name="Picture 6" descr="screenshot-sent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2011680"/>
            <a:ext cx="5292852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60704" y="6446520"/>
            <a:ext cx="7955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7161C"/>
                </a:solidFill>
                <a:latin typeface="Arial"/>
              </a:rPr>
              <a:t>SENTRA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6949440"/>
            <a:ext cx="7772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Research Services of the German Bundestag: semantic search across expert reports, an AI summary, every statement traced to its report.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8183879"/>
            <a:ext cx="79552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DC640D"/>
                </a:solidFill>
                <a:latin typeface="Courier New"/>
              </a:rPr>
              <a:t>github.com/aihpi/pilotproject-sentra</a:t>
            </a:r>
          </a:p>
        </p:txBody>
      </p:sp>
      <p:pic>
        <p:nvPicPr>
          <p:cNvPr id="11" name="Picture 10" descr="screenshot-grundschutzk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0344" y="2011680"/>
            <a:ext cx="7955279" cy="416818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10344" y="6446520"/>
            <a:ext cx="7955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7161C"/>
                </a:solidFill>
                <a:latin typeface="Arial"/>
              </a:rPr>
              <a:t>GrundschutzKI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10344" y="6949440"/>
            <a:ext cx="7772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IT baseline protection: questions in plain language, a short answer with a jump link, the BSI original open next to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10344" y="8183879"/>
            <a:ext cx="79552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DC640D"/>
                </a:solidFill>
                <a:latin typeface="Courier New"/>
              </a:rPr>
              <a:t>github.com/aihpi/pilotprojekt-GrundschutzKI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" y="8961120"/>
            <a:ext cx="1600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Semantic search  ·  an AI summary  ·  sources for transparency.  </a:t>
            </a:r>
            <a:r>
              <a:rPr sz="1900" b="0">
                <a:solidFill>
                  <a:srgbClr val="5A6065"/>
                </a:solidFill>
                <a:latin typeface="Arial"/>
              </a:rPr>
              <a:t>Today you build the same thing, small.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832104" y="5321808"/>
            <a:ext cx="25237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FROM DOCUMENT TO CHUNKS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60704" y="18288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STEP 1 · DOCLING READS THE PAGE</a:t>
            </a:r>
          </a:p>
        </p:txBody>
      </p:sp>
      <p:pic>
        <p:nvPicPr>
          <p:cNvPr id="8" name="Picture 7" descr="docl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2286000"/>
            <a:ext cx="7863840" cy="329897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0704" y="5760720"/>
            <a:ext cx="7680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A PDF only stores where to draw each letter. Docling finds headings, paragraphs, tables and figures, and writes Markdown.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18288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STEP 2 · CUT INTO CHUNKS</a:t>
            </a:r>
          </a:p>
        </p:txBody>
      </p:sp>
      <p:pic>
        <p:nvPicPr>
          <p:cNvPr id="11" name="Picture 10" descr="chunk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0" y="2286000"/>
            <a:ext cx="7863840" cy="274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0" y="5760720"/>
            <a:ext cx="78638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Our notebook: </a:t>
            </a:r>
            <a:r>
              <a:rPr sz="1800" b="0">
                <a:solidFill>
                  <a:srgbClr val="17161C"/>
                </a:solidFill>
                <a:latin typeface="Arial"/>
              </a:rPr>
              <a:t>every 1000 characters, with 200 overlap. Simple, the same for every document, but it may cut through a table.</a:t>
            </a:r>
          </a:p>
          <a:p>
            <a:pPr algn="l">
              <a:lnSpc>
                <a:spcPct val="125000"/>
              </a:lnSpc>
            </a:pPr>
            <a:r>
              <a:rPr sz="8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GrundschutzKI: </a:t>
            </a:r>
            <a:r>
              <a:rPr sz="1800" b="0">
                <a:solidFill>
                  <a:srgbClr val="17161C"/>
                </a:solidFill>
                <a:latin typeface="Arial"/>
              </a:rPr>
              <a:t>at every heading, because the BSI standards are clearly structured. A chunk keeps its title. Docling ships several such chunkers.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832104" y="5321808"/>
            <a:ext cx="25237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PROMPT AND CITATIONS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pic>
        <p:nvPicPr>
          <p:cNvPr id="7" name="Picture 6" descr="rag-prom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1828800"/>
            <a:ext cx="10424160" cy="3852407"/>
          </a:xfrm>
          <a:prstGeom prst="rect">
            <a:avLst/>
          </a:prstGeom>
        </p:spPr>
      </p:pic>
      <p:pic>
        <p:nvPicPr>
          <p:cNvPr id="8" name="Picture 7" descr="citati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0704" y="5943600"/>
            <a:ext cx="8503920" cy="24661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252960" y="2103120"/>
            <a:ext cx="5669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300">
                <a:solidFill>
                  <a:srgbClr val="007A9E"/>
                </a:solidFill>
                <a:latin typeface="Arial"/>
              </a:rPr>
              <a:t>RETRIEVE</a:t>
            </a:r>
          </a:p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the 5 closest chunks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60" y="3246120"/>
            <a:ext cx="5669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300">
                <a:solidFill>
                  <a:srgbClr val="007A9E"/>
                </a:solidFill>
                <a:latin typeface="Arial"/>
              </a:rPr>
              <a:t>AUGMENT</a:t>
            </a:r>
          </a:p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the prompt with them, numbered [1] to [5]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52960" y="4389120"/>
            <a:ext cx="5669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300">
                <a:solidFill>
                  <a:srgbClr val="007A9E"/>
                </a:solidFill>
                <a:latin typeface="Arial"/>
              </a:rPr>
              <a:t>GENERATE</a:t>
            </a:r>
          </a:p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the answer, citing those numbers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252960" y="6309360"/>
            <a:ext cx="5486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Every [n] leads back to a chunk, and every chunk remembers its file and page. That is all a citation 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490471" y="5321808"/>
            <a:ext cx="384047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IS THE ANSWER ANY GOOD?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60704" y="1828800"/>
            <a:ext cx="16093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7161C"/>
                </a:solidFill>
                <a:latin typeface="Arial"/>
              </a:rPr>
              <a:t>You scored faithfulness in notebook 4. Changed the chunk size or the number of chunks? Measure whether it helped. Neither score needs a hand-written correct answer.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0704" y="3063240"/>
            <a:ext cx="7863840" cy="457200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6464" y="3291840"/>
            <a:ext cx="7223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07A9E"/>
                </a:solidFill>
                <a:latin typeface="Arial"/>
              </a:rPr>
              <a:t>Faithfulness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3931920"/>
            <a:ext cx="7223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Is every claim backed by the retrieved chunks?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26464" y="4800600"/>
            <a:ext cx="71323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09343" y="4800600"/>
            <a:ext cx="68580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Courier New"/>
              </a:rPr>
              <a:t>supported claims ÷ all claims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464" y="5806440"/>
            <a:ext cx="71323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A6065"/>
                </a:solidFill>
                <a:latin typeface="Arial"/>
              </a:rPr>
              <a:t>A judge model splits the answer into claims and checks each one against the chunks. 0.5 means half the claims have no source.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90304" y="3063240"/>
            <a:ext cx="7863840" cy="457200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56064" y="3291840"/>
            <a:ext cx="7223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07A9E"/>
                </a:solidFill>
                <a:latin typeface="Arial"/>
              </a:rPr>
              <a:t>Relevance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6064" y="3931920"/>
            <a:ext cx="7223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Does the answer address the question?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56064" y="4800600"/>
            <a:ext cx="71323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38944" y="4800600"/>
            <a:ext cx="68580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Courier New"/>
              </a:rPr>
              <a:t>similarity(questions from the answer, real question)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6064" y="5806440"/>
            <a:ext cx="71323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A6065"/>
                </a:solidFill>
                <a:latin typeface="Arial"/>
              </a:rPr>
              <a:t>A judge model writes the questions this answer would fit; their embeddings are compared with the question that was asked.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8001000"/>
            <a:ext cx="160934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In the template: </a:t>
            </a:r>
            <a:r>
              <a:rPr sz="1800" b="0">
                <a:solidFill>
                  <a:srgbClr val="17161C"/>
                </a:solidFill>
                <a:latin typeface="Arial"/>
              </a:rPr>
              <a:t>both scores for every answer, a badge in the chat, and an evaluation app that compares configurations. Built on Ragas.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