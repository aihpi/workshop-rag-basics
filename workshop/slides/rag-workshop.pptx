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8288000" cy="1047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S0, 17 minutes with the AI Service Centre and the install. 90 minutes, mostly in the notebooks. The participant list is going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the list round now, not at the end. Get everyone to start git clone and uv sync now: it's about 2 GB on the workshop Wi-Fi, and it runs while we talk about the AI Service Centre. Collect the list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S0. About 6 minutes for slides 3 to 7: the main reason we are here. The install from slide 2 runs meanwhile.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centres across Germany. Our site in Potsdam and Berlin covers education, consulting and the use of AI in business and society.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and open. Newsletter via the QR code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to use, no production use. Request access at aisc.hpi.de.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call to action: book office hours (QR on the left), apply for a pilot project, which opens every three months (QR on the 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lines aloud. Ask: is this what you came for? Write anything that doesn't fit on the whiteboard; we come back to it at the end (slide 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box on this picture is one notebook. Ingestion happens once, inference with every question; the same embedding model in both. Ask: do we agree on the route?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on the whiteboard now. check_setup.py downloads about 500 MB of Docling models the first time; notebook 1 works before that finishes. Anyone whose uv sync is still running: raise a hand. Ask: everyone sees 'You're ready'?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S1. Don't say whether the answer is right. They decide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 hands per letter, write the numbers on the whiteboard. No reveal: notebook 4 tells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you voted C or D. That is the honest answer, and it is the problem. Notebook 4 tells us which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S2. Docling needs about a minute for the three papers; talk through the Markdown while it runs. GrundschutzKI cuts at headings instead; that is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out, hands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Reveal. Anyone see something different? The chunk numbers are measured on the three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S3. Make them ask the France question before you explain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cat and kitten numbers are the ones they just saw. Ask: do we know what we've built so far?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S4. Same question as notebook 1. Let them click a source. Strict-or-not is a bonus today; it comes back in the transfer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back to the vote on the whiteboard. The ✗ lines are the half nobody could see; one claim (quantum dots) was right. Their own run will show different claims and a different score. Then the question: B, written at ingestion from Docling's page numbers (notebook 3, slide 18). Ask: do we see how far we've come?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S5. The score is already in the app. Expect at least one answer that is worse than on the papers; that's the point. A scanned PDF has no text layer, and with OCR off the bot gets nothing to answer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each; above 12 people, tables of four, one sentence per table. Show the OFTEN line only after the round. Close the loop with the whiteboard list from slide 8. Ask: can you repeat it on your own? If someone asks why not put all PDFs in the prompt: cost per question, page citations, and collections larger than any context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 is where a real project starts. Office hours if you get stuck on your collection: the same offers as on slide 7. SENTRA and GrundschutzKI (appendix) are two pilot projects built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code up while questions come in. Contact: kisz@hpi.de.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after this slide is for questions and for reading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live demo today, just these two to show RAG in real use. SENTRA: up to 2000 requests a year at the Bundestag's research services. GrundschutzKI: do-it-yourself instead of external consulting, also with NIS2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One method of many: fixed size with overlap is what the notebook does. Structured documents chunk better along headings.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RAG = retrieve, augment, generate. Citations are bookkeeping,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to 2 minutes, a recap: they built faithfulness themselves in notebook 4. Relevance is new. Link it to the exercises: limit 2 versus 15, chunk size 300 versus 3000 are exactly the changes you would measure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jpg"/><Relationship Id="rId7" Type="http://schemas.openxmlformats.org/officeDocument/2006/relationships/image" Target="../media/image19.png"/><Relationship Id="rId8" Type="http://schemas.openxmlformats.org/officeDocument/2006/relationships/image" Target="../media/image20.jpg"/><Relationship Id="rId9" Type="http://schemas.openxmlformats.org/officeDocument/2006/relationships/image" Target="../media/image21.jpg"/><Relationship Id="rId10" Type="http://schemas.openxmlformats.org/officeDocument/2006/relationships/image" Target="../media/image22.jpg"/><Relationship Id="rId11" Type="http://schemas.openxmlformats.org/officeDocument/2006/relationships/image" Target="../media/image23.png"/><Relationship Id="rId12" Type="http://schemas.openxmlformats.org/officeDocument/2006/relationships/image" Target="../media/image24.jpg"/><Relationship Id="rId13" Type="http://schemas.openxmlformats.org/officeDocument/2006/relationships/image" Target="../media/image25.png"/><Relationship Id="rId14" Type="http://schemas.openxmlformats.org/officeDocument/2006/relationships/image" Target="../media/image26.jp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jp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30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mailto:kisz@hpi.de" TargetMode="External"/><Relationship Id="rId4" Type="http://schemas.openxmlformats.org/officeDocument/2006/relationships/hyperlink" Target="https://hpi.de/kisz" TargetMode="External"/><Relationship Id="rId5" Type="http://schemas.openxmlformats.org/officeDocument/2006/relationships/hyperlink" Target="https://github.com/aihpi/workshop-rag-basics" TargetMode="External"/><Relationship Id="rId6" Type="http://schemas.openxmlformats.org/officeDocument/2006/relationships/hyperlink" Target="https://github.com/aihpi/pilotproject-rag-template" TargetMode="Externa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44.pn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2048256"/>
            <a:ext cx="1371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spc="400">
                <a:solidFill>
                  <a:srgbClr val="DC640D"/>
                </a:solidFill>
                <a:latin typeface="Arial"/>
              </a:rPr>
              <a:t>[EVENT]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578608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900" b="1">
                <a:solidFill>
                  <a:srgbClr val="5A6065"/>
                </a:solidFill>
                <a:latin typeface="Arial"/>
              </a:rPr>
              <a:t>HANDS-ON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3758184"/>
            <a:ext cx="1371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50" b="0">
                <a:solidFill>
                  <a:srgbClr val="B1063A"/>
                </a:solidFill>
                <a:latin typeface="Arial"/>
              </a:rPr>
              <a:t>Build your own document Q&amp;A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7048" y="475488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17161C"/>
                </a:solidFill>
                <a:latin typeface="Arial"/>
              </a:rPr>
              <a:t>Felix Boelter  |  [Co-moderator]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5A6065"/>
                </a:solidFill>
                <a:latin typeface="Arial"/>
              </a:rPr>
              <a:t>AI Service Centre Berlin-Brandenburg  |  [Date]</a:t>
            </a:r>
          </a:p>
        </p:txBody>
      </p:sp>
      <p:pic>
        <p:nvPicPr>
          <p:cNvPr id="7" name="Picture 6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8" name="Picture 7" descr="logo-bmf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9" name="Picture 8" descr="hpi-tag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0" name="Picture 9" descr="hpi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PARTICIPANT LIST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237744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The list is going round now. Please sign in while everyone is still seated.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0704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60704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0704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22776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05656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22776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22776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84848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4848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84848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6675120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The printout stays with the workshop lead. Please hand it back at the end.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424160" y="2377440"/>
            <a:ext cx="7406640" cy="56692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0" y="265176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17161C"/>
                </a:solidFill>
                <a:latin typeface="Arial"/>
              </a:rPr>
              <a:t>START THE INSTALL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3200400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It downloads about 2 GB, so let it run while we talk.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343400"/>
            <a:ext cx="67665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git clone https://github.com/
    aihpi/workshop-rag-basics.git
cd workshop-rag-basics/workshop
uv sync</a:t>
            </a:r>
          </a:p>
        </p:txBody>
      </p:sp>
      <p:pic>
        <p:nvPicPr>
          <p:cNvPr id="27" name="Picture 26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0" y="6400800"/>
            <a:ext cx="1371600" cy="1371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344400" y="672084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Needs uv and Git, from the
workshop-getting-started guide.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AI SERVICE CENTRE
BERLIN-BRANDENBURG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Who we are and what you can use.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2807207" y="5321808"/>
            <a:ext cx="64739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AI SERVICE CENTRES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FOUR AI SERVICE CENTRES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qr-ki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514600"/>
            <a:ext cx="2606040" cy="2606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hpi.de/ki-servicezentrum</a:t>
            </a:r>
          </a:p>
        </p:txBody>
      </p:sp>
      <p:pic>
        <p:nvPicPr>
          <p:cNvPr id="9" name="Picture 8" descr="map-germ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691640"/>
            <a:ext cx="4764024" cy="6338509"/>
          </a:xfrm>
          <a:prstGeom prst="rect">
            <a:avLst/>
          </a:prstGeom>
        </p:spPr>
      </p:pic>
      <p:pic>
        <p:nvPicPr>
          <p:cNvPr id="10" name="Picture 9" descr="map-st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810512"/>
            <a:ext cx="4745736" cy="626748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031736" y="367588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77456" y="440740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03136" y="4700016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7306056" y="4462272"/>
            <a:ext cx="438912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44968" y="2560320"/>
            <a:ext cx="2148840" cy="1901952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893808" y="2560320"/>
            <a:ext cx="2350008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152376" y="2468879"/>
            <a:ext cx="182880" cy="182880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ogo-kissk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2148840"/>
            <a:ext cx="1234440" cy="35590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527280" y="21031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ABE3"/>
                </a:solidFill>
                <a:latin typeface="Arial"/>
              </a:rPr>
              <a:t>Göttingen | Kassel | Hannover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0" y="2514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Sensitive and critical infrastructure, medicine &amp; energy</a:t>
            </a:r>
          </a:p>
        </p:txBody>
      </p:sp>
      <p:sp>
        <p:nvSpPr>
          <p:cNvPr id="21" name="Oval 20"/>
          <p:cNvSpPr/>
          <p:nvPr/>
        </p:nvSpPr>
        <p:spPr>
          <a:xfrm>
            <a:off x="8677656" y="3867912"/>
            <a:ext cx="109728" cy="10972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732520" y="3922776"/>
            <a:ext cx="3511296" cy="0"/>
          </a:xfrm>
          <a:prstGeom prst="line">
            <a:avLst/>
          </a:prstGeom>
          <a:ln w="28575">
            <a:solidFill>
              <a:srgbClr val="DD6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2152376" y="3831336"/>
            <a:ext cx="182880" cy="182880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kisz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35640" y="3474720"/>
            <a:ext cx="1234440" cy="4388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527280" y="3429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DD6108"/>
                </a:solidFill>
                <a:latin typeface="Arial"/>
              </a:rPr>
              <a:t>Potsdam | Berlin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0" y="3840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Education and consulting, AI in business &amp; society</a:t>
            </a:r>
          </a:p>
        </p:txBody>
      </p:sp>
      <p:sp>
        <p:nvSpPr>
          <p:cNvPr id="27" name="Oval 26"/>
          <p:cNvSpPr/>
          <p:nvPr/>
        </p:nvSpPr>
        <p:spPr>
          <a:xfrm>
            <a:off x="5769864" y="450799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15584" y="474573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58384" y="505663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193792" y="515721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7024" y="5404104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897880" y="4617720"/>
            <a:ext cx="658368" cy="429768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556248" y="5047488"/>
            <a:ext cx="5687568" cy="0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2152376" y="4956048"/>
            <a:ext cx="182880" cy="182880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ogo-west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617720"/>
            <a:ext cx="1234440" cy="277447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0" y="4572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9358D"/>
                </a:solidFill>
                <a:latin typeface="Arial"/>
              </a:rPr>
              <a:t>Bonn | St. Augustin | Aachen | Jülich | Dortmund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27280" y="4983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AI hardware, consulting and training; multimodal and transferable models</a:t>
            </a:r>
          </a:p>
        </p:txBody>
      </p:sp>
      <p:sp>
        <p:nvSpPr>
          <p:cNvPr id="38" name="Oval 37"/>
          <p:cNvSpPr/>
          <p:nvPr/>
        </p:nvSpPr>
        <p:spPr>
          <a:xfrm>
            <a:off x="6318504" y="5650992"/>
            <a:ext cx="109728" cy="109728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6556248" y="5705856"/>
            <a:ext cx="2221992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78240" y="5705856"/>
            <a:ext cx="1097280" cy="512064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875520" y="6217920"/>
            <a:ext cx="2368296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2152376" y="6126480"/>
            <a:ext cx="182880" cy="182880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ogo-hessi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5852160"/>
            <a:ext cx="1234440" cy="43088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2527280" y="58064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8A6AF4"/>
                </a:solidFill>
                <a:latin typeface="Arial"/>
              </a:rPr>
              <a:t>Darmstadt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527280" y="621792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Explainability, generalisability and contextual adaptation</a:t>
            </a:r>
          </a:p>
        </p:txBody>
      </p:sp>
      <p:pic>
        <p:nvPicPr>
          <p:cNvPr id="46" name="Picture 45" descr="logo-cent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95544" y="8659368"/>
            <a:ext cx="4096512" cy="147804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3898880" y="8138160"/>
            <a:ext cx="4206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Goal: </a:t>
            </a:r>
            <a:r>
              <a:rPr sz="1800" b="1">
                <a:solidFill>
                  <a:srgbClr val="17161C"/>
                </a:solidFill>
                <a:latin typeface="Arial"/>
              </a:rPr>
              <a:t>lower the barriers to putting AI to work in society and business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EDUCATION</a:t>
            </a:r>
          </a:p>
        </p:txBody>
      </p:sp>
      <p:pic>
        <p:nvPicPr>
          <p:cNvPr id="4" name="Picture 3" descr="qr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94560"/>
            <a:ext cx="260604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0704" y="484632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Newsletter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Talks</a:t>
            </a:r>
          </a:p>
        </p:txBody>
      </p:sp>
      <p:pic>
        <p:nvPicPr>
          <p:cNvPr id="8" name="Picture 7" descr="qr-tal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292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tele-task.de/series/1463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228600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Guest talks on research and innovation</a:t>
            </a:r>
          </a:p>
        </p:txBody>
      </p:sp>
      <p:pic>
        <p:nvPicPr>
          <p:cNvPr id="11" name="Picture 10" descr="tile-talk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02920"/>
            <a:ext cx="2578608" cy="1450467"/>
          </a:xfrm>
          <a:prstGeom prst="rect">
            <a:avLst/>
          </a:prstGeom>
        </p:spPr>
      </p:pic>
      <p:pic>
        <p:nvPicPr>
          <p:cNvPr id="12" name="Picture 11" descr="tile-talk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502920"/>
            <a:ext cx="2578608" cy="1289304"/>
          </a:xfrm>
          <a:prstGeom prst="rect">
            <a:avLst/>
          </a:prstGeom>
        </p:spPr>
      </p:pic>
      <p:pic>
        <p:nvPicPr>
          <p:cNvPr id="13" name="Picture 12" descr="tile-talk-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0" y="502920"/>
            <a:ext cx="2578608" cy="128930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Work-
shops</a:t>
            </a:r>
          </a:p>
        </p:txBody>
      </p:sp>
      <p:pic>
        <p:nvPicPr>
          <p:cNvPr id="16" name="Picture 15" descr="qr-worksh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794760"/>
            <a:ext cx="1371600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aimaker.community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557784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Hands-on topics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For example: speech2summary, Docker for ML, semantic search</a:t>
            </a:r>
          </a:p>
        </p:txBody>
      </p:sp>
      <p:pic>
        <p:nvPicPr>
          <p:cNvPr id="19" name="Picture 18" descr="tile-workshop-1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794760"/>
            <a:ext cx="2578608" cy="1289304"/>
          </a:xfrm>
          <a:prstGeom prst="rect">
            <a:avLst/>
          </a:prstGeom>
        </p:spPr>
      </p:pic>
      <p:pic>
        <p:nvPicPr>
          <p:cNvPr id="20" name="Picture 19" descr="tile-workshop-2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0" y="3794760"/>
            <a:ext cx="2578608" cy="1450467"/>
          </a:xfrm>
          <a:prstGeom prst="rect">
            <a:avLst/>
          </a:prstGeom>
        </p:spPr>
      </p:pic>
      <p:pic>
        <p:nvPicPr>
          <p:cNvPr id="21" name="Picture 20" descr="tile-workshop-3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0" y="3794760"/>
            <a:ext cx="2578608" cy="128930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MOOCs</a:t>
            </a:r>
          </a:p>
        </p:txBody>
      </p:sp>
      <p:pic>
        <p:nvPicPr>
          <p:cNvPr id="24" name="Picture 23" descr="qr-mooc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0" y="708660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8503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open.hpi.de/channels/ai-service-center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4608" y="88696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ChatGPT: what does generative AI mean for society?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Profitable AI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Understanding and avoiding AI bias</a:t>
            </a:r>
          </a:p>
        </p:txBody>
      </p:sp>
      <p:pic>
        <p:nvPicPr>
          <p:cNvPr id="27" name="Picture 26" descr="tile-mooc-1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7086600"/>
            <a:ext cx="2578608" cy="1289304"/>
          </a:xfrm>
          <a:prstGeom prst="rect">
            <a:avLst/>
          </a:prstGeom>
        </p:spPr>
      </p:pic>
      <p:pic>
        <p:nvPicPr>
          <p:cNvPr id="28" name="Picture 27" descr="tile-mooc-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0" y="7086600"/>
            <a:ext cx="2578608" cy="1450467"/>
          </a:xfrm>
          <a:prstGeom prst="rect">
            <a:avLst/>
          </a:prstGeom>
        </p:spPr>
      </p:pic>
      <p:pic>
        <p:nvPicPr>
          <p:cNvPr id="29" name="Picture 28" descr="tile-mooc-3.jpe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544800" y="7086600"/>
            <a:ext cx="2578608" cy="12893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INFRASTRUCTURE</a:t>
            </a:r>
          </a:p>
        </p:txBody>
      </p:sp>
      <p:pic>
        <p:nvPicPr>
          <p:cNvPr id="4" name="Picture 3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5" name="Picture 4" descr="qr-a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14600"/>
            <a:ext cx="2606040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aisc.hpi.de · request access</a:t>
            </a:r>
          </a:p>
        </p:txBody>
      </p:sp>
      <p:pic>
        <p:nvPicPr>
          <p:cNvPr id="7" name="Picture 6" descr="compute-banner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828800"/>
            <a:ext cx="6400800" cy="3600450"/>
          </a:xfrm>
          <a:prstGeom prst="rect">
            <a:avLst/>
          </a:prstGeom>
        </p:spPr>
      </p:pic>
      <p:pic>
        <p:nvPicPr>
          <p:cNvPr id="8" name="Picture 7" descr="compute-racks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5440680"/>
            <a:ext cx="6400800" cy="4754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21440" y="178308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Access </a:t>
            </a:r>
            <a:r>
              <a:rPr sz="1700" b="0">
                <a:solidFill>
                  <a:srgbClr val="DD6108"/>
                </a:solidFill>
                <a:latin typeface="Arial"/>
              </a:rPr>
              <a:t>free of charge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No production use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Data should be </a:t>
            </a:r>
            <a:r>
              <a:rPr sz="1700" b="0">
                <a:solidFill>
                  <a:srgbClr val="DD6108"/>
                </a:solidFill>
                <a:latin typeface="Arial"/>
              </a:rPr>
              <a:t>anonymised or synthetic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No </a:t>
            </a:r>
            <a:r>
              <a:rPr sz="1700" b="0">
                <a:solidFill>
                  <a:srgbClr val="DD6108"/>
                </a:solidFill>
                <a:latin typeface="Arial"/>
              </a:rPr>
              <a:t>hosting of products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Reporting &amp; publication</a:t>
            </a:r>
            <a:r>
              <a:rPr sz="1700" b="0">
                <a:solidFill>
                  <a:srgbClr val="17161C"/>
                </a:solidFill>
                <a:latin typeface="Arial"/>
              </a:rPr>
              <a:t> by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Existing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New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Usage rights granted for research and teaching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64 NVIDIA H100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Inference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 NVIDIA A30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ARM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Ampere Altra Max M128-30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2× NVIDIA L40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GPU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AMD Epyc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8× NVIDIA L40S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Edge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ARMv8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NVIDIA Jetson AGX modules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Neuromorphic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288 SpiNNaker2 chips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Storage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1.5 PB NVRAM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Network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400 Gb/s InfiniBand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200 Gb/s Ethernet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CONSULTING</a:t>
            </a:r>
          </a:p>
        </p:txBody>
      </p:sp>
      <p:pic>
        <p:nvPicPr>
          <p:cNvPr id="4" name="Picture 3" descr="qr-office-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31720"/>
            <a:ext cx="2697480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0704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6065"/>
                </a:solidFill>
                <a:latin typeface="Arial"/>
              </a:rPr>
              <a:t>Book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11680"/>
            <a:ext cx="7132320" cy="804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B1063A"/>
                </a:solidFill>
                <a:latin typeface="Arial"/>
              </a:rPr>
              <a:t>AI office hours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infrastructure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models &amp; frameworks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use cases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DD6108"/>
                </a:solidFill>
                <a:latin typeface="Arial"/>
              </a:rPr>
              <a:t>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Co-developing a prototype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Applications every three months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Selection criteria such as AI maturity and public benefit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Results are published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F6A800"/>
                </a:solidFill>
                <a:latin typeface="Arial"/>
              </a:rPr>
              <a:t>Collaborations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Jointly organised network meetings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17161C"/>
                </a:solidFill>
                <a:latin typeface="Arial"/>
              </a:rPr>
              <a:t>Past 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maths problems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plain language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upcycling ideas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Reducing food waste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Dating documents by handwriting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pic>
        <p:nvPicPr>
          <p:cNvPr id="7" name="Picture 6" descr="consulti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480" y="274320"/>
            <a:ext cx="6035040" cy="4526280"/>
          </a:xfrm>
          <a:prstGeom prst="rect">
            <a:avLst/>
          </a:prstGeom>
        </p:spPr>
      </p:pic>
      <p:pic>
        <p:nvPicPr>
          <p:cNvPr id="8" name="Picture 7" descr="qr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7559" y="6400800"/>
            <a:ext cx="2697480" cy="2697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67559" y="91440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Apply now!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BY 1:30 YOU HAVE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60704" y="2103120"/>
            <a:ext cx="502920" cy="50292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03120"/>
            <a:ext cx="1508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7161C"/>
                </a:solidFill>
                <a:latin typeface="Arial"/>
              </a:rPr>
              <a:t>A chatbot on your laptop that answers from your own PDF.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3246120"/>
            <a:ext cx="502920" cy="50292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246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46120"/>
            <a:ext cx="1508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7161C"/>
                </a:solidFill>
                <a:latin typeface="Arial"/>
              </a:rPr>
              <a:t>Every claim links to the page it came from, with a score that says how well it is backed.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4389120"/>
            <a:ext cx="502920" cy="50292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389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389120"/>
            <a:ext cx="15087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7161C"/>
                </a:solidFill>
                <a:latin typeface="Arial"/>
              </a:rPr>
              <a:t>A list of what to check before you trust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AGENDA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6903720"/>
            <a:ext cx="3011424" cy="91440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1" y="6903720"/>
            <a:ext cx="282854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Welcome · AISC · setup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644652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7847" y="6903720"/>
            <a:ext cx="229209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7576" y="6903720"/>
            <a:ext cx="210921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1 ·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7847" y="6446520"/>
            <a:ext cx="2292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6903720"/>
            <a:ext cx="229209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6903720"/>
            <a:ext cx="210921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2 · Documents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6446520"/>
            <a:ext cx="2292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93480" y="6903720"/>
            <a:ext cx="229209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03208" y="6903720"/>
            <a:ext cx="210921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3 ·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93480" y="6446520"/>
            <a:ext cx="22920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131295" y="6903720"/>
            <a:ext cx="2831592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41023" y="6903720"/>
            <a:ext cx="26487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4 · RAG + 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1295" y="6446520"/>
            <a:ext cx="2831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0:56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008608" y="6903720"/>
            <a:ext cx="3191256" cy="91440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18336" y="6903720"/>
            <a:ext cx="300837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7161C"/>
                </a:solidFill>
                <a:latin typeface="Arial"/>
              </a:rPr>
              <a:t>5 · Your PDF · transfer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008608" y="644652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1:12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809244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Every notebook block: a minute of slides, then the notebook, then a quick check.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ARCHITECTURE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07008" y="2011680"/>
            <a:ext cx="3703320" cy="5577840"/>
          </a:xfrm>
          <a:prstGeom prst="rect">
            <a:avLst/>
          </a:prstGeom>
          <a:solidFill>
            <a:srgbClr val="EAF4F8"/>
          </a:solidFill>
          <a:ln w="19050">
            <a:solidFill>
              <a:srgbClr val="9CCB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47488" y="2011680"/>
            <a:ext cx="8805672" cy="5577840"/>
          </a:xfrm>
          <a:prstGeom prst="rect">
            <a:avLst/>
          </a:prstGeom>
          <a:solidFill>
            <a:srgbClr val="FDF1E9"/>
          </a:solidFill>
          <a:ln w="19050">
            <a:solidFill>
              <a:srgbClr val="F2B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once · notebooks 2 + 3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every question · notebooks 3 + 4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3072384"/>
            <a:ext cx="28803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75688" y="3273552"/>
            <a:ext cx="251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Documents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5688" y="3712463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PDFs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4617720"/>
            <a:ext cx="49377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75688" y="48188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Embedding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5257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Text in, vector out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6144768"/>
            <a:ext cx="4937760" cy="1179576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75688" y="6345936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Vector 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5688" y="6784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Index for similarity search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25512" y="3072384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273552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712463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asked by the user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25512" y="6144768"/>
            <a:ext cx="2898648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6345936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Relevant passages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784848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go into the prompt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54512" y="4617720"/>
            <a:ext cx="2862072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01400" y="4818888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5257800"/>
            <a:ext cx="2496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language model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346936" y="4617720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593824" y="4818888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593824" y="5257800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with sources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64408" y="4251960"/>
            <a:ext cx="0" cy="320040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64408" y="5797296"/>
            <a:ext cx="0" cy="301752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6858000" y="4361688"/>
            <a:ext cx="777240" cy="77724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22976" y="5797296"/>
            <a:ext cx="0" cy="301752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766560" y="6729984"/>
            <a:ext cx="713232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87000" y="436168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0287000" y="545896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844016" y="5212080"/>
            <a:ext cx="457200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60704" y="809244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7A9E"/>
                </a:solidFill>
                <a:latin typeface="Arial"/>
              </a:rPr>
              <a:t>Once, ahead of time, </a:t>
            </a:r>
            <a:r>
              <a:rPr sz="1700" b="0">
                <a:solidFill>
                  <a:srgbClr val="17161C"/>
                </a:solidFill>
                <a:latin typeface="Arial"/>
              </a:rPr>
              <a:t>the documents are read and cut into chunks. The embedding model turns every chunk into a vector, a list of numbers that captures its meaning. The vectors go into the vector database.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809244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DD6108"/>
                </a:solidFill>
                <a:latin typeface="Arial"/>
              </a:rPr>
              <a:t>For every question, </a:t>
            </a:r>
            <a:r>
              <a:rPr sz="1700" b="0">
                <a:solidFill>
                  <a:srgbClr val="17161C"/>
                </a:solidFill>
                <a:latin typeface="Arial"/>
              </a:rPr>
              <a:t>the same model turns the question into a vector and searches the same database. The closest chunks go to the language model with the question, and it answers with sources.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SETUP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47672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Install (started on slide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37744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git clone https://github.com/aihpi/workshop-rag-basics.git
cd workshop-rag-basics/workshop
uv sync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3648456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64845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3016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Add the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059936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cp .env.example .env    # then paste the key from the whiteboard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4837176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837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81888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Check, and fetch Docling's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248656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python check_setup.py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0704" y="6025896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60258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600760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6437376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jupyter 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" y="7397496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Done when check_setup.py prints </a:t>
            </a:r>
            <a:r>
              <a:rPr sz="1800" b="1">
                <a:solidFill>
                  <a:srgbClr val="17161C"/>
                </a:solidFill>
                <a:latin typeface="Arial"/>
              </a:rPr>
              <a:t>You're ready for the workshop.</a:t>
            </a:r>
          </a:p>
        </p:txBody>
      </p:sp>
      <p:pic>
        <p:nvPicPr>
          <p:cNvPr id="24" name="Picture 23" descr="live-re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2011680"/>
            <a:ext cx="6949440" cy="123078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972800" y="393192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Cells that start with %%writefile app.py write the chatbot. Chainlit notices the change and reloads it in your browser at localhost:8000.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CHAT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35508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gemma-4-31b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70408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EMBEDDING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740664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octen-embedding-8b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8092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RUNS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84582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our own infrastructure in Potsdam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TALKING TO AN LLM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1 · 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Connect to the model through the gateway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about a detail from one of our papers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Build a chatbot that remembers and streams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Personality: change the system prompt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stopwatch, you'll want it in notebook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70408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0" y="2103120"/>
            <a:ext cx="7589520" cy="278892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19" y="402336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The model answers. Is it right?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WAS IT RIGHT?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Hands up.
Remember your letter.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0704" y="2286000"/>
            <a:ext cx="15636239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606040"/>
            <a:ext cx="156362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63240"/>
            <a:ext cx="15544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The model answered the Kage question. Was it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57200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   right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B   wrong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C   partly right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D   can't tell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HALF RIGHT, AND YOU CAN'T
TELL WHICH HALF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No access to
your documents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17161C"/>
                </a:solidFill>
                <a:latin typeface="Arial"/>
              </a:rPr>
              <a:t>Language models are trained mostly on public data. Your lab reports and paywalled papers are unknown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Similar instead
of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17161C"/>
                </a:solidFill>
                <a:latin typeface="Arial"/>
              </a:rPr>
              <a:t>When the right information is missing, the model falls back on related material: the rules for no-parking zones answer a question about no-stopping zones.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60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RAG decides what
the answer is built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17161C"/>
                </a:solidFill>
                <a:latin typeface="Arial"/>
              </a:rPr>
              <a:t>Retrieval-augmented generation sets which documents an answer may use, and cites the page.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READING DOCUMENTS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2 · 7 MIN</a:t>
            </a:r>
          </a:p>
        </p:txBody>
      </p:sp>
      <p:pic>
        <p:nvPicPr>
          <p:cNvPr id="8" name="Picture 7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7863840" cy="32989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566928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A PDF stores where to draw each letter. Docling finds headings, paragraphs and tables, and writes Markdown.</a:t>
            </a:r>
          </a:p>
        </p:txBody>
      </p:sp>
      <p:pic>
        <p:nvPicPr>
          <p:cNvPr id="10" name="Picture 9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2240280"/>
            <a:ext cx="786384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92640" y="5669280"/>
            <a:ext cx="7863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We cut chunks of 1000 characters; a new one starts every 800, so neighbours share 200.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7360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0704" y="7818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7818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5064" y="7845552"/>
            <a:ext cx="1495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are the cuts? Try 300 and 3000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845820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84582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8485632"/>
            <a:ext cx="1495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only the tables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DID YOU FIND?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Vote by show of hands.
Answers on the next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070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572000"/>
            <a:ext cx="7452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   They were dropped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B   They became loose lines of numbers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C   They stayed tables, in Markdown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5314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14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144" y="4572000"/>
            <a:ext cx="7452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A   Fewer chunks, and tables stay whole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B   More chunks, and more of them cut through a table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100" b="0">
                <a:solidFill>
                  <a:srgbClr val="FFFFFF"/>
                </a:solidFill>
                <a:latin typeface="Arial"/>
              </a:rPr>
              <a:t>C   Nothing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WE FOUND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4526280"/>
            <a:ext cx="75438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5024" y="4709160"/>
            <a:ext cx="6995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C</a:t>
            </a:r>
            <a:r>
              <a:rPr sz="1900" b="1">
                <a:solidFill>
                  <a:srgbClr val="17161C"/>
                </a:solidFill>
                <a:latin typeface="Arial"/>
              </a:rPr>
              <a:t>   They stayed tables, in Markdown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5760720"/>
            <a:ext cx="699515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All 5 tables in the three papers came through with their rows and columns, searchable like any other 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53144" y="2286000"/>
            <a:ext cx="7543800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3144" y="2606040"/>
            <a:ext cx="7543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53144" y="3063240"/>
            <a:ext cx="7452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53144" y="4526280"/>
            <a:ext cx="754380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27464" y="4709160"/>
            <a:ext cx="6995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900" b="1">
                <a:solidFill>
                  <a:srgbClr val="17161C"/>
                </a:solidFill>
                <a:latin typeface="Arial"/>
              </a:rPr>
              <a:t>   More chunks, and more of them cut through a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7464" y="5760720"/>
            <a:ext cx="699515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628 instead of 197 chunks, and 17 instead of 5 end in the middle of a table row. At 3000: 69 chunks, none.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8229600"/>
            <a:ext cx="161848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8229600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8229600"/>
            <a:ext cx="13898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We have good chunks. How do we find the right ones for a question?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3 · 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Embed sentences and compare how similar they are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Store all chunks in Qdrant, in memory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the bot into a search engine, no LLM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Fewer, better results: pick a score cutoff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ask in German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70408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0" y="2103120"/>
            <a:ext cx="7589520" cy="6071616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384279" y="2880360"/>
            <a:ext cx="612648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521440" y="2990088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lifetime-encoded beads loaded with?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61319" y="3675887"/>
            <a:ext cx="6949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19" y="3813048"/>
            <a:ext cx="6492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2  (score 0.73)
› … loaded with different organic fluorophores …
Kage_2018_SciReports.pdf, p. 3  (score 0.64)
› Table 1. Lifetime codes and respective luminophores 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95959" y="6236207"/>
            <a:ext cx="411480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33120" y="634593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is the capital of France?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7031736"/>
            <a:ext cx="6949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716889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6  (score 0.17) 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WHY DID FRANCE GET A HIT?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embed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920240"/>
            <a:ext cx="6766560" cy="4016281"/>
          </a:xfrm>
          <a:prstGeom prst="rect">
            <a:avLst/>
          </a:prstGeom>
        </p:spPr>
      </p:pic>
      <p:pic>
        <p:nvPicPr>
          <p:cNvPr id="8" name="Picture 7" descr="q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920240"/>
            <a:ext cx="9692640" cy="37868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26364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A9E"/>
                </a:solidFill>
                <a:latin typeface="Arial"/>
              </a:rPr>
              <a:t>1   </a:t>
            </a:r>
            <a:r>
              <a:rPr sz="2000" b="0">
                <a:solidFill>
                  <a:srgbClr val="17161C"/>
                </a:solidFill>
                <a:latin typeface="Arial"/>
              </a:rPr>
              <a:t>An embedding model turns text into a list of numbers, 4096 with ours. Similar meaning, similar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717804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A9E"/>
                </a:solidFill>
                <a:latin typeface="Arial"/>
              </a:rPr>
              <a:t>2   </a:t>
            </a:r>
            <a:r>
              <a:rPr sz="2000" b="0">
                <a:solidFill>
                  <a:srgbClr val="17161C"/>
                </a:solidFill>
                <a:latin typeface="Arial"/>
              </a:rPr>
              <a:t>Search returns the closest chunks, however far away they 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809244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A9E"/>
                </a:solidFill>
                <a:latin typeface="Arial"/>
              </a:rPr>
              <a:t>3   </a:t>
            </a:r>
            <a:r>
              <a:rPr sz="2000" b="0">
                <a:solidFill>
                  <a:srgbClr val="17161C"/>
                </a:solidFill>
                <a:latin typeface="Arial"/>
              </a:rPr>
              <a:t>Qdrant stores one point per chunk: the vector, and a payload with text, file and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RETRIEVAL-AUGMENTED GENERATION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4 · 11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33172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291839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4251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2578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Every [n] leads to a chunk, and every chunk remembers its file and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6537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0704" y="69951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6995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5064" y="7022592"/>
            <a:ext cx="7452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How much context? Score limit 2 and limit 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7653528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76535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5064" y="7680960"/>
            <a:ext cx="7452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strict or not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0704" y="8311896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831189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5064" y="8339327"/>
            <a:ext cx="7452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show the evidence; follow-up questions</a:t>
            </a:r>
          </a:p>
        </p:txBody>
      </p:sp>
      <p:pic>
        <p:nvPicPr>
          <p:cNvPr id="22" name="Picture 21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1828800"/>
            <a:ext cx="8229600" cy="30413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601200" y="5212080"/>
            <a:ext cx="8229600" cy="3767328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544068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375135" y="5989320"/>
            <a:ext cx="6135624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512296" y="6099048"/>
            <a:ext cx="58613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beads in Kage et al. loaded with?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21240" y="6784848"/>
            <a:ext cx="758952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0" y="6922008"/>
            <a:ext cx="71323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PMMA beads stained with organic dyes from PolyAn GmbH [1], and melamine beads loaded with CdSe/CdS/ZnS quantum dots [1], [2].
Sources:  Kage_2018_SciReports, p.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WHICH HALF?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0704" y="2103120"/>
            <a:ext cx="9509760" cy="5394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200">
                <a:solidFill>
                  <a:srgbClr val="8B9094"/>
                </a:solidFill>
                <a:latin typeface="Arial"/>
              </a:rPr>
              <a:t>THE NOTEBOOK 1 ANSWER, JUDGED IN NOTEBOOK 4 (ONE RUN)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88920"/>
            <a:ext cx="896112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1">
                <a:solidFill>
                  <a:srgbClr val="2F9E62"/>
                </a:solidFill>
                <a:latin typeface="Arial"/>
              </a:rPr>
              <a:t>✓  </a:t>
            </a:r>
            <a:r>
              <a:rPr sz="1800" b="0">
                <a:solidFill>
                  <a:srgbClr val="17161C"/>
                </a:solidFill>
                <a:latin typeface="Arial"/>
              </a:rPr>
              <a:t>The beads were loaded with quantum dots (QDs).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Three different types of quantum dots, to create distinct lifetime signatures.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One type had a short lifetime of about 10 ns.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One type had a medium lifetime of about 25 ns.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One type had a long lifetime of about 50 ns.</a:t>
            </a:r>
          </a:p>
          <a:p>
            <a:pPr algn="l">
              <a:lnSpc>
                <a:spcPct val="14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✗  </a:t>
            </a:r>
            <a:r>
              <a:rPr sz="1800" b="0">
                <a:solidFill>
                  <a:srgbClr val="17161C"/>
                </a:solidFill>
                <a:latin typeface="Arial"/>
              </a:rPr>
              <a:t>The beads were used as fiducial markers to correct for drift during imaging.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583680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065"/>
                </a:solidFill>
                <a:latin typeface="Courier New"/>
              </a:rPr>
              <a:t>faithfulness  </a:t>
            </a:r>
            <a:r>
              <a:rPr sz="2600" b="1">
                <a:solidFill>
                  <a:srgbClr val="17161C"/>
                </a:solidFill>
                <a:latin typeface="Courier New"/>
              </a:rPr>
              <a:t>0.17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21031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Which part of the system knows the page number of a chunk?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4023360"/>
            <a:ext cx="6583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   the LLM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   the payload in Qdrant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C   the embedding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PUTTING IT TOGETHER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5 · 6 MIN</a:t>
            </a:r>
          </a:p>
        </p:txBody>
      </p:sp>
      <p:pic>
        <p:nvPicPr>
          <p:cNvPr id="8" name="Picture 7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9418320" cy="33263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247120" y="2240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41480" y="2724912"/>
            <a:ext cx="59893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Your own document: attach a PDF, ask, check the page and the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247120" y="3840480"/>
            <a:ext cx="384048" cy="384048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0" y="3840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41480" y="3867912"/>
            <a:ext cx="59893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Bonus: chat with this document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6035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PIECE · NOTEBOOK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Read a PDF with Docling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682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978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266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Cut into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9886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Turn text into vectors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4498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67944" y="6492240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50824" y="6492240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Store and search in Qdrant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514064" y="6492240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4358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Answer from the chunks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0682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978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1266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Cite the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590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886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8174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Score the answer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4498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267944" y="7360919"/>
            <a:ext cx="388620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450824" y="7360919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Your own PDF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4064" y="7360919"/>
            <a:ext cx="45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845820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1063A"/>
                </a:solidFill>
                <a:latin typeface="Arial"/>
              </a:rPr>
              <a:t>Your PDF goes to the AISC gateway in Potsdam. </a:t>
            </a:r>
            <a:r>
              <a:rPr sz="1800" b="0">
                <a:solidFill>
                  <a:srgbClr val="B1063A"/>
                </a:solidFill>
                <a:latin typeface="Arial"/>
              </a:rPr>
              <a:t>Test or public documents only.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YOUR COLLECTION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2194560"/>
            <a:ext cx="7863840" cy="329184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514600"/>
            <a:ext cx="7132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QUESTION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6324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17161C"/>
                </a:solidFill>
                <a:latin typeface="Arial"/>
              </a:rPr>
              <a:t>Which collection would you point this at?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90304" y="2194560"/>
            <a:ext cx="7863840" cy="329184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2514600"/>
            <a:ext cx="7132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QUESTION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306324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17161C"/>
                </a:solidFill>
                <a:latin typeface="Arial"/>
              </a:rPr>
              <a:t>What do you expect to break first, and 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6080760"/>
            <a:ext cx="1618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5A6065"/>
                </a:solidFill>
                <a:latin typeface="Arial"/>
              </a:rPr>
              <a:t>One sentence 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7406640"/>
            <a:ext cx="161848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0D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7406640"/>
            <a:ext cx="27432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OFTEN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7406640"/>
            <a:ext cx="138988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Scanned PDFs  ·  tables  ·  questions across several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WHERE TO TAKE THIS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60704" y="1965960"/>
            <a:ext cx="16184880" cy="74980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965960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965960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The template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2752344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752344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Fixed 1000-character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752344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Structure-aware chunkers, chosen per data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0704" y="3538728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538728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in memory, rebuilt on every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538728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server, ingested once, updated when files change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4325112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325112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Vector search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325112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Hybrid search: vectors plus keyword matching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0704" y="5111496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5111496"/>
            <a:ext cx="621792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Faithfulness, one answer at a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5111496"/>
            <a:ext cx="92354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An evaluation app that compares setups</a:t>
            </a:r>
          </a:p>
        </p:txBody>
      </p:sp>
      <p:pic>
        <p:nvPicPr>
          <p:cNvPr id="22" name="Picture 21" descr="qr-temp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6263640"/>
            <a:ext cx="1737360" cy="1737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026663" y="64008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The template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6663" y="69037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aihpi/pilotproject-rag-template on GitHub</a:t>
            </a:r>
          </a:p>
        </p:txBody>
      </p:sp>
      <p:pic>
        <p:nvPicPr>
          <p:cNvPr id="25" name="Picture 24" descr="qr-office-hou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6263640"/>
            <a:ext cx="1737360" cy="1737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513064" y="64008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Office hours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13064" y="69037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Stuck on your own collection? Book a slot.</a:t>
            </a:r>
          </a:p>
        </p:txBody>
      </p:sp>
      <p:pic>
        <p:nvPicPr>
          <p:cNvPr id="28" name="Picture 27" descr="qr-app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33504" y="6263640"/>
            <a:ext cx="1737360" cy="1737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999464" y="64008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Pilot projects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9464" y="69037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Arial"/>
              </a:rPr>
              <a:t>Build it with us; applications every three months.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691640"/>
            <a:ext cx="1234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5A6065"/>
                </a:solidFill>
                <a:latin typeface="Arial"/>
              </a:rPr>
              <a:t>YOUR FEEDBACK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8346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We shape our next workshops around your answers. Two minutes is enough.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7048" y="416052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544568"/>
            <a:ext cx="2670048" cy="268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512064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3"/>
              </a:rPr>
              <a:t>kisz@hpi.de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4"/>
              </a:rPr>
              <a:t>hpi.de/kisz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Felix Boelter  |  [Co-moderator]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7048" y="7589520"/>
            <a:ext cx="6766560" cy="18288"/>
          </a:xfrm>
          <a:prstGeom prst="rect">
            <a:avLst/>
          </a:prstGeom>
          <a:solidFill>
            <a:srgbClr val="D0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7772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B1063A"/>
                </a:solidFill>
                <a:latin typeface="Arial"/>
              </a:rPr>
              <a:t>KEEP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8183879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5"/>
              </a:rPr>
              <a:t>github.com/aihpi/workshop-rag-basics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this workshop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6"/>
              </a:rPr>
              <a:t>github.com/aihpi/pilotproject-rag-template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template</a:t>
            </a:r>
          </a:p>
        </p:txBody>
      </p:sp>
      <p:pic>
        <p:nvPicPr>
          <p:cNvPr id="10" name="Picture 9" descr="logo-kis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11" name="Picture 10" descr="logo-bmft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12" name="Picture 11" descr="hpi-tag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3" name="Picture 12" descr="hpi-build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Background for questions. Not part of the 90 minutes.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55063" y="5321808"/>
            <a:ext cx="416966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RAG IN PRACTICE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screenshot-sen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11680"/>
            <a:ext cx="529285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070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SENTRA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Research Services of the German Bundestag: semantic search across expert reports, an AI summary, every statement traced to its report.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github.com/aihpi/pilotproject-sentra</a:t>
            </a:r>
          </a:p>
        </p:txBody>
      </p:sp>
      <p:pic>
        <p:nvPicPr>
          <p:cNvPr id="11" name="Picture 10" descr="screenshot-grundschutz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11680"/>
            <a:ext cx="7955279" cy="41681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1034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GrundschutzKI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034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IT baseline protection: questions in plain language, a short answer with a jump link, the BSI original open next to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034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github.com/aihpi/pilotprojekt-GrundschutzKI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8961120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Semantic search  ·  an AI summary  ·  sources for transparency.  </a:t>
            </a:r>
            <a:r>
              <a:rPr sz="1900" b="0">
                <a:solidFill>
                  <a:srgbClr val="5A6065"/>
                </a:solidFill>
                <a:latin typeface="Arial"/>
              </a:rPr>
              <a:t>Today you build the same thing, small.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FROM DOCUMENT TO CHUNKS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1 · DOCLING READS THE PAGE</a:t>
            </a:r>
          </a:p>
        </p:txBody>
      </p:sp>
      <p:pic>
        <p:nvPicPr>
          <p:cNvPr id="8" name="Picture 7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86000"/>
            <a:ext cx="7863840" cy="32989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57607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 PDF only stores where to draw each letter. Docling finds headings, paragraphs, tables and figures, and writes Markdown.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2 · CUT INTO CHUNKS</a:t>
            </a:r>
          </a:p>
        </p:txBody>
      </p:sp>
      <p:pic>
        <p:nvPicPr>
          <p:cNvPr id="11" name="Picture 10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286000"/>
            <a:ext cx="7863840" cy="274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0" y="5760720"/>
            <a:ext cx="7863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Our notebook: </a:t>
            </a:r>
            <a:r>
              <a:rPr sz="1800" b="0">
                <a:solidFill>
                  <a:srgbClr val="17161C"/>
                </a:solidFill>
                <a:latin typeface="Arial"/>
              </a:rPr>
              <a:t>every 1000 characters, with 200 overlap. Simple, the same for every document, but it may cut through a table.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GrundschutzKI: </a:t>
            </a:r>
            <a:r>
              <a:rPr sz="1800" b="0">
                <a:solidFill>
                  <a:srgbClr val="17161C"/>
                </a:solidFill>
                <a:latin typeface="Arial"/>
              </a:rPr>
              <a:t>at every heading, because the BSI standards are clearly structured. A chunk keeps its title. Docling ships several such chunkers.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PROMPT AND CITATIONS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7" name="Picture 6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828800"/>
            <a:ext cx="10424160" cy="3852407"/>
          </a:xfrm>
          <a:prstGeom prst="rect">
            <a:avLst/>
          </a:prstGeom>
        </p:spPr>
      </p:pic>
      <p:pic>
        <p:nvPicPr>
          <p:cNvPr id="8" name="Picture 7" descr="c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943600"/>
            <a:ext cx="8503920" cy="24661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252960" y="2103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0" y="3246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4389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630936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Every [n] leads back to a chunk, and every chunk remembers its file and page. That is all a citation 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IS THE ANSWER ANY GOOD?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828800"/>
            <a:ext cx="1609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You scored faithfulness in notebook 4. Changed the chunk size or the number of chunks? Measure whether it helped. Neither score needs a hand-written correct answer.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64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Faithfulness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Is every claim backed by the retrieved chunks?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64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9343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supported claims ÷ all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splits the answer into claims and checks each one against the chunks. 0.5 means half the claims have no source.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903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60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Relevance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Does the answer address the question?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560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38944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similarity(questions from the answer, real question)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60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writes the questions this answer would fit; their embeddings are compared with the question that was asked.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8001000"/>
            <a:ext cx="16093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In the template: </a:t>
            </a:r>
            <a:r>
              <a:rPr sz="1800" b="0">
                <a:solidFill>
                  <a:srgbClr val="17161C"/>
                </a:solidFill>
                <a:latin typeface="Arial"/>
              </a:rPr>
              <a:t>both scores for every answer, a badge in the chat, and an evaluation app that compares configurations. Built on Ragas.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