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17 minutes with the AI Service Centre and the install. 90 minutes, mostly in the notebooks.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tells us which half was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 chunk numbers are measured on the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Same question as notebook 1. Let them click a source. Strict-or-not is a bonus today; it comes back in the transfer 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most of you would have relied on it. The ✗ lines are what nobody could see; one claim (quantum dots) was right, and the paper box shows the real values. You only know once you check the source, and RAG makes that one click. Their own run will show different claims and a different score. Then the question: B, written at ingestion from Docling's page numbers (notebook 3, slide 18). Ask: do we see how far we've 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above 12 people, tables of four, one sentence per table. Show the OFTEN line only after the round. Close the loop with the whiteboard list from slide 8. Ask: can you repeat it on your own?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up while questions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One method of many: fixed size with overlap is what the notebook does.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[EVENT]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[Co-moderator]</a:t>
            </a:r>
          </a:p>
          <a:p>
            <a:pPr algn="l">
              <a:lnSpc>
                <a:spcPct val="115000"/>
              </a:lnSpc>
            </a:pPr>
            <a:r>
              <a:rPr sz="2250" b="0">
                <a:solidFill>
                  <a:srgbClr val="5A6065"/>
                </a:solidFill>
                <a:latin typeface="Arial"/>
              </a:rPr>
              <a:t>AI Service Centre Berlin-Brandenburg  |  [Date]</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700" b="0">
                <a:solidFill>
                  <a:srgbClr val="17161C"/>
                </a:solidFill>
                <a:latin typeface="Courier New"/>
              </a:rPr>
              <a:t>git clone https://github.com/
    aihpi/workshop-rag-basics.git
cd workshop-rag-basics/workshop
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
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
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10835640"/>
            <a:ext cx="4572000" cy="7399724392800"/>
          </a:xfrm>
          <a:custGeom>
            <a:avLst/>
            <a:gdLst/>
            <a:ahLst/>
            <a:cxnLst/>
            <a:rect l="l" t="t" r="r" b="b"/>
            <a:pathLst>
              <a:path w="5" h="8092437">
                <a:moveTo>
                  <a:pt x="0" y="8092437"/>
                </a:moveTo>
                <a:lnTo>
                  <a:pt x="5" y="0"/>
                </a:lnTo>
                <a:lnTo>
                  <a:pt x="0" y="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
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1:30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011424"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2828544"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011424"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117847"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7576"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117847"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0:17</a:t>
            </a:r>
          </a:p>
        </p:txBody>
      </p:sp>
      <p:sp>
        <p:nvSpPr>
          <p:cNvPr id="22" name="Rectangle 21"/>
          <p:cNvSpPr/>
          <p:nvPr/>
        </p:nvSpPr>
        <p:spPr>
          <a:xfrm>
            <a:off x="6455664"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0:30</a:t>
            </a:r>
          </a:p>
        </p:txBody>
      </p:sp>
      <p:sp>
        <p:nvSpPr>
          <p:cNvPr id="25" name="Rectangle 24"/>
          <p:cNvSpPr/>
          <p:nvPr/>
        </p:nvSpPr>
        <p:spPr>
          <a:xfrm>
            <a:off x="8793480"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03208"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793480"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0:43</a:t>
            </a:r>
          </a:p>
        </p:txBody>
      </p:sp>
      <p:sp>
        <p:nvSpPr>
          <p:cNvPr id="28" name="Rectangle 27"/>
          <p:cNvSpPr/>
          <p:nvPr/>
        </p:nvSpPr>
        <p:spPr>
          <a:xfrm>
            <a:off x="11131295" y="6903720"/>
            <a:ext cx="283159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1023" y="6903720"/>
            <a:ext cx="264871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0" name="TextBox 29"/>
          <p:cNvSpPr txBox="1"/>
          <p:nvPr/>
        </p:nvSpPr>
        <p:spPr>
          <a:xfrm>
            <a:off x="11131295" y="6446520"/>
            <a:ext cx="283159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0:56</a:t>
            </a:r>
          </a:p>
        </p:txBody>
      </p:sp>
      <p:sp>
        <p:nvSpPr>
          <p:cNvPr id="31" name="Rectangle 30"/>
          <p:cNvSpPr/>
          <p:nvPr/>
        </p:nvSpPr>
        <p:spPr>
          <a:xfrm>
            <a:off x="14008608" y="6903720"/>
            <a:ext cx="319125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18336" y="6903720"/>
            <a:ext cx="300837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3" name="TextBox 32"/>
          <p:cNvSpPr txBox="1"/>
          <p:nvPr/>
        </p:nvSpPr>
        <p:spPr>
          <a:xfrm>
            <a:off x="14008608" y="6446520"/>
            <a:ext cx="319125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1:12</a:t>
            </a:r>
          </a:p>
        </p:txBody>
      </p:sp>
      <p:sp>
        <p:nvSpPr>
          <p:cNvPr id="34" name="TextBox 33"/>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then a quick check.</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
cd workshop-rag-basics/workshop
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    # then paste the key from the whiteboard</a:t>
            </a:r>
          </a:p>
        </p:txBody>
      </p:sp>
      <p:sp>
        <p:nvSpPr>
          <p:cNvPr id="15" name="Rectangle 14"/>
          <p:cNvSpPr/>
          <p:nvPr/>
        </p:nvSpPr>
        <p:spPr>
          <a:xfrm>
            <a:off x="1060704" y="483717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83717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481888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24865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02589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025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00760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43737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397496"/>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278892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91440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7315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a:t>
            </a:r>
          </a:p>
        </p:txBody>
      </p:sp>
      <p:sp>
        <p:nvSpPr>
          <p:cNvPr id="22" name="TextBox 21"/>
          <p:cNvSpPr txBox="1"/>
          <p:nvPr/>
        </p:nvSpPr>
        <p:spPr>
          <a:xfrm>
            <a:off x="10561319" y="402336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
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
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
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
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the rules for no-parking zones answer a question about no-stopping zones.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
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We cut chunks of 1000 characters; a new one starts every 800, so neighbours share 200.</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Try 300 and 3000</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
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628 instead of 197 chunks, and 17 instead of 5 end in the middle of a table row. At 3000: 69 chunks, none.</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0.73)
› … loaded with different organic fluorophores …
Kage_2018_SciReports.pdf, p. 3  (score 0.64)
›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6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Score limit 2 and limit 15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376732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Rounded Rectangle 26"/>
          <p:cNvSpPr/>
          <p:nvPr/>
        </p:nvSpPr>
        <p:spPr>
          <a:xfrm>
            <a:off x="9921240" y="6784848"/>
            <a:ext cx="7589520" cy="17373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6922008"/>
            <a:ext cx="7132320" cy="150876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PMMA beads stained with organic dyes from PolyAn GmbH [1], and melamine beads loaded with CdSe/CdS/ZnS quantum dots [1], [2].
Sources:  Kage_2018_SciReports, p. 2</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WHICH HALF?</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60704" y="7269480"/>
            <a:ext cx="9509760"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7269480"/>
            <a:ext cx="8961120" cy="1143000"/>
          </a:xfrm>
          <a:prstGeom prst="rect">
            <a:avLst/>
          </a:prstGeom>
          <a:noFill/>
        </p:spPr>
        <p:txBody>
          <a:bodyPr wrap="square" anchor="ctr" lIns="0" rIns="0" tIns="0" bIns="0">
            <a:spAutoFit/>
          </a:bodyPr>
          <a:lstStyle/>
          <a:p>
            <a:pPr algn="l">
              <a:lnSpc>
                <a:spcPct val="115000"/>
              </a:lnSpc>
            </a:pPr>
            <a:r>
              <a:rPr sz="2000" b="1">
                <a:solidFill>
                  <a:srgbClr val="17161C"/>
                </a:solidFill>
                <a:latin typeface="Arial"/>
              </a:rPr>
              <a:t>With RAG you don't read the paper either: </a:t>
            </a:r>
            <a:r>
              <a:rPr sz="2000" b="0">
                <a:solidFill>
                  <a:srgbClr val="17161C"/>
                </a:solidFill>
                <a:latin typeface="Arial"/>
              </a:rPr>
              <a:t>click [1], and page 3 opens.</a:t>
            </a:r>
          </a:p>
        </p:txBody>
      </p:sp>
      <p:sp>
        <p:nvSpPr>
          <p:cNvPr id="11" name="Rectangle 10"/>
          <p:cNvSpPr/>
          <p:nvPr/>
        </p:nvSpPr>
        <p:spPr>
          <a:xfrm>
            <a:off x="11247120" y="2103120"/>
            <a:ext cx="658368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0" y="2286000"/>
            <a:ext cx="612648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3" name="TextBox 12"/>
          <p:cNvSpPr txBox="1"/>
          <p:nvPr/>
        </p:nvSpPr>
        <p:spPr>
          <a:xfrm>
            <a:off x="11521440" y="2834640"/>
            <a:ext cx="6126480" cy="1828800"/>
          </a:xfrm>
          <a:prstGeom prst="rect">
            <a:avLst/>
          </a:prstGeom>
          <a:noFill/>
        </p:spPr>
        <p:txBody>
          <a:bodyPr wrap="square" anchor="t" lIns="0" rIns="0" tIns="0" bIns="0">
            <a:spAutoFit/>
          </a:bodyPr>
          <a:lstStyle/>
          <a:p>
            <a:pPr algn="l">
              <a:lnSpc>
                <a:spcPct val="150000"/>
              </a:lnSpc>
            </a:pPr>
            <a:r>
              <a:rPr sz="1900" b="0">
                <a:solidFill>
                  <a:srgbClr val="17161C"/>
                </a:solidFill>
                <a:latin typeface="Arial"/>
              </a:rPr>
              <a:t>Organic dyes in PMMA beads: </a:t>
            </a:r>
            <a:r>
              <a:rPr sz="1900" b="1">
                <a:solidFill>
                  <a:srgbClr val="17161C"/>
                </a:solidFill>
                <a:latin typeface="Arial"/>
              </a:rPr>
              <a:t>1.7 to 7.9 ns</a:t>
            </a:r>
          </a:p>
          <a:p>
            <a:pPr algn="l">
              <a:lnSpc>
                <a:spcPct val="150000"/>
              </a:lnSpc>
            </a:pPr>
            <a:r>
              <a:rPr sz="1900" b="0">
                <a:solidFill>
                  <a:srgbClr val="17161C"/>
                </a:solidFill>
                <a:latin typeface="Arial"/>
              </a:rPr>
              <a:t>Quantum dots in melamine beads: </a:t>
            </a:r>
            <a:r>
              <a:rPr sz="1900" b="1">
                <a:solidFill>
                  <a:srgbClr val="17161C"/>
                </a:solidFill>
                <a:latin typeface="Arial"/>
              </a:rPr>
              <a:t>22.6 ns</a:t>
            </a:r>
          </a:p>
        </p:txBody>
      </p:sp>
      <p:sp>
        <p:nvSpPr>
          <p:cNvPr id="14" name="TextBox 13"/>
          <p:cNvSpPr txBox="1"/>
          <p:nvPr/>
        </p:nvSpPr>
        <p:spPr>
          <a:xfrm>
            <a:off x="11247120" y="5166360"/>
            <a:ext cx="6583680" cy="1188720"/>
          </a:xfrm>
          <a:prstGeom prst="rect">
            <a:avLst/>
          </a:prstGeom>
          <a:noFill/>
        </p:spPr>
        <p:txBody>
          <a:bodyPr wrap="square" anchor="t" lIns="0" rIns="0" tIns="0" bIns="0">
            <a:spAutoFit/>
          </a:bodyPr>
          <a:lstStyle/>
          <a:p>
            <a:pPr algn="l">
              <a:lnSpc>
                <a:spcPct val="110000"/>
              </a:lnSpc>
            </a:pPr>
            <a:r>
              <a:rPr sz="2400" b="1">
                <a:solidFill>
                  <a:srgbClr val="FFFFFF"/>
                </a:solidFill>
                <a:latin typeface="Arial"/>
              </a:rPr>
              <a:t>Which part of the system knows the page number of a chunk?</a:t>
            </a:r>
          </a:p>
        </p:txBody>
      </p:sp>
      <p:sp>
        <p:nvSpPr>
          <p:cNvPr id="15" name="TextBox 14"/>
          <p:cNvSpPr txBox="1"/>
          <p:nvPr/>
        </p:nvSpPr>
        <p:spPr>
          <a:xfrm>
            <a:off x="11247120" y="6537960"/>
            <a:ext cx="6583680" cy="2194560"/>
          </a:xfrm>
          <a:prstGeom prst="rect">
            <a:avLst/>
          </a:prstGeom>
          <a:noFill/>
        </p:spPr>
        <p:txBody>
          <a:bodyPr wrap="square" anchor="t" lIns="0" rIns="0" tIns="0" bIns="0">
            <a:spAutoFit/>
          </a:bodyPr>
          <a:lstStyle/>
          <a:p>
            <a:pPr algn="l">
              <a:lnSpc>
                <a:spcPct val="115000"/>
              </a:lnSpc>
              <a:spcAft>
                <a:spcPts val="1000"/>
              </a:spcAft>
            </a:pPr>
            <a:r>
              <a:rPr sz="2100" b="0">
                <a:solidFill>
                  <a:srgbClr val="FFFFFF"/>
                </a:solidFill>
                <a:latin typeface="Arial"/>
              </a:rPr>
              <a:t>A   the LLM</a:t>
            </a:r>
          </a:p>
          <a:p>
            <a:pPr algn="l">
              <a:lnSpc>
                <a:spcPct val="115000"/>
              </a:lnSpc>
              <a:spcAft>
                <a:spcPts val="1000"/>
              </a:spcAft>
            </a:pPr>
            <a:r>
              <a:rPr sz="2100" b="0">
                <a:solidFill>
                  <a:srgbClr val="FFFFFF"/>
                </a:solidFill>
                <a:latin typeface="Arial"/>
              </a:rPr>
              <a:t>B   the payload in Qdrant</a:t>
            </a:r>
          </a:p>
          <a:p>
            <a:pPr algn="l">
              <a:lnSpc>
                <a:spcPct val="115000"/>
              </a:lnSpc>
              <a:spcAft>
                <a:spcPts val="1000"/>
              </a:spcAft>
            </a:pPr>
            <a:r>
              <a:rPr sz="2100" b="0">
                <a:solidFill>
                  <a:srgbClr val="FFFFFF"/>
                </a:solidFill>
                <a:latin typeface="Arial"/>
              </a:rPr>
              <a:t>C   the embedding model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COLLECTION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collection would you point this at?</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break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200" b="0">
                <a:solidFill>
                  <a:srgbClr val="5A6065"/>
                </a:solidFill>
                <a:latin typeface="Arial"/>
              </a:rPr>
              <a:t>One sentence each.</a:t>
            </a:r>
          </a:p>
        </p:txBody>
      </p:sp>
      <p:sp>
        <p:nvSpPr>
          <p:cNvPr id="14" name="Rectangle 13"/>
          <p:cNvSpPr/>
          <p:nvPr/>
        </p:nvSpPr>
        <p:spPr>
          <a:xfrm>
            <a:off x="1060704" y="7406640"/>
            <a:ext cx="16184880" cy="118872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7406640"/>
            <a:ext cx="2743200" cy="118872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OFTEN</a:t>
            </a:r>
          </a:p>
        </p:txBody>
      </p:sp>
      <p:sp>
        <p:nvSpPr>
          <p:cNvPr id="16" name="TextBox 15"/>
          <p:cNvSpPr txBox="1"/>
          <p:nvPr/>
        </p:nvSpPr>
        <p:spPr>
          <a:xfrm>
            <a:off x="3108960" y="7406640"/>
            <a:ext cx="13898880" cy="1188720"/>
          </a:xfrm>
          <a:prstGeom prst="rect">
            <a:avLst/>
          </a:prstGeom>
          <a:noFill/>
        </p:spPr>
        <p:txBody>
          <a:bodyPr wrap="square" anchor="ctr" lIns="0" rIns="0" tIns="0" bIns="0">
            <a:spAutoFit/>
          </a:bodyPr>
          <a:lstStyle/>
          <a:p>
            <a:pPr algn="l">
              <a:lnSpc>
                <a:spcPct val="115000"/>
              </a:lnSpc>
            </a:pPr>
            <a:r>
              <a:rPr sz="2400" b="0">
                <a:solidFill>
                  <a:srgbClr val="17161C"/>
                </a:solidFill>
                <a:latin typeface="Arial"/>
              </a:rPr>
              <a:t>Scanned PDFs  ·  tables  ·  questions across several documents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Fixed 1000-character chunks</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Structure-aware chunkers, chosen per data source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[Co-moderator]</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90 minutes.</a:t>
            </a:r>
          </a:p>
        </p:txBody>
      </p:sp>
      <p:sp>
        <p:nvSpPr>
          <p:cNvPr id="6" name="Freeform 5"/>
          <p:cNvSpPr/>
          <p:nvPr/>
        </p:nvSpPr>
        <p:spPr>
          <a:xfrm>
            <a:off x="0" y="10835640"/>
            <a:ext cx="4572000" cy="7399724392800"/>
          </a:xfrm>
          <a:custGeom>
            <a:avLst/>
            <a:gdLst/>
            <a:ahLst/>
            <a:cxnLst/>
            <a:rect l="l" t="t" r="r" b="b"/>
            <a:pathLst>
              <a:path w="5" h="8092437">
                <a:moveTo>
                  <a:pt x="0" y="8092437"/>
                </a:moveTo>
                <a:lnTo>
                  <a:pt x="5" y="0"/>
                </a:lnTo>
                <a:lnTo>
                  <a:pt x="0" y="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Our notebook: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 Docling ships several such chunkers.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