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90 minutes. Goal: understand how AI-assisted research on your own documents works, and build it yourself, step by step, in five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end, or it gets lost on the way. Collect it again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 for today: theory in small doses, most of the time in the notebooks. The two mixed blocks start with 3 minutes of slides, then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who we are, and how you can keep working with us. About 5 minutes for slides 3 to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question: why is a language model on its own not enough for research in specialist documents? About 5 minutes for 8 to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no-parking versus no-stopping example makes the point fastest: the model answers plausibly, but from the wrong legal text. You'll see the same in notebook 1, with a scientific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here: theory in small doses, then hands-on. Write the gateway key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Stress the two phases: ingestion happens once, inference with every question. The same embedding model in both. The badges show which notebook builds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minutes, if everyone ran check_setup.py at home. Whoever didn't: start uv sync and check_setup.py now; Docling downloads about 500 MB of models the first time. Notebook 1 works before that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Point out the confident wrong answer, it comes back in notebook 4. Then the Your turn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Docling takes about a minute for the three papers; talk through the Markdown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 for both slides. Read the questions out, let the room vote by show of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ask whether anyone saw something different. The notebook 1 answer varies a little from run to run; the chunk numbers are measured on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The cat/kitten numbers are the real ones participants will see in notebook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Make them notice that search always returns something, even for France: that's why exercise 1 asks for a score cutoff. Good questions scored 0.33 to 0.73 in testing, France 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Compare with the invented answer from notebook 1, same question. Let them click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Remind them how the pieces fit: everything from notebooks 1 to 4, one file. Only test documents, nothing confidential, when they attach their own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The template is where to start a real project, so nobody starts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jpg"/><Relationship Id="rId7" Type="http://schemas.openxmlformats.org/officeDocument/2006/relationships/image" Target="../media/image18.pn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Relationship Id="rId11" Type="http://schemas.openxmlformats.org/officeDocument/2006/relationships/image" Target="../media/image22.png"/><Relationship Id="rId12" Type="http://schemas.openxmlformats.org/officeDocument/2006/relationships/image" Target="../media/image23.jpg"/><Relationship Id="rId13" Type="http://schemas.openxmlformats.org/officeDocument/2006/relationships/image" Target="../media/image24.png"/><Relationship Id="rId14" Type="http://schemas.openxmlformats.org/officeDocument/2006/relationships/image" Target="../media/image25.jpg"/><Relationship Id="rId1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hyperlink" Target="https://github.com/aihpi/workshop-rag-basics" TargetMode="External"/><Relationship Id="rId5" Type="http://schemas.openxmlformats.org/officeDocument/2006/relationships/hyperlink" Target="https://github.com/aihpi/pilotproject-rag-template" TargetMode="External"/><Relationship Id="rId6" Type="http://schemas.openxmlformats.org/officeDocument/2006/relationships/hyperlink" Target="https://huggingface.co/spaces/mteb/leaderboard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BUILD A RAG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AI-assisted research on your own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[Presenter]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0" y="2514600"/>
            <a:ext cx="5715000" cy="73152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0" y="2834640"/>
            <a:ext cx="5715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AGENDA · 90 MINUTES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187451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984248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74519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Welcome, the AI Service Centre, why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0" y="1874519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551176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660904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551176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5117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Architecture and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0" y="2551176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22783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33756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322783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22783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Talking to an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0" y="322783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390448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014215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904487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04487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From document to chunks · reading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0" y="3904487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581144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690872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4581144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81144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What we found so far · embeddings and vector 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0" y="4581144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7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25780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67528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5257800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257800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0" y="5257800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934455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6044183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360" y="5934455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934455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Prompt and citations · retrieval-augmented generation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19120" y="5934455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16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661111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672084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661111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661111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Putting it 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819120" y="661111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" y="728776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1:24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7397496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7287768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7287768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to go next, feedback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19120" y="7287768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6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" y="8229600"/>
            <a:ext cx="1761743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59024" y="8229600"/>
            <a:ext cx="862583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58183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650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94320" y="8229600"/>
            <a:ext cx="1222247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314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490960" y="8229600"/>
            <a:ext cx="2840736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368272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166592" y="8229600"/>
            <a:ext cx="1042415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" y="87782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6A800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notebooks, hands-on: 56 min     </a:t>
            </a:r>
            <a:r>
              <a:rPr sz="1600" b="0">
                <a:solidFill>
                  <a:srgbClr val="007A9E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theory     </a:t>
            </a:r>
            <a:r>
              <a:rPr sz="1600" b="0">
                <a:solidFill>
                  <a:srgbClr val="B1063A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welcome and wrap-up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10" name="Picture 9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1" name="Picture 10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2" name="Oval 21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8" name="Oval 27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7" name="Picture 46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9" name="Picture 8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2" name="Picture 11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3" name="Picture 12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4" name="Picture 13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7" name="Picture 16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20" name="Picture 19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1" name="Picture 20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2" name="Picture 21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5" name="Picture 24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8" name="Picture 27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9" name="Picture 28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30" name="Picture 29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6" name="Picture 5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8" name="Picture 7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9" name="Picture 8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8" name="Picture 7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9" name="Picture 8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What language models don't know, and what that means for research.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A LANGUAGE MODEL
ALONE IS NOT ENOUGH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own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Language models are trained mostly on public data. Internal documents about your processes and paywalled specialist publications are unknown to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zones, popular science stands in for the specialist literature.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Retrieval-augmented generation sets which documents an answer may use, and shows which source every statement comes from.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2" name="Picture 11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A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17161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17161C"/>
                </a:solidFill>
                <a:latin typeface="Arial"/>
              </a:rPr>
              <a:t>BUILD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1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Five notebooks, one chatbot. A little theory before each.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PDF, Word, HTML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Get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774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47287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77055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65429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your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084064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86130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6291072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706831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7498079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pic>
        <p:nvPicPr>
          <p:cNvPr id="28" name="Picture 27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920240"/>
            <a:ext cx="1554480" cy="1554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A6065"/>
                </a:solidFill>
                <a:latin typeface="Arial"/>
              </a:rPr>
              <a:t>aihpi/workshop-rag-basics</a:t>
            </a:r>
          </a:p>
        </p:txBody>
      </p:sp>
      <p:pic>
        <p:nvPicPr>
          <p:cNvPr id="30" name="Picture 29" descr="live-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paper the model has never seen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Starter buttons with @cl.set_starters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Stopwatch: show how long each answer took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709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402336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4160520"/>
            <a:ext cx="6492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The beads were loaded with quantum dots (QDs), with lifetimes of about 2.5 ns, 10 ns and 25 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19" y="544068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Sounds sure. It's wrong: the paper used organic dyes and quantum dots, with lifetimes from 1.7 to 22.6 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9" name="Picture 8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2" name="Picture 11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Convert the three papers with Docling, page by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See a table come through as 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Cut the pages into chunks, and look where the cuts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Send the first three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Only the tables: send every table Docling found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show the original PDF next 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59028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14831" y="2880360"/>
            <a:ext cx="3995928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1992" y="2990088"/>
            <a:ext cx="37216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📎 Schmidt_2022_SciReports.pdf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19" y="3675887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Docling reads Schmidt_2022_SciReports.pdf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61319" y="4315968"/>
            <a:ext cx="6949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19" y="4453128"/>
            <a:ext cx="6492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Schmidt_2022_SciReports.pdf: 10 pages, 54 chunks. This is page 1:
A multiparametric fluorescence assay for screening aptamer-protein interactions based on microbeads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DID YOU FIND?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Said it doesn't know the paper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Answered confidently, with the wrong dyes and lifetimes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Quoted the paper correctly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They were dropped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They became loose lines of numbers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They stayed tables, in Markdown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Fewer chunks, and tables stay whole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More chunks, and more of them cut through a table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Nothing changes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Answered confidently, with the wrong dyes and lifetimes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It said quantum dots, 2.5, 10 and 25 ns. The paper used organic dyes and quantum dots, 1.7 to 22.6 ns. A model doesn't know your documents, and doesn't say 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C</a:t>
            </a:r>
            <a:r>
              <a:rPr sz="1700" b="1">
                <a:solidFill>
                  <a:srgbClr val="17161C"/>
                </a:solidFill>
                <a:latin typeface="Arial"/>
              </a:rPr>
              <a:t>   They stayed tables, in Markdown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All 5 tables in the three papers came through with their rows and columns, searchable like any other 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0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0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More chunks, and more of them cut through a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0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628 instead of 197 chunks, and 17 instead of 5 end in the middle of a table row. At 3000: 69 chunks, none.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 Embeddings.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EMBEDDINGS AND VECTOR 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  <p:pic>
        <p:nvPicPr>
          <p:cNvPr id="8" name="Picture 7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An embedding model </a:t>
            </a:r>
            <a:r>
              <a:rPr sz="1800" b="0">
                <a:solidFill>
                  <a:srgbClr val="17161C"/>
                </a:solidFill>
                <a:latin typeface="Arial"/>
              </a:rPr>
              <a:t>turns text into 4096 numbers. Similar meaning, similar direction, even without shared words.</a:t>
            </a:r>
          </a:p>
        </p:txBody>
      </p:sp>
      <p:pic>
        <p:nvPicPr>
          <p:cNvPr id="10" name="Picture 9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6263640"/>
            <a:ext cx="9509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Qdrant </a:t>
            </a:r>
            <a:r>
              <a:rPr sz="1800" b="0">
                <a:solidFill>
                  <a:srgbClr val="17161C"/>
                </a:solidFill>
                <a:latin typeface="Arial"/>
              </a:rPr>
              <a:t>stores one point per chunk: the vector to search by, and the payload you get back, with the text, the file and the page.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 one paper only: a dropdown and a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open each hit as a PDF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  <p:pic>
        <p:nvPicPr>
          <p:cNvPr id="8" name="Picture 7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9" name="Picture 8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notebook 1's question again, this time with context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Let the model cite the numbered chunks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every [n] into a link to the PDF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Strict or not: remove "say you don't know"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context: limit 2 versus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Show the evidence in the search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76169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follow-up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84124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2103120"/>
            <a:ext cx="7589520" cy="5852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Search the papers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466344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4800600"/>
            <a:ext cx="64922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19" y="708660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Click the source: the PDF opens at page 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10 MIN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80644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One app.py with every piece. Attach a PDF in the chat and the top row runs live: read, chunk, embed, store. Then ask about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1480" y="272491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 and 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1480" y="359359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Chat with this document only: a Qdrant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1480" y="446227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a dropdown to switch the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53492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7040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93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71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276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335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621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140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07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93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276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0335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2621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GO NEXT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965960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75234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PDFs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5234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Also txt, md, csv and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38728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 in a config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25112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111496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11496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5897879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897879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[1] and a file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897879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Citation format set in the config: title, file, 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6684264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668426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 judge the answers by eye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68426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scores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THIS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4"/>
              </a:rPr>
              <a:t>github.com/aihpi/workshop-rag-basics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THE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5"/>
              </a:rPr>
              <a:t>github.com/aihpi/pilotproject-rag-template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335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OTHER EMBEDDING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335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6"/>
              </a:rPr>
              <a:t>huggingface.co/spaces/mteb/leaderboard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[Presenter]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