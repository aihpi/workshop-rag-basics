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 chunk numbers are over all three papers (the chunk cell in notebook 2); in the chatbot you counted one PDF, so your numbers are smaller.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were invented, and you would have used them.</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One method of many: fixed size with overlap is what the notebook does.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image" Target="../media/image23.png"/><Relationship Id="rId12" Type="http://schemas.openxmlformats.org/officeDocument/2006/relationships/image" Target="../media/image24.jpg"/><Relationship Id="rId13" Type="http://schemas.openxmlformats.org/officeDocument/2006/relationships/image" Target="../media/image25.png"/><Relationship Id="rId14" Type="http://schemas.openxmlformats.org/officeDocument/2006/relationships/image" Target="../media/image26.jp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jpg"/><Relationship Id="rId4" Type="http://schemas.openxmlformats.org/officeDocument/2006/relationships/image" Target="../media/image3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[EVENT]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[Co-moderator]</a:t>
            </a:r>
          </a:p>
          <a:p>
            <a:pPr algn="l">
              <a:lnSpc>
                <a:spcPct val="115000"/>
              </a:lnSpc>
            </a:pPr>
            <a:r>
              <a:rPr sz="2250" b="0">
                <a:solidFill>
                  <a:srgbClr val="5A6065"/>
                </a:solidFill>
                <a:latin typeface="Arial"/>
              </a:rPr>
              <a:t>AI Service Centre Berlin-Brandenburg  |  [Date]</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workshop-rag-basics/workshop</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pic>
        <p:nvPicPr>
          <p:cNvPr id="4" name="Picture 3" descr="qr-newsletter.png"/>
          <p:cNvPicPr>
            <a:picLocks noChangeAspect="1"/>
          </p:cNvPicPr>
          <p:nvPr/>
        </p:nvPicPr>
        <p:blipFill>
          <a:blip r:embed="rId2"/>
          <a:stretch>
            <a:fillRect/>
          </a:stretch>
        </p:blipFill>
        <p:spPr>
          <a:xfrm>
            <a:off x="1060704" y="2194560"/>
            <a:ext cx="2606040" cy="2606040"/>
          </a:xfrm>
          <a:prstGeom prst="rect">
            <a:avLst/>
          </a:prstGeom>
        </p:spPr>
      </p:pic>
      <p:sp>
        <p:nvSpPr>
          <p:cNvPr id="5" name="TextBox 4"/>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6" name="Rectangle 5"/>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8" name="Picture 7" descr="qr-talks.png"/>
          <p:cNvPicPr>
            <a:picLocks noChangeAspect="1"/>
          </p:cNvPicPr>
          <p:nvPr/>
        </p:nvPicPr>
        <p:blipFill>
          <a:blip r:embed="rId3"/>
          <a:stretch>
            <a:fillRect/>
          </a:stretch>
        </p:blipFill>
        <p:spPr>
          <a:xfrm>
            <a:off x="8229600" y="502920"/>
            <a:ext cx="1371600" cy="1371600"/>
          </a:xfrm>
          <a:prstGeom prst="rect">
            <a:avLst/>
          </a:prstGeom>
        </p:spPr>
      </p:pic>
      <p:sp>
        <p:nvSpPr>
          <p:cNvPr id="9" name="TextBox 8"/>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0" name="TextBox 9"/>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1" name="Picture 10" descr="tile-talk-1.png"/>
          <p:cNvPicPr>
            <a:picLocks noChangeAspect="1"/>
          </p:cNvPicPr>
          <p:nvPr/>
        </p:nvPicPr>
        <p:blipFill>
          <a:blip r:embed="rId4"/>
          <a:stretch>
            <a:fillRect/>
          </a:stretch>
        </p:blipFill>
        <p:spPr>
          <a:xfrm>
            <a:off x="10058400" y="502920"/>
            <a:ext cx="2578608" cy="1450467"/>
          </a:xfrm>
          <a:prstGeom prst="rect">
            <a:avLst/>
          </a:prstGeom>
        </p:spPr>
      </p:pic>
      <p:pic>
        <p:nvPicPr>
          <p:cNvPr id="12" name="Picture 11" descr="tile-talk-2.png"/>
          <p:cNvPicPr>
            <a:picLocks noChangeAspect="1"/>
          </p:cNvPicPr>
          <p:nvPr/>
        </p:nvPicPr>
        <p:blipFill>
          <a:blip r:embed="rId5"/>
          <a:stretch>
            <a:fillRect/>
          </a:stretch>
        </p:blipFill>
        <p:spPr>
          <a:xfrm>
            <a:off x="12801600" y="502920"/>
            <a:ext cx="2578608" cy="1289304"/>
          </a:xfrm>
          <a:prstGeom prst="rect">
            <a:avLst/>
          </a:prstGeom>
        </p:spPr>
      </p:pic>
      <p:pic>
        <p:nvPicPr>
          <p:cNvPr id="13" name="Picture 12" descr="tile-talk-3.jpeg"/>
          <p:cNvPicPr>
            <a:picLocks noChangeAspect="1"/>
          </p:cNvPicPr>
          <p:nvPr/>
        </p:nvPicPr>
        <p:blipFill>
          <a:blip r:embed="rId6"/>
          <a:stretch>
            <a:fillRect/>
          </a:stretch>
        </p:blipFill>
        <p:spPr>
          <a:xfrm>
            <a:off x="15544800" y="502920"/>
            <a:ext cx="2578608" cy="1289304"/>
          </a:xfrm>
          <a:prstGeom prst="rect">
            <a:avLst/>
          </a:prstGeom>
        </p:spPr>
      </p:pic>
      <p:sp>
        <p:nvSpPr>
          <p:cNvPr id="14" name="Rectangle 13"/>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6" name="Picture 15" descr="qr-workshops.png"/>
          <p:cNvPicPr>
            <a:picLocks noChangeAspect="1"/>
          </p:cNvPicPr>
          <p:nvPr/>
        </p:nvPicPr>
        <p:blipFill>
          <a:blip r:embed="rId7"/>
          <a:stretch>
            <a:fillRect/>
          </a:stretch>
        </p:blipFill>
        <p:spPr>
          <a:xfrm>
            <a:off x="8229600" y="3794760"/>
            <a:ext cx="1371600" cy="1371600"/>
          </a:xfrm>
          <a:prstGeom prst="rect">
            <a:avLst/>
          </a:prstGeom>
        </p:spPr>
      </p:pic>
      <p:sp>
        <p:nvSpPr>
          <p:cNvPr id="17" name="TextBox 16"/>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18" name="TextBox 17"/>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19" name="Picture 18" descr="tile-workshop-1.jpeg"/>
          <p:cNvPicPr>
            <a:picLocks noChangeAspect="1"/>
          </p:cNvPicPr>
          <p:nvPr/>
        </p:nvPicPr>
        <p:blipFill>
          <a:blip r:embed="rId8"/>
          <a:stretch>
            <a:fillRect/>
          </a:stretch>
        </p:blipFill>
        <p:spPr>
          <a:xfrm>
            <a:off x="10058400" y="3794760"/>
            <a:ext cx="2578608" cy="1289304"/>
          </a:xfrm>
          <a:prstGeom prst="rect">
            <a:avLst/>
          </a:prstGeom>
        </p:spPr>
      </p:pic>
      <p:pic>
        <p:nvPicPr>
          <p:cNvPr id="20" name="Picture 19" descr="tile-workshop-2.jpeg"/>
          <p:cNvPicPr>
            <a:picLocks noChangeAspect="1"/>
          </p:cNvPicPr>
          <p:nvPr/>
        </p:nvPicPr>
        <p:blipFill>
          <a:blip r:embed="rId9"/>
          <a:stretch>
            <a:fillRect/>
          </a:stretch>
        </p:blipFill>
        <p:spPr>
          <a:xfrm>
            <a:off x="12801600" y="3794760"/>
            <a:ext cx="2578608" cy="1450467"/>
          </a:xfrm>
          <a:prstGeom prst="rect">
            <a:avLst/>
          </a:prstGeom>
        </p:spPr>
      </p:pic>
      <p:pic>
        <p:nvPicPr>
          <p:cNvPr id="21" name="Picture 20" descr="tile-workshop-3.jpeg"/>
          <p:cNvPicPr>
            <a:picLocks noChangeAspect="1"/>
          </p:cNvPicPr>
          <p:nvPr/>
        </p:nvPicPr>
        <p:blipFill>
          <a:blip r:embed="rId10"/>
          <a:stretch>
            <a:fillRect/>
          </a:stretch>
        </p:blipFill>
        <p:spPr>
          <a:xfrm>
            <a:off x="15544800" y="3794760"/>
            <a:ext cx="2578608" cy="1289304"/>
          </a:xfrm>
          <a:prstGeom prst="rect">
            <a:avLst/>
          </a:prstGeom>
        </p:spPr>
      </p:pic>
      <p:sp>
        <p:nvSpPr>
          <p:cNvPr id="22" name="Rectangle 21"/>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4" name="Picture 23" descr="qr-moocs.png"/>
          <p:cNvPicPr>
            <a:picLocks noChangeAspect="1"/>
          </p:cNvPicPr>
          <p:nvPr/>
        </p:nvPicPr>
        <p:blipFill>
          <a:blip r:embed="rId11"/>
          <a:stretch>
            <a:fillRect/>
          </a:stretch>
        </p:blipFill>
        <p:spPr>
          <a:xfrm>
            <a:off x="8229600" y="7086600"/>
            <a:ext cx="1371600" cy="1371600"/>
          </a:xfrm>
          <a:prstGeom prst="rect">
            <a:avLst/>
          </a:prstGeom>
        </p:spPr>
      </p:pic>
      <p:sp>
        <p:nvSpPr>
          <p:cNvPr id="25" name="TextBox 24"/>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6" name="TextBox 25"/>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27" name="Picture 26" descr="tile-mooc-1.jpeg"/>
          <p:cNvPicPr>
            <a:picLocks noChangeAspect="1"/>
          </p:cNvPicPr>
          <p:nvPr/>
        </p:nvPicPr>
        <p:blipFill>
          <a:blip r:embed="rId12"/>
          <a:stretch>
            <a:fillRect/>
          </a:stretch>
        </p:blipFill>
        <p:spPr>
          <a:xfrm>
            <a:off x="10058400" y="7086600"/>
            <a:ext cx="2578608" cy="1289304"/>
          </a:xfrm>
          <a:prstGeom prst="rect">
            <a:avLst/>
          </a:prstGeom>
        </p:spPr>
      </p:pic>
      <p:pic>
        <p:nvPicPr>
          <p:cNvPr id="28" name="Picture 27" descr="tile-mooc-2.png"/>
          <p:cNvPicPr>
            <a:picLocks noChangeAspect="1"/>
          </p:cNvPicPr>
          <p:nvPr/>
        </p:nvPicPr>
        <p:blipFill>
          <a:blip r:embed="rId13"/>
          <a:stretch>
            <a:fillRect/>
          </a:stretch>
        </p:blipFill>
        <p:spPr>
          <a:xfrm>
            <a:off x="12801600" y="7086600"/>
            <a:ext cx="2578608" cy="1450467"/>
          </a:xfrm>
          <a:prstGeom prst="rect">
            <a:avLst/>
          </a:prstGeom>
        </p:spPr>
      </p:pic>
      <p:pic>
        <p:nvPicPr>
          <p:cNvPr id="29" name="Picture 28" descr="tile-mooc-3.jpeg"/>
          <p:cNvPicPr>
            <a:picLocks noChangeAspect="1"/>
          </p:cNvPicPr>
          <p:nvPr/>
        </p:nvPicPr>
        <p:blipFill>
          <a:blip r:embed="rId14"/>
          <a:stretch>
            <a:fillRect/>
          </a:stretch>
        </p:blipFill>
        <p:spPr>
          <a:xfrm>
            <a:off x="15544800" y="7086600"/>
            <a:ext cx="2578608" cy="1289304"/>
          </a:xfrm>
          <a:prstGeom prst="rect">
            <a:avLst/>
          </a:prstGeom>
        </p:spPr>
      </p:pic>
      <p:sp>
        <p:nvSpPr>
          <p:cNvPr id="30" name="TextBox 2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pic>
        <p:nvPicPr>
          <p:cNvPr id="4" name="Picture 3" descr="logo-kisz.png"/>
          <p:cNvPicPr>
            <a:picLocks noChangeAspect="1"/>
          </p:cNvPicPr>
          <p:nvPr/>
        </p:nvPicPr>
        <p:blipFill>
          <a:blip r:embed="rId2"/>
          <a:stretch>
            <a:fillRect/>
          </a:stretch>
        </p:blipFill>
        <p:spPr>
          <a:xfrm>
            <a:off x="15334488" y="393192"/>
            <a:ext cx="2560320" cy="905528"/>
          </a:xfrm>
          <a:prstGeom prst="rect">
            <a:avLst/>
          </a:prstGeom>
        </p:spPr>
      </p:pic>
      <p:pic>
        <p:nvPicPr>
          <p:cNvPr id="5" name="Picture 4" descr="qr-aisc.png"/>
          <p:cNvPicPr>
            <a:picLocks noChangeAspect="1"/>
          </p:cNvPicPr>
          <p:nvPr/>
        </p:nvPicPr>
        <p:blipFill>
          <a:blip r:embed="rId3"/>
          <a:stretch>
            <a:fillRect/>
          </a:stretch>
        </p:blipFill>
        <p:spPr>
          <a:xfrm>
            <a:off x="1463040" y="2514600"/>
            <a:ext cx="2606040" cy="2606040"/>
          </a:xfrm>
          <a:prstGeom prst="rect">
            <a:avLst/>
          </a:prstGeom>
        </p:spPr>
      </p:pic>
      <p:sp>
        <p:nvSpPr>
          <p:cNvPr id="6" name="TextBox 5"/>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7" name="Picture 6" descr="compute-banner.jpeg"/>
          <p:cNvPicPr>
            <a:picLocks noChangeAspect="1"/>
          </p:cNvPicPr>
          <p:nvPr/>
        </p:nvPicPr>
        <p:blipFill>
          <a:blip r:embed="rId4"/>
          <a:stretch>
            <a:fillRect/>
          </a:stretch>
        </p:blipFill>
        <p:spPr>
          <a:xfrm>
            <a:off x="4654296" y="1828800"/>
            <a:ext cx="6400800" cy="3600450"/>
          </a:xfrm>
          <a:prstGeom prst="rect">
            <a:avLst/>
          </a:prstGeom>
        </p:spPr>
      </p:pic>
      <p:pic>
        <p:nvPicPr>
          <p:cNvPr id="8" name="Picture 7" descr="compute-racks.jpeg"/>
          <p:cNvPicPr>
            <a:picLocks noChangeAspect="1"/>
          </p:cNvPicPr>
          <p:nvPr/>
        </p:nvPicPr>
        <p:blipFill>
          <a:blip r:embed="rId5"/>
          <a:stretch>
            <a:fillRect/>
          </a:stretch>
        </p:blipFill>
        <p:spPr>
          <a:xfrm>
            <a:off x="4654296" y="5440680"/>
            <a:ext cx="6400800" cy="4754880"/>
          </a:xfrm>
          <a:prstGeom prst="rect">
            <a:avLst/>
          </a:prstGeom>
        </p:spPr>
      </p:pic>
      <p:sp>
        <p:nvSpPr>
          <p:cNvPr id="9" name="TextBox 8"/>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0" name="TextBox 9"/>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1" name="TextBox 10"/>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pic>
        <p:nvPicPr>
          <p:cNvPr id="4" name="Picture 3" descr="qr-office-hours.png"/>
          <p:cNvPicPr>
            <a:picLocks noChangeAspect="1"/>
          </p:cNvPicPr>
          <p:nvPr/>
        </p:nvPicPr>
        <p:blipFill>
          <a:blip r:embed="rId2"/>
          <a:stretch>
            <a:fillRect/>
          </a:stretch>
        </p:blipFill>
        <p:spPr>
          <a:xfrm>
            <a:off x="1060704" y="2331720"/>
            <a:ext cx="2697480" cy="2697480"/>
          </a:xfrm>
          <a:prstGeom prst="rect">
            <a:avLst/>
          </a:prstGeom>
        </p:spPr>
      </p:pic>
      <p:sp>
        <p:nvSpPr>
          <p:cNvPr id="5" name="TextBox 4"/>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6" name="TextBox 5"/>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7" name="Picture 6" descr="consulting.jpeg"/>
          <p:cNvPicPr>
            <a:picLocks noChangeAspect="1"/>
          </p:cNvPicPr>
          <p:nvPr/>
        </p:nvPicPr>
        <p:blipFill>
          <a:blip r:embed="rId3"/>
          <a:stretch>
            <a:fillRect/>
          </a:stretch>
        </p:blipFill>
        <p:spPr>
          <a:xfrm>
            <a:off x="11841480" y="274320"/>
            <a:ext cx="6035040" cy="4526280"/>
          </a:xfrm>
          <a:prstGeom prst="rect">
            <a:avLst/>
          </a:prstGeom>
        </p:spPr>
      </p:pic>
      <p:pic>
        <p:nvPicPr>
          <p:cNvPr id="8" name="Picture 7" descr="qr-apply.png"/>
          <p:cNvPicPr>
            <a:picLocks noChangeAspect="1"/>
          </p:cNvPicPr>
          <p:nvPr/>
        </p:nvPicPr>
        <p:blipFill>
          <a:blip r:embed="rId4"/>
          <a:stretch>
            <a:fillRect/>
          </a:stretch>
        </p:blipFill>
        <p:spPr>
          <a:xfrm>
            <a:off x="14767559" y="6400800"/>
            <a:ext cx="2697480" cy="2697480"/>
          </a:xfrm>
          <a:prstGeom prst="rect">
            <a:avLst/>
          </a:prstGeom>
        </p:spPr>
      </p:pic>
      <p:sp>
        <p:nvSpPr>
          <p:cNvPr id="9" name="TextBox 8"/>
          <p:cNvSpPr txBox="1"/>
          <p:nvPr/>
        </p:nvSpPr>
        <p:spPr>
          <a:xfrm>
            <a:off x="14767559" y="914400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workshop-rag-basics/workshop</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7" name="Rectangle 6"/>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9" name="TextBox 8"/>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0" name="TextBox 9"/>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1" name="TextBox 1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We cut chunks of 1000 characters; a new one starts every 800, so neighbours share 200.</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Try 300 and 3000</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7" name="Rectangle 6"/>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9" name="TextBox 8"/>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0" name="TextBox 9"/>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TextBox 13"/>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5" name="TextBox 1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7" name="TextBox 6"/>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8" name="Rectangle 7"/>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0" name="TextBox 9"/>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Rectangle 13"/>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6" name="TextBox 15"/>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Over the three papers: 628 chunks instead of 197, so more borders fall inside a table. At 3000: 69 chunks.</a:t>
            </a:r>
          </a:p>
        </p:txBody>
      </p:sp>
      <p:sp>
        <p:nvSpPr>
          <p:cNvPr id="17" name="Rectangle 16"/>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19" name="TextBox 18"/>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0" name="TextBox 1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0.73)</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0.64)</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6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376732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Rounded Rectangle 26"/>
          <p:cNvSpPr/>
          <p:nvPr/>
        </p:nvSpPr>
        <p:spPr>
          <a:xfrm>
            <a:off x="9921240" y="6784848"/>
            <a:ext cx="7589520" cy="17373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6922008"/>
            <a:ext cx="7132320" cy="150876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PMMA beads stained with organic dyes from PolyAn GmbH [1], and melamine beads loaded with CdSe/CdS/ZnS quantum dots [1], [2].</a:t>
            </a:r>
            <a:br/>
            <a:r>
              <a:rPr sz="1500" b="0">
                <a:solidFill>
                  <a:srgbClr val="17161C"/>
                </a:solidFill>
                <a:latin typeface="Arial"/>
              </a:rPr>
              <a:t/>
            </a:r>
            <a:br/>
            <a:r>
              <a:rPr sz="1500" b="0">
                <a:solidFill>
                  <a:srgbClr val="17161C"/>
                </a:solidFill>
                <a:latin typeface="Arial"/>
              </a:rPr>
              <a:t>Sources:  Kage_2018_SciReports, p. 2</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7" name="TextBox 6"/>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8" name="TextBox 7"/>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9" name="Rectangle 8"/>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1" name="TextBox 10"/>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2" name="Rectangle 11"/>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Fixed 1000-character chunks</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Structure-aware chunkers, chosen per data source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[Co-moderator]</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90 minutes.</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Our notebook: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 Docling ships several such chunkers.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