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 Bridge: today's models run on exactly this infrastructure; here is what you will build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Domain in one sentence, before they ask: Kage et al. is bioanalytics, flow cytometry; tiny beads are told apart by how long they glow after a flash of light. Nobody needs to understand the paper, they only judge an answer about it.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passages it finds in the paper. So first the model needs our documents in a form it can search: that is notebook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These are the numbers from exercise 1: all three papers. Ask who saw a table row split over two chunks on Schmidt page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had no backing in the chunks, and the paper box shows they are wrong. You would have used them.</a:t>
            </a:r>
          </a:p>
          <a:p>
            <a:r>
              <a:t>✗ means not backed by the five chunks, not automatically false: a true claim the search missed gets ✗ too. That is why the click matters.</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Fixed size shows the problem; Docling's HybridChunker is what the notebooks use from notebook 2 on.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jpg"/><Relationship Id="rId9" Type="http://schemas.openxmlformats.org/officeDocument/2006/relationships/image" Target="../media/image19.png"/><Relationship Id="rId10" Type="http://schemas.openxmlformats.org/officeDocument/2006/relationships/image" Target="../media/image20.jpg"/><Relationship Id="rId11" Type="http://schemas.openxmlformats.org/officeDocument/2006/relationships/image" Target="../media/image21.jpg"/><Relationship Id="rId12" Type="http://schemas.openxmlformats.org/officeDocument/2006/relationships/image" Target="../media/image22.jpg"/><Relationship Id="rId13" Type="http://schemas.openxmlformats.org/officeDocument/2006/relationships/image" Target="../media/image23.png"/><Relationship Id="rId14" Type="http://schemas.openxmlformats.org/officeDocument/2006/relationships/image" Target="../media/image24.jpg"/><Relationship Id="rId15" Type="http://schemas.openxmlformats.org/officeDocument/2006/relationships/image" Target="../media/image25.png"/><Relationship Id="rId16" Type="http://schemas.openxmlformats.org/officeDocument/2006/relationships/image" Target="../media/image26.jpg"/><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jpg"/><Relationship Id="rId6" Type="http://schemas.openxmlformats.org/officeDocument/2006/relationships/image" Target="../media/image3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AI GRID SUMMIT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Mario Tormo Romero</a:t>
            </a:r>
          </a:p>
          <a:p>
            <a:pPr algn="l">
              <a:lnSpc>
                <a:spcPct val="115000"/>
              </a:lnSpc>
            </a:pPr>
            <a:r>
              <a:rPr sz="2250" b="0">
                <a:solidFill>
                  <a:srgbClr val="5A6065"/>
                </a:solidFill>
                <a:latin typeface="Arial"/>
              </a:rPr>
              <a:t>AI Service Centre Berlin-Brandenburg  |  14 October 2026</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Rectangle 7"/>
          <p:cNvSpPr/>
          <p:nvPr/>
        </p:nvSpPr>
        <p:spPr>
          <a:xfrm>
            <a:off x="14676119" y="9281160"/>
            <a:ext cx="28346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ogo-kisz.png"/>
          <p:cNvPicPr>
            <a:picLocks noChangeAspect="1"/>
          </p:cNvPicPr>
          <p:nvPr/>
        </p:nvPicPr>
        <p:blipFill>
          <a:blip r:embed="rId3"/>
          <a:stretch>
            <a:fillRect/>
          </a:stretch>
        </p:blipFill>
        <p:spPr>
          <a:xfrm>
            <a:off x="14904720" y="9390888"/>
            <a:ext cx="2377440" cy="840847"/>
          </a:xfrm>
          <a:prstGeom prst="rect">
            <a:avLst/>
          </a:prstGeom>
        </p:spPr>
      </p:pic>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sp>
        <p:nvSpPr>
          <p:cNvPr id="4" name="Rectangle 3"/>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newsletter.png"/>
          <p:cNvPicPr>
            <a:picLocks noChangeAspect="1"/>
          </p:cNvPicPr>
          <p:nvPr/>
        </p:nvPicPr>
        <p:blipFill>
          <a:blip r:embed="rId4"/>
          <a:stretch>
            <a:fillRect/>
          </a:stretch>
        </p:blipFill>
        <p:spPr>
          <a:xfrm>
            <a:off x="1060704" y="2194560"/>
            <a:ext cx="2606040" cy="2606040"/>
          </a:xfrm>
          <a:prstGeom prst="rect">
            <a:avLst/>
          </a:prstGeom>
        </p:spPr>
      </p:pic>
      <p:sp>
        <p:nvSpPr>
          <p:cNvPr id="8" name="TextBox 7"/>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9" name="Rectangle 8"/>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11" name="Picture 10" descr="qr-talks.png"/>
          <p:cNvPicPr>
            <a:picLocks noChangeAspect="1"/>
          </p:cNvPicPr>
          <p:nvPr/>
        </p:nvPicPr>
        <p:blipFill>
          <a:blip r:embed="rId5"/>
          <a:stretch>
            <a:fillRect/>
          </a:stretch>
        </p:blipFill>
        <p:spPr>
          <a:xfrm>
            <a:off x="8229600" y="502920"/>
            <a:ext cx="1371600" cy="1371600"/>
          </a:xfrm>
          <a:prstGeom prst="rect">
            <a:avLst/>
          </a:prstGeom>
        </p:spPr>
      </p:pic>
      <p:sp>
        <p:nvSpPr>
          <p:cNvPr id="12" name="TextBox 11"/>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3" name="TextBox 12"/>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4" name="Picture 13" descr="tile-talk-1.png"/>
          <p:cNvPicPr>
            <a:picLocks noChangeAspect="1"/>
          </p:cNvPicPr>
          <p:nvPr/>
        </p:nvPicPr>
        <p:blipFill>
          <a:blip r:embed="rId6"/>
          <a:stretch>
            <a:fillRect/>
          </a:stretch>
        </p:blipFill>
        <p:spPr>
          <a:xfrm>
            <a:off x="10058400" y="502920"/>
            <a:ext cx="2578608" cy="1450467"/>
          </a:xfrm>
          <a:prstGeom prst="rect">
            <a:avLst/>
          </a:prstGeom>
        </p:spPr>
      </p:pic>
      <p:pic>
        <p:nvPicPr>
          <p:cNvPr id="15" name="Picture 14" descr="tile-talk-2.png"/>
          <p:cNvPicPr>
            <a:picLocks noChangeAspect="1"/>
          </p:cNvPicPr>
          <p:nvPr/>
        </p:nvPicPr>
        <p:blipFill>
          <a:blip r:embed="rId7"/>
          <a:stretch>
            <a:fillRect/>
          </a:stretch>
        </p:blipFill>
        <p:spPr>
          <a:xfrm>
            <a:off x="12801600" y="502920"/>
            <a:ext cx="2578608" cy="1289304"/>
          </a:xfrm>
          <a:prstGeom prst="rect">
            <a:avLst/>
          </a:prstGeom>
        </p:spPr>
      </p:pic>
      <p:pic>
        <p:nvPicPr>
          <p:cNvPr id="16" name="Picture 15" descr="tile-talk-3.jpeg"/>
          <p:cNvPicPr>
            <a:picLocks noChangeAspect="1"/>
          </p:cNvPicPr>
          <p:nvPr/>
        </p:nvPicPr>
        <p:blipFill>
          <a:blip r:embed="rId8"/>
          <a:stretch>
            <a:fillRect/>
          </a:stretch>
        </p:blipFill>
        <p:spPr>
          <a:xfrm>
            <a:off x="15544800" y="502920"/>
            <a:ext cx="2578608" cy="1289304"/>
          </a:xfrm>
          <a:prstGeom prst="rect">
            <a:avLst/>
          </a:prstGeom>
        </p:spPr>
      </p:pic>
      <p:sp>
        <p:nvSpPr>
          <p:cNvPr id="17" name="Rectangle 16"/>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9" name="Picture 18" descr="qr-workshops.png"/>
          <p:cNvPicPr>
            <a:picLocks noChangeAspect="1"/>
          </p:cNvPicPr>
          <p:nvPr/>
        </p:nvPicPr>
        <p:blipFill>
          <a:blip r:embed="rId9"/>
          <a:stretch>
            <a:fillRect/>
          </a:stretch>
        </p:blipFill>
        <p:spPr>
          <a:xfrm>
            <a:off x="8229600" y="3794760"/>
            <a:ext cx="1371600" cy="1371600"/>
          </a:xfrm>
          <a:prstGeom prst="rect">
            <a:avLst/>
          </a:prstGeom>
        </p:spPr>
      </p:pic>
      <p:sp>
        <p:nvSpPr>
          <p:cNvPr id="20" name="TextBox 19"/>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21" name="TextBox 20"/>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22" name="Picture 21" descr="tile-workshop-1.jpeg"/>
          <p:cNvPicPr>
            <a:picLocks noChangeAspect="1"/>
          </p:cNvPicPr>
          <p:nvPr/>
        </p:nvPicPr>
        <p:blipFill>
          <a:blip r:embed="rId10"/>
          <a:stretch>
            <a:fillRect/>
          </a:stretch>
        </p:blipFill>
        <p:spPr>
          <a:xfrm>
            <a:off x="10058400" y="3794760"/>
            <a:ext cx="2578608" cy="1289304"/>
          </a:xfrm>
          <a:prstGeom prst="rect">
            <a:avLst/>
          </a:prstGeom>
        </p:spPr>
      </p:pic>
      <p:pic>
        <p:nvPicPr>
          <p:cNvPr id="23" name="Picture 22" descr="tile-workshop-2.jpeg"/>
          <p:cNvPicPr>
            <a:picLocks noChangeAspect="1"/>
          </p:cNvPicPr>
          <p:nvPr/>
        </p:nvPicPr>
        <p:blipFill>
          <a:blip r:embed="rId11"/>
          <a:stretch>
            <a:fillRect/>
          </a:stretch>
        </p:blipFill>
        <p:spPr>
          <a:xfrm>
            <a:off x="12801600" y="3794760"/>
            <a:ext cx="2578608" cy="1450467"/>
          </a:xfrm>
          <a:prstGeom prst="rect">
            <a:avLst/>
          </a:prstGeom>
        </p:spPr>
      </p:pic>
      <p:pic>
        <p:nvPicPr>
          <p:cNvPr id="24" name="Picture 23" descr="tile-workshop-3.jpeg"/>
          <p:cNvPicPr>
            <a:picLocks noChangeAspect="1"/>
          </p:cNvPicPr>
          <p:nvPr/>
        </p:nvPicPr>
        <p:blipFill>
          <a:blip r:embed="rId12"/>
          <a:stretch>
            <a:fillRect/>
          </a:stretch>
        </p:blipFill>
        <p:spPr>
          <a:xfrm>
            <a:off x="15544800" y="3794760"/>
            <a:ext cx="2578608" cy="1289304"/>
          </a:xfrm>
          <a:prstGeom prst="rect">
            <a:avLst/>
          </a:prstGeom>
        </p:spPr>
      </p:pic>
      <p:sp>
        <p:nvSpPr>
          <p:cNvPr id="25" name="Rectangle 24"/>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7" name="Picture 26" descr="qr-moocs.png"/>
          <p:cNvPicPr>
            <a:picLocks noChangeAspect="1"/>
          </p:cNvPicPr>
          <p:nvPr/>
        </p:nvPicPr>
        <p:blipFill>
          <a:blip r:embed="rId13"/>
          <a:stretch>
            <a:fillRect/>
          </a:stretch>
        </p:blipFill>
        <p:spPr>
          <a:xfrm>
            <a:off x="8229600" y="7086600"/>
            <a:ext cx="1371600" cy="1371600"/>
          </a:xfrm>
          <a:prstGeom prst="rect">
            <a:avLst/>
          </a:prstGeom>
        </p:spPr>
      </p:pic>
      <p:sp>
        <p:nvSpPr>
          <p:cNvPr id="28" name="TextBox 27"/>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9" name="TextBox 28"/>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30" name="Picture 29" descr="tile-mooc-1.jpeg"/>
          <p:cNvPicPr>
            <a:picLocks noChangeAspect="1"/>
          </p:cNvPicPr>
          <p:nvPr/>
        </p:nvPicPr>
        <p:blipFill>
          <a:blip r:embed="rId14"/>
          <a:stretch>
            <a:fillRect/>
          </a:stretch>
        </p:blipFill>
        <p:spPr>
          <a:xfrm>
            <a:off x="10058400" y="7086600"/>
            <a:ext cx="2578608" cy="1289304"/>
          </a:xfrm>
          <a:prstGeom prst="rect">
            <a:avLst/>
          </a:prstGeom>
        </p:spPr>
      </p:pic>
      <p:pic>
        <p:nvPicPr>
          <p:cNvPr id="31" name="Picture 30" descr="tile-mooc-2.png"/>
          <p:cNvPicPr>
            <a:picLocks noChangeAspect="1"/>
          </p:cNvPicPr>
          <p:nvPr/>
        </p:nvPicPr>
        <p:blipFill>
          <a:blip r:embed="rId15"/>
          <a:stretch>
            <a:fillRect/>
          </a:stretch>
        </p:blipFill>
        <p:spPr>
          <a:xfrm>
            <a:off x="12801600" y="7086600"/>
            <a:ext cx="2578608" cy="1450467"/>
          </a:xfrm>
          <a:prstGeom prst="rect">
            <a:avLst/>
          </a:prstGeom>
        </p:spPr>
      </p:pic>
      <p:pic>
        <p:nvPicPr>
          <p:cNvPr id="32" name="Picture 31" descr="tile-mooc-3.jpeg"/>
          <p:cNvPicPr>
            <a:picLocks noChangeAspect="1"/>
          </p:cNvPicPr>
          <p:nvPr/>
        </p:nvPicPr>
        <p:blipFill>
          <a:blip r:embed="rId16"/>
          <a:stretch>
            <a:fillRect/>
          </a:stretch>
        </p:blipFill>
        <p:spPr>
          <a:xfrm>
            <a:off x="15544800" y="7086600"/>
            <a:ext cx="2578608" cy="1289304"/>
          </a:xfrm>
          <a:prstGeom prst="rect">
            <a:avLst/>
          </a:prstGeom>
        </p:spPr>
      </p:pic>
      <p:sp>
        <p:nvSpPr>
          <p:cNvPr id="33" name="TextBox 3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sp>
        <p:nvSpPr>
          <p:cNvPr id="4" name="Rectangle 3"/>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aisc.png"/>
          <p:cNvPicPr>
            <a:picLocks noChangeAspect="1"/>
          </p:cNvPicPr>
          <p:nvPr/>
        </p:nvPicPr>
        <p:blipFill>
          <a:blip r:embed="rId4"/>
          <a:stretch>
            <a:fillRect/>
          </a:stretch>
        </p:blipFill>
        <p:spPr>
          <a:xfrm>
            <a:off x="1463040" y="2514600"/>
            <a:ext cx="2606040" cy="2606040"/>
          </a:xfrm>
          <a:prstGeom prst="rect">
            <a:avLst/>
          </a:prstGeom>
        </p:spPr>
      </p:pic>
      <p:sp>
        <p:nvSpPr>
          <p:cNvPr id="8" name="TextBox 7"/>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9" name="Picture 8" descr="compute-banner.jpeg"/>
          <p:cNvPicPr>
            <a:picLocks noChangeAspect="1"/>
          </p:cNvPicPr>
          <p:nvPr/>
        </p:nvPicPr>
        <p:blipFill>
          <a:blip r:embed="rId5"/>
          <a:stretch>
            <a:fillRect/>
          </a:stretch>
        </p:blipFill>
        <p:spPr>
          <a:xfrm>
            <a:off x="4654296" y="1828800"/>
            <a:ext cx="6400800" cy="3600450"/>
          </a:xfrm>
          <a:prstGeom prst="rect">
            <a:avLst/>
          </a:prstGeom>
        </p:spPr>
      </p:pic>
      <p:pic>
        <p:nvPicPr>
          <p:cNvPr id="10" name="Picture 9" descr="compute-racks.jpeg"/>
          <p:cNvPicPr>
            <a:picLocks noChangeAspect="1"/>
          </p:cNvPicPr>
          <p:nvPr/>
        </p:nvPicPr>
        <p:blipFill>
          <a:blip r:embed="rId6"/>
          <a:stretch>
            <a:fillRect/>
          </a:stretch>
        </p:blipFill>
        <p:spPr>
          <a:xfrm>
            <a:off x="4654296" y="5440680"/>
            <a:ext cx="6400800" cy="4754880"/>
          </a:xfrm>
          <a:prstGeom prst="rect">
            <a:avLst/>
          </a:prstGeom>
        </p:spPr>
      </p:pic>
      <p:sp>
        <p:nvSpPr>
          <p:cNvPr id="11" name="TextBox 10"/>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2" name="TextBox 11"/>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3" name="TextBox 12"/>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sp>
        <p:nvSpPr>
          <p:cNvPr id="4" name="Rectangle 3"/>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office-hours.png"/>
          <p:cNvPicPr>
            <a:picLocks noChangeAspect="1"/>
          </p:cNvPicPr>
          <p:nvPr/>
        </p:nvPicPr>
        <p:blipFill>
          <a:blip r:embed="rId4"/>
          <a:stretch>
            <a:fillRect/>
          </a:stretch>
        </p:blipFill>
        <p:spPr>
          <a:xfrm>
            <a:off x="1060704" y="2331720"/>
            <a:ext cx="2697480" cy="2697480"/>
          </a:xfrm>
          <a:prstGeom prst="rect">
            <a:avLst/>
          </a:prstGeom>
        </p:spPr>
      </p:pic>
      <p:sp>
        <p:nvSpPr>
          <p:cNvPr id="8" name="TextBox 7"/>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9" name="TextBox 8"/>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10" name="Picture 9" descr="consulting.jpeg"/>
          <p:cNvPicPr>
            <a:picLocks noChangeAspect="1"/>
          </p:cNvPicPr>
          <p:nvPr/>
        </p:nvPicPr>
        <p:blipFill>
          <a:blip r:embed="rId5"/>
          <a:stretch>
            <a:fillRect/>
          </a:stretch>
        </p:blipFill>
        <p:spPr>
          <a:xfrm>
            <a:off x="11841480" y="274320"/>
            <a:ext cx="6035040" cy="4526280"/>
          </a:xfrm>
          <a:prstGeom prst="rect">
            <a:avLst/>
          </a:prstGeom>
        </p:spPr>
      </p:pic>
      <p:pic>
        <p:nvPicPr>
          <p:cNvPr id="11" name="Picture 10" descr="qr-apply.png"/>
          <p:cNvPicPr>
            <a:picLocks noChangeAspect="1"/>
          </p:cNvPicPr>
          <p:nvPr/>
        </p:nvPicPr>
        <p:blipFill>
          <a:blip r:embed="rId6"/>
          <a:stretch>
            <a:fillRect/>
          </a:stretch>
        </p:blipFill>
        <p:spPr>
          <a:xfrm>
            <a:off x="14767559" y="5989320"/>
            <a:ext cx="2697480" cy="2697480"/>
          </a:xfrm>
          <a:prstGeom prst="rect">
            <a:avLst/>
          </a:prstGeom>
        </p:spPr>
      </p:pic>
      <p:sp>
        <p:nvSpPr>
          <p:cNvPr id="12" name="TextBox 11"/>
          <p:cNvSpPr txBox="1"/>
          <p:nvPr/>
        </p:nvSpPr>
        <p:spPr>
          <a:xfrm>
            <a:off x="14767559" y="873252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10" name="Rectangle 9"/>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12" name="TextBox 11"/>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3" name="TextBox 12"/>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First every 1000 characters, neighbours sharing 200. Then Docling cuts at headings, paragraphs and table rows.</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300 and 3000, in the notebook</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 in the chatbot</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10" name="Rectangle 9"/>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2" name="TextBox 11"/>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3" name="TextBox 12"/>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TextBox 16"/>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8" name="TextBox 1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0" name="TextBox 9"/>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1" name="Rectangle 10"/>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3" name="TextBox 12"/>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Rectangle 16"/>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9" name="TextBox 18"/>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1434 chunks instead of 197, so more borders fall inside a table. Docling's chunker cuts between rows instead.</a:t>
            </a:r>
          </a:p>
        </p:txBody>
      </p:sp>
      <p:sp>
        <p:nvSpPr>
          <p:cNvPr id="20" name="Rectangle 19"/>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22" name="TextBox 21"/>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0.76)</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0.62)</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Schmidt_2022_SciReports.pdf, p. 8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Rectangle 7"/>
          <p:cNvSpPr/>
          <p:nvPr/>
        </p:nvSpPr>
        <p:spPr>
          <a:xfrm>
            <a:off x="14676119" y="9281160"/>
            <a:ext cx="28346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ogo-kisz.png"/>
          <p:cNvPicPr>
            <a:picLocks noChangeAspect="1"/>
          </p:cNvPicPr>
          <p:nvPr/>
        </p:nvPicPr>
        <p:blipFill>
          <a:blip r:embed="rId3"/>
          <a:stretch>
            <a:fillRect/>
          </a:stretch>
        </p:blipFill>
        <p:spPr>
          <a:xfrm>
            <a:off x="14904720" y="9390888"/>
            <a:ext cx="2377440" cy="840847"/>
          </a:xfrm>
          <a:prstGeom prst="rect">
            <a:avLst/>
          </a:prstGeom>
        </p:spPr>
      </p:pic>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244144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TextBox 26"/>
          <p:cNvSpPr txBox="1"/>
          <p:nvPr/>
        </p:nvSpPr>
        <p:spPr>
          <a:xfrm>
            <a:off x="9921240" y="6784848"/>
            <a:ext cx="758952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answer cites [1], [2]. Compare it with notebook 1.</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3075919"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10" name="TextBox 9"/>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11" name="TextBox 10"/>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12" name="Rectangle 11"/>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4" name="TextBox 13"/>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5" name="Rectangle 14"/>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7" name="TextBox 16"/>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One chunker for every file</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 chunker per data source, set in a config file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Mario Tormo Romero</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main path.</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Rectangle 7"/>
          <p:cNvSpPr/>
          <p:nvPr/>
        </p:nvSpPr>
        <p:spPr>
          <a:xfrm>
            <a:off x="14676119" y="9281160"/>
            <a:ext cx="28346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ogo-kisz.png"/>
          <p:cNvPicPr>
            <a:picLocks noChangeAspect="1"/>
          </p:cNvPicPr>
          <p:nvPr/>
        </p:nvPicPr>
        <p:blipFill>
          <a:blip r:embed="rId3"/>
          <a:stretch>
            <a:fillRect/>
          </a:stretch>
        </p:blipFill>
        <p:spPr>
          <a:xfrm>
            <a:off x="14904720" y="9390888"/>
            <a:ext cx="2377440" cy="840847"/>
          </a:xfrm>
          <a:prstGeom prst="rect">
            <a:avLst/>
          </a:prstGeom>
        </p:spPr>
      </p:pic>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Fixed size: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Our notebook: </a:t>
            </a:r>
            <a:r>
              <a:rPr sz="1800" b="0">
                <a:solidFill>
                  <a:srgbClr val="17161C"/>
                </a:solidFill>
                <a:latin typeface="Arial"/>
              </a:rPr>
              <a:t>Docling's HybridChunker, at headings, paragraphs and table rows, below 256 tokens.</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