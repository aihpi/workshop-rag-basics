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22 minutes with the AI Service Centre and the install, 5 of them buffer for setup problems. 1:45 in total, mostly in the notebooks, with a 5-minute break after notebook 3 and 5 minutes for questions at the end.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 Bridge: today's models run on exactly this infrastructure; here is what you will build on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6 minutes. Domain in one sentence, before they ask: Kage et al. is bioanalytics, flow cytometry; tiny beads are told apart by how long they glow after a flash of light. Nobody needs to understand the paper, they only judge an answer about it. Time box, then continue: nobody waits for the bonuses.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checks your own answer against the passages it finds in the paper. So first the model needs our documents in a form it can search: that is notebook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7 minutes. Time box, then continue: nobody waits for the bonuses. Before you move on: everyone sees the 'saved … chunks' line (chunks.json)?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These are the numbers from exercise 1: all three papers. Ask who saw a table row split over two chunks on Schmidt page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8 minutes. Time box, then continue: nobody waits for the bonuses. Before you move on: everyone sees the 'saved … chunks' line (index.json)?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Then ask the room: which part of the system knows the page number of a chunk? The payload in Qdrant, written at ingestion from Docling's page numbers; not the LLM, not the embedding model.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start a visible timer. Walk round: anyone without index.json runs notebook 3 to the end now.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11 minutes. Time box, then continue: nobody waits for the bonuses. Same question as notebook 1. Let them click a source. Strict-or-not is a bonus today; it comes back on the checklist on slide 24.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This is one run; everyone sees their own notebook 1 answer judged, with its own claims and score.</a:t>
            </a:r>
          </a:p>
          <a:p/>
          <a:p>
            <a:r>
              <a:t>If most said A: five of six claims had no backing in the chunks, and the paper box shows they are wrong. You would have used them.</a:t>
            </a:r>
          </a:p>
          <a:p>
            <a:r>
              <a:t>✗ means not backed by the five chunks, not automatically false: a true claim the search missed gets ✗ too. That is why the click matters.</a:t>
            </a:r>
          </a:p>
          <a:p>
            <a:r>
              <a:t>If most said B: point at the quick checks on the whiteboard. This click is the quick check.</a:t>
            </a:r>
          </a:p>
          <a:p>
            <a:r>
              <a:t>If most said C: right instinct, and now there is a way to check.</a:t>
            </a:r>
          </a:p>
          <a:p/>
          <a:p>
            <a:r>
              <a:t>Ask: do we see how far we've come? Then: that held on our papers; does it hold on yours?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6 minutes. Time box, then continue: nobody waits for the bonuses.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for example 'my 200 papers on X; I expect the tables to break, because ...'. Above 12 people, tables of four, one sentence per table. Then the next slide.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round: compare with what people said. Then the list promised on slide 8: read it out, one line each; every line is something they saw today. Point 6 is the strict-or-not bonus from notebook 4. Close the loop with the whiteboard list from slide 8. Ask: can you repeat it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 five minutes for questions. Leave the QR code up while they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Fixed size shows the problem; Docling's HybridChunker is what the notebooks use from notebook 2 on.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jpg"/><Relationship Id="rId9" Type="http://schemas.openxmlformats.org/officeDocument/2006/relationships/image" Target="../media/image19.png"/><Relationship Id="rId10" Type="http://schemas.openxmlformats.org/officeDocument/2006/relationships/image" Target="../media/image20.jpg"/><Relationship Id="rId11" Type="http://schemas.openxmlformats.org/officeDocument/2006/relationships/image" Target="../media/image21.jpg"/><Relationship Id="rId12" Type="http://schemas.openxmlformats.org/officeDocument/2006/relationships/image" Target="../media/image22.jpg"/><Relationship Id="rId13" Type="http://schemas.openxmlformats.org/officeDocument/2006/relationships/image" Target="../media/image23.png"/><Relationship Id="rId14" Type="http://schemas.openxmlformats.org/officeDocument/2006/relationships/image" Target="../media/image24.jpg"/><Relationship Id="rId15" Type="http://schemas.openxmlformats.org/officeDocument/2006/relationships/image" Target="../media/image25.png"/><Relationship Id="rId16" Type="http://schemas.openxmlformats.org/officeDocument/2006/relationships/image" Target="../media/image26.jpg"/><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28.jpg"/><Relationship Id="rId6" Type="http://schemas.openxmlformats.org/officeDocument/2006/relationships/image" Target="../media/image29.jp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image" Target="../media/image31.jpg"/><Relationship Id="rId6" Type="http://schemas.openxmlformats.org/officeDocument/2006/relationships/image" Target="../media/image32.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AI GRID SUMMIT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Mario Tormo Romero</a:t>
            </a:r>
          </a:p>
          <a:p>
            <a:pPr algn="l">
              <a:lnSpc>
                <a:spcPct val="115000"/>
              </a:lnSpc>
            </a:pPr>
            <a:r>
              <a:rPr sz="2250" b="0">
                <a:solidFill>
                  <a:srgbClr val="5A6065"/>
                </a:solidFill>
                <a:latin typeface="Arial"/>
              </a:rPr>
              <a:t>AI Service Centre Berlin-Brandenburg  |  14 October 2026</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400" b="0">
                <a:solidFill>
                  <a:srgbClr val="17161C"/>
                </a:solidFill>
                <a:latin typeface="Courier New"/>
              </a:rPr>
              <a:t>git clone https://github.com/aihpi/workshop-rag-basics.git</a:t>
            </a:r>
            <a:br/>
            <a:r>
              <a:rPr sz="1400" b="0">
                <a:solidFill>
                  <a:srgbClr val="17161C"/>
                </a:solidFill>
                <a:latin typeface="Courier New"/>
              </a:rPr>
              <a:t>cd workshop-rag-basics</a:t>
            </a:r>
            <a:br/>
            <a:r>
              <a:rPr sz="1400" b="0">
                <a:solidFill>
                  <a:srgbClr val="17161C"/>
                </a:solidFill>
                <a:latin typeface="Courier New"/>
              </a:rPr>
              <a:t>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a:t>
            </a:r>
            <a:br/>
            <a:r>
              <a:rPr sz="1500" b="0">
                <a:solidFill>
                  <a:srgbClr val="17161C"/>
                </a:solidFill>
                <a:latin typeface="Arial"/>
              </a:rPr>
              <a:t>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a:t>
            </a:r>
            <a:br/>
            <a:r>
              <a:rPr sz="6000" b="1">
                <a:solidFill>
                  <a:srgbClr val="FFFFFF"/>
                </a:solidFill>
                <a:latin typeface="Arial"/>
              </a:rPr>
              <a:t>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Rectangle 5"/>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8" name="Picture 7" descr="logo-kisz.png"/>
          <p:cNvPicPr>
            <a:picLocks noChangeAspect="1"/>
          </p:cNvPicPr>
          <p:nvPr/>
        </p:nvPicPr>
        <p:blipFill>
          <a:blip r:embed="rId3"/>
          <a:stretch>
            <a:fillRect/>
          </a:stretch>
        </p:blipFill>
        <p:spPr>
          <a:xfrm>
            <a:off x="15334488" y="393192"/>
            <a:ext cx="2560320" cy="905528"/>
          </a:xfrm>
          <a:prstGeom prst="rect">
            <a:avLst/>
          </a:prstGeom>
        </p:spPr>
      </p:pic>
      <p:sp>
        <p:nvSpPr>
          <p:cNvPr id="9" name="TextBox 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sp>
        <p:nvSpPr>
          <p:cNvPr id="4" name="Rectangle 3"/>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newsletter.png"/>
          <p:cNvPicPr>
            <a:picLocks noChangeAspect="1"/>
          </p:cNvPicPr>
          <p:nvPr/>
        </p:nvPicPr>
        <p:blipFill>
          <a:blip r:embed="rId4"/>
          <a:stretch>
            <a:fillRect/>
          </a:stretch>
        </p:blipFill>
        <p:spPr>
          <a:xfrm>
            <a:off x="1060704" y="2194560"/>
            <a:ext cx="2606040" cy="2606040"/>
          </a:xfrm>
          <a:prstGeom prst="rect">
            <a:avLst/>
          </a:prstGeom>
        </p:spPr>
      </p:pic>
      <p:sp>
        <p:nvSpPr>
          <p:cNvPr id="8" name="TextBox 7"/>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9" name="Rectangle 8"/>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11" name="Picture 10" descr="qr-talks.png"/>
          <p:cNvPicPr>
            <a:picLocks noChangeAspect="1"/>
          </p:cNvPicPr>
          <p:nvPr/>
        </p:nvPicPr>
        <p:blipFill>
          <a:blip r:embed="rId5"/>
          <a:stretch>
            <a:fillRect/>
          </a:stretch>
        </p:blipFill>
        <p:spPr>
          <a:xfrm>
            <a:off x="8229600" y="502920"/>
            <a:ext cx="1371600" cy="1371600"/>
          </a:xfrm>
          <a:prstGeom prst="rect">
            <a:avLst/>
          </a:prstGeom>
        </p:spPr>
      </p:pic>
      <p:sp>
        <p:nvSpPr>
          <p:cNvPr id="12" name="TextBox 11"/>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3" name="TextBox 12"/>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4" name="Picture 13" descr="tile-talk-1.png"/>
          <p:cNvPicPr>
            <a:picLocks noChangeAspect="1"/>
          </p:cNvPicPr>
          <p:nvPr/>
        </p:nvPicPr>
        <p:blipFill>
          <a:blip r:embed="rId6"/>
          <a:stretch>
            <a:fillRect/>
          </a:stretch>
        </p:blipFill>
        <p:spPr>
          <a:xfrm>
            <a:off x="10058400" y="502920"/>
            <a:ext cx="2578608" cy="1450467"/>
          </a:xfrm>
          <a:prstGeom prst="rect">
            <a:avLst/>
          </a:prstGeom>
        </p:spPr>
      </p:pic>
      <p:pic>
        <p:nvPicPr>
          <p:cNvPr id="15" name="Picture 14" descr="tile-talk-2.png"/>
          <p:cNvPicPr>
            <a:picLocks noChangeAspect="1"/>
          </p:cNvPicPr>
          <p:nvPr/>
        </p:nvPicPr>
        <p:blipFill>
          <a:blip r:embed="rId7"/>
          <a:stretch>
            <a:fillRect/>
          </a:stretch>
        </p:blipFill>
        <p:spPr>
          <a:xfrm>
            <a:off x="12801600" y="502920"/>
            <a:ext cx="2578608" cy="1289304"/>
          </a:xfrm>
          <a:prstGeom prst="rect">
            <a:avLst/>
          </a:prstGeom>
        </p:spPr>
      </p:pic>
      <p:pic>
        <p:nvPicPr>
          <p:cNvPr id="16" name="Picture 15" descr="tile-talk-3.jpeg"/>
          <p:cNvPicPr>
            <a:picLocks noChangeAspect="1"/>
          </p:cNvPicPr>
          <p:nvPr/>
        </p:nvPicPr>
        <p:blipFill>
          <a:blip r:embed="rId8"/>
          <a:stretch>
            <a:fillRect/>
          </a:stretch>
        </p:blipFill>
        <p:spPr>
          <a:xfrm>
            <a:off x="15544800" y="502920"/>
            <a:ext cx="2578608" cy="1289304"/>
          </a:xfrm>
          <a:prstGeom prst="rect">
            <a:avLst/>
          </a:prstGeom>
        </p:spPr>
      </p:pic>
      <p:sp>
        <p:nvSpPr>
          <p:cNvPr id="17" name="Rectangle 16"/>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a:t>
            </a:r>
            <a:br/>
            <a:r>
              <a:rPr sz="2100" b="1">
                <a:solidFill>
                  <a:srgbClr val="FFFFFF"/>
                </a:solidFill>
                <a:latin typeface="Arial"/>
              </a:rPr>
              <a:t>shops</a:t>
            </a:r>
          </a:p>
        </p:txBody>
      </p:sp>
      <p:pic>
        <p:nvPicPr>
          <p:cNvPr id="19" name="Picture 18" descr="qr-workshops.png"/>
          <p:cNvPicPr>
            <a:picLocks noChangeAspect="1"/>
          </p:cNvPicPr>
          <p:nvPr/>
        </p:nvPicPr>
        <p:blipFill>
          <a:blip r:embed="rId9"/>
          <a:stretch>
            <a:fillRect/>
          </a:stretch>
        </p:blipFill>
        <p:spPr>
          <a:xfrm>
            <a:off x="8229600" y="3794760"/>
            <a:ext cx="1371600" cy="1371600"/>
          </a:xfrm>
          <a:prstGeom prst="rect">
            <a:avLst/>
          </a:prstGeom>
        </p:spPr>
      </p:pic>
      <p:sp>
        <p:nvSpPr>
          <p:cNvPr id="20" name="TextBox 19"/>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21" name="TextBox 20"/>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22" name="Picture 21" descr="tile-workshop-1.jpeg"/>
          <p:cNvPicPr>
            <a:picLocks noChangeAspect="1"/>
          </p:cNvPicPr>
          <p:nvPr/>
        </p:nvPicPr>
        <p:blipFill>
          <a:blip r:embed="rId10"/>
          <a:stretch>
            <a:fillRect/>
          </a:stretch>
        </p:blipFill>
        <p:spPr>
          <a:xfrm>
            <a:off x="10058400" y="3794760"/>
            <a:ext cx="2578608" cy="1289304"/>
          </a:xfrm>
          <a:prstGeom prst="rect">
            <a:avLst/>
          </a:prstGeom>
        </p:spPr>
      </p:pic>
      <p:pic>
        <p:nvPicPr>
          <p:cNvPr id="23" name="Picture 22" descr="tile-workshop-2.jpeg"/>
          <p:cNvPicPr>
            <a:picLocks noChangeAspect="1"/>
          </p:cNvPicPr>
          <p:nvPr/>
        </p:nvPicPr>
        <p:blipFill>
          <a:blip r:embed="rId11"/>
          <a:stretch>
            <a:fillRect/>
          </a:stretch>
        </p:blipFill>
        <p:spPr>
          <a:xfrm>
            <a:off x="12801600" y="3794760"/>
            <a:ext cx="2578608" cy="1450467"/>
          </a:xfrm>
          <a:prstGeom prst="rect">
            <a:avLst/>
          </a:prstGeom>
        </p:spPr>
      </p:pic>
      <p:pic>
        <p:nvPicPr>
          <p:cNvPr id="24" name="Picture 23" descr="tile-workshop-3.jpeg"/>
          <p:cNvPicPr>
            <a:picLocks noChangeAspect="1"/>
          </p:cNvPicPr>
          <p:nvPr/>
        </p:nvPicPr>
        <p:blipFill>
          <a:blip r:embed="rId12"/>
          <a:stretch>
            <a:fillRect/>
          </a:stretch>
        </p:blipFill>
        <p:spPr>
          <a:xfrm>
            <a:off x="15544800" y="3794760"/>
            <a:ext cx="2578608" cy="1289304"/>
          </a:xfrm>
          <a:prstGeom prst="rect">
            <a:avLst/>
          </a:prstGeom>
        </p:spPr>
      </p:pic>
      <p:sp>
        <p:nvSpPr>
          <p:cNvPr id="25" name="Rectangle 24"/>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7" name="Picture 26" descr="qr-moocs.png"/>
          <p:cNvPicPr>
            <a:picLocks noChangeAspect="1"/>
          </p:cNvPicPr>
          <p:nvPr/>
        </p:nvPicPr>
        <p:blipFill>
          <a:blip r:embed="rId13"/>
          <a:stretch>
            <a:fillRect/>
          </a:stretch>
        </p:blipFill>
        <p:spPr>
          <a:xfrm>
            <a:off x="8229600" y="7086600"/>
            <a:ext cx="1371600" cy="1371600"/>
          </a:xfrm>
          <a:prstGeom prst="rect">
            <a:avLst/>
          </a:prstGeom>
        </p:spPr>
      </p:pic>
      <p:sp>
        <p:nvSpPr>
          <p:cNvPr id="28" name="TextBox 27"/>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9" name="TextBox 28"/>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30" name="Picture 29" descr="tile-mooc-1.jpeg"/>
          <p:cNvPicPr>
            <a:picLocks noChangeAspect="1"/>
          </p:cNvPicPr>
          <p:nvPr/>
        </p:nvPicPr>
        <p:blipFill>
          <a:blip r:embed="rId14"/>
          <a:stretch>
            <a:fillRect/>
          </a:stretch>
        </p:blipFill>
        <p:spPr>
          <a:xfrm>
            <a:off x="10058400" y="7086600"/>
            <a:ext cx="2578608" cy="1289304"/>
          </a:xfrm>
          <a:prstGeom prst="rect">
            <a:avLst/>
          </a:prstGeom>
        </p:spPr>
      </p:pic>
      <p:pic>
        <p:nvPicPr>
          <p:cNvPr id="31" name="Picture 30" descr="tile-mooc-2.png"/>
          <p:cNvPicPr>
            <a:picLocks noChangeAspect="1"/>
          </p:cNvPicPr>
          <p:nvPr/>
        </p:nvPicPr>
        <p:blipFill>
          <a:blip r:embed="rId15"/>
          <a:stretch>
            <a:fillRect/>
          </a:stretch>
        </p:blipFill>
        <p:spPr>
          <a:xfrm>
            <a:off x="12801600" y="7086600"/>
            <a:ext cx="2578608" cy="1450467"/>
          </a:xfrm>
          <a:prstGeom prst="rect">
            <a:avLst/>
          </a:prstGeom>
        </p:spPr>
      </p:pic>
      <p:pic>
        <p:nvPicPr>
          <p:cNvPr id="32" name="Picture 31" descr="tile-mooc-3.jpeg"/>
          <p:cNvPicPr>
            <a:picLocks noChangeAspect="1"/>
          </p:cNvPicPr>
          <p:nvPr/>
        </p:nvPicPr>
        <p:blipFill>
          <a:blip r:embed="rId16"/>
          <a:stretch>
            <a:fillRect/>
          </a:stretch>
        </p:blipFill>
        <p:spPr>
          <a:xfrm>
            <a:off x="15544800" y="7086600"/>
            <a:ext cx="2578608" cy="1289304"/>
          </a:xfrm>
          <a:prstGeom prst="rect">
            <a:avLst/>
          </a:prstGeom>
        </p:spPr>
      </p:pic>
      <p:sp>
        <p:nvSpPr>
          <p:cNvPr id="33" name="TextBox 3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sp>
        <p:nvSpPr>
          <p:cNvPr id="4" name="Rectangle 3"/>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aisc.png"/>
          <p:cNvPicPr>
            <a:picLocks noChangeAspect="1"/>
          </p:cNvPicPr>
          <p:nvPr/>
        </p:nvPicPr>
        <p:blipFill>
          <a:blip r:embed="rId4"/>
          <a:stretch>
            <a:fillRect/>
          </a:stretch>
        </p:blipFill>
        <p:spPr>
          <a:xfrm>
            <a:off x="1463040" y="2514600"/>
            <a:ext cx="2606040" cy="2606040"/>
          </a:xfrm>
          <a:prstGeom prst="rect">
            <a:avLst/>
          </a:prstGeom>
        </p:spPr>
      </p:pic>
      <p:sp>
        <p:nvSpPr>
          <p:cNvPr id="8" name="TextBox 7"/>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9" name="Picture 8" descr="compute-banner.jpeg"/>
          <p:cNvPicPr>
            <a:picLocks noChangeAspect="1"/>
          </p:cNvPicPr>
          <p:nvPr/>
        </p:nvPicPr>
        <p:blipFill>
          <a:blip r:embed="rId5"/>
          <a:stretch>
            <a:fillRect/>
          </a:stretch>
        </p:blipFill>
        <p:spPr>
          <a:xfrm>
            <a:off x="4654296" y="1828800"/>
            <a:ext cx="6400800" cy="3600450"/>
          </a:xfrm>
          <a:prstGeom prst="rect">
            <a:avLst/>
          </a:prstGeom>
        </p:spPr>
      </p:pic>
      <p:pic>
        <p:nvPicPr>
          <p:cNvPr id="10" name="Picture 9" descr="compute-racks.jpeg"/>
          <p:cNvPicPr>
            <a:picLocks noChangeAspect="1"/>
          </p:cNvPicPr>
          <p:nvPr/>
        </p:nvPicPr>
        <p:blipFill>
          <a:blip r:embed="rId6"/>
          <a:stretch>
            <a:fillRect/>
          </a:stretch>
        </p:blipFill>
        <p:spPr>
          <a:xfrm>
            <a:off x="4654296" y="5440680"/>
            <a:ext cx="6400800" cy="4754880"/>
          </a:xfrm>
          <a:prstGeom prst="rect">
            <a:avLst/>
          </a:prstGeom>
        </p:spPr>
      </p:pic>
      <p:sp>
        <p:nvSpPr>
          <p:cNvPr id="11" name="TextBox 10"/>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2" name="TextBox 11"/>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3" name="TextBox 12"/>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sp>
        <p:nvSpPr>
          <p:cNvPr id="4" name="Rectangle 3"/>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6" name="Picture 5" descr="logo-kisz.png"/>
          <p:cNvPicPr>
            <a:picLocks noChangeAspect="1"/>
          </p:cNvPicPr>
          <p:nvPr/>
        </p:nvPicPr>
        <p:blipFill>
          <a:blip r:embed="rId3"/>
          <a:stretch>
            <a:fillRect/>
          </a:stretch>
        </p:blipFill>
        <p:spPr>
          <a:xfrm>
            <a:off x="14904720" y="9390888"/>
            <a:ext cx="2377440" cy="840847"/>
          </a:xfrm>
          <a:prstGeom prst="rect">
            <a:avLst/>
          </a:prstGeom>
        </p:spPr>
      </p:pic>
      <p:pic>
        <p:nvPicPr>
          <p:cNvPr id="7" name="Picture 6" descr="qr-office-hours.png"/>
          <p:cNvPicPr>
            <a:picLocks noChangeAspect="1"/>
          </p:cNvPicPr>
          <p:nvPr/>
        </p:nvPicPr>
        <p:blipFill>
          <a:blip r:embed="rId4"/>
          <a:stretch>
            <a:fillRect/>
          </a:stretch>
        </p:blipFill>
        <p:spPr>
          <a:xfrm>
            <a:off x="1060704" y="2331720"/>
            <a:ext cx="2697480" cy="2697480"/>
          </a:xfrm>
          <a:prstGeom prst="rect">
            <a:avLst/>
          </a:prstGeom>
        </p:spPr>
      </p:pic>
      <p:sp>
        <p:nvSpPr>
          <p:cNvPr id="8" name="TextBox 7"/>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9" name="TextBox 8"/>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10" name="Picture 9" descr="consulting.jpeg"/>
          <p:cNvPicPr>
            <a:picLocks noChangeAspect="1"/>
          </p:cNvPicPr>
          <p:nvPr/>
        </p:nvPicPr>
        <p:blipFill>
          <a:blip r:embed="rId5"/>
          <a:stretch>
            <a:fillRect/>
          </a:stretch>
        </p:blipFill>
        <p:spPr>
          <a:xfrm>
            <a:off x="11841480" y="274320"/>
            <a:ext cx="6035040" cy="4526280"/>
          </a:xfrm>
          <a:prstGeom prst="rect">
            <a:avLst/>
          </a:prstGeom>
        </p:spPr>
      </p:pic>
      <p:pic>
        <p:nvPicPr>
          <p:cNvPr id="11" name="Picture 10" descr="qr-apply.png"/>
          <p:cNvPicPr>
            <a:picLocks noChangeAspect="1"/>
          </p:cNvPicPr>
          <p:nvPr/>
        </p:nvPicPr>
        <p:blipFill>
          <a:blip r:embed="rId6"/>
          <a:stretch>
            <a:fillRect/>
          </a:stretch>
        </p:blipFill>
        <p:spPr>
          <a:xfrm>
            <a:off x="14767559" y="5989320"/>
            <a:ext cx="2697480" cy="2697480"/>
          </a:xfrm>
          <a:prstGeom prst="rect">
            <a:avLst/>
          </a:prstGeom>
        </p:spPr>
      </p:pic>
      <p:sp>
        <p:nvSpPr>
          <p:cNvPr id="12" name="TextBox 11"/>
          <p:cNvSpPr txBox="1"/>
          <p:nvPr/>
        </p:nvSpPr>
        <p:spPr>
          <a:xfrm>
            <a:off x="14767559" y="873252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1:45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345397"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3162517"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34539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451821"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1549"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451821"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0:22</a:t>
            </a:r>
          </a:p>
        </p:txBody>
      </p:sp>
      <p:sp>
        <p:nvSpPr>
          <p:cNvPr id="22" name="Rectangle 21"/>
          <p:cNvSpPr/>
          <p:nvPr/>
        </p:nvSpPr>
        <p:spPr>
          <a:xfrm>
            <a:off x="6455664"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0:35</a:t>
            </a:r>
          </a:p>
        </p:txBody>
      </p:sp>
      <p:sp>
        <p:nvSpPr>
          <p:cNvPr id="25" name="Rectangle 24"/>
          <p:cNvSpPr/>
          <p:nvPr/>
        </p:nvSpPr>
        <p:spPr>
          <a:xfrm>
            <a:off x="8459506" y="6903720"/>
            <a:ext cx="195812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69234" y="6903720"/>
            <a:ext cx="177524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459506" y="6446520"/>
            <a:ext cx="195812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0:48</a:t>
            </a:r>
          </a:p>
        </p:txBody>
      </p:sp>
      <p:sp>
        <p:nvSpPr>
          <p:cNvPr id="28" name="Rectangle 27"/>
          <p:cNvSpPr/>
          <p:nvPr/>
        </p:nvSpPr>
        <p:spPr>
          <a:xfrm>
            <a:off x="10463348"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73076"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Break</a:t>
            </a:r>
          </a:p>
        </p:txBody>
      </p:sp>
      <p:sp>
        <p:nvSpPr>
          <p:cNvPr id="30" name="TextBox 29"/>
          <p:cNvSpPr txBox="1"/>
          <p:nvPr/>
        </p:nvSpPr>
        <p:spPr>
          <a:xfrm>
            <a:off x="10463348"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1:01</a:t>
            </a:r>
          </a:p>
        </p:txBody>
      </p:sp>
      <p:sp>
        <p:nvSpPr>
          <p:cNvPr id="31" name="Rectangle 30"/>
          <p:cNvSpPr/>
          <p:nvPr/>
        </p:nvSpPr>
        <p:spPr>
          <a:xfrm>
            <a:off x="11234057" y="6903720"/>
            <a:ext cx="2420547"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343785" y="6903720"/>
            <a:ext cx="2237667"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3" name="TextBox 32"/>
          <p:cNvSpPr txBox="1"/>
          <p:nvPr/>
        </p:nvSpPr>
        <p:spPr>
          <a:xfrm>
            <a:off x="11234057" y="6446520"/>
            <a:ext cx="2420547"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1:06</a:t>
            </a:r>
          </a:p>
        </p:txBody>
      </p:sp>
      <p:sp>
        <p:nvSpPr>
          <p:cNvPr id="34" name="Rectangle 33"/>
          <p:cNvSpPr/>
          <p:nvPr/>
        </p:nvSpPr>
        <p:spPr>
          <a:xfrm>
            <a:off x="13700324" y="6903720"/>
            <a:ext cx="2728830"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810052" y="6903720"/>
            <a:ext cx="2545950"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6" name="TextBox 35"/>
          <p:cNvSpPr txBox="1"/>
          <p:nvPr/>
        </p:nvSpPr>
        <p:spPr>
          <a:xfrm>
            <a:off x="13700324" y="6446520"/>
            <a:ext cx="2728830"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1:22</a:t>
            </a:r>
          </a:p>
        </p:txBody>
      </p:sp>
      <p:sp>
        <p:nvSpPr>
          <p:cNvPr id="37" name="Rectangle 36"/>
          <p:cNvSpPr/>
          <p:nvPr/>
        </p:nvSpPr>
        <p:spPr>
          <a:xfrm>
            <a:off x="16474875" y="6903720"/>
            <a:ext cx="724988" cy="9144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6584603" y="6903720"/>
            <a:ext cx="542108"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Q&amp;A</a:t>
            </a:r>
          </a:p>
        </p:txBody>
      </p:sp>
      <p:sp>
        <p:nvSpPr>
          <p:cNvPr id="39" name="TextBox 38"/>
          <p:cNvSpPr txBox="1"/>
          <p:nvPr/>
        </p:nvSpPr>
        <p:spPr>
          <a:xfrm>
            <a:off x="16474875" y="6446520"/>
            <a:ext cx="724988"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1:40</a:t>
            </a:r>
          </a:p>
        </p:txBody>
      </p:sp>
      <p:sp>
        <p:nvSpPr>
          <p:cNvPr id="40" name="TextBox 39"/>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(time-boxed), then a quick check.</a:t>
            </a:r>
          </a:p>
        </p:txBody>
      </p:sp>
      <p:sp>
        <p:nvSpPr>
          <p:cNvPr id="41" name="TextBox 4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a:t>
            </a:r>
            <a:br/>
            <a:r>
              <a:rPr sz="1500" b="0">
                <a:solidFill>
                  <a:srgbClr val="5A6065"/>
                </a:solidFill>
                <a:latin typeface="Courier New"/>
              </a:rPr>
              <a:t>cd workshop-rag-basics</a:t>
            </a:r>
            <a:br/>
            <a:r>
              <a:rPr sz="1500" b="0">
                <a:solidFill>
                  <a:srgbClr val="5A6065"/>
                </a:solidFill>
                <a:latin typeface="Courier New"/>
              </a:rPr>
              <a:t>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a:t>
            </a:r>
            <a:br/>
            <a:r>
              <a:rPr sz="1500" b="0">
                <a:solidFill>
                  <a:srgbClr val="5A6065"/>
                </a:solidFill>
                <a:latin typeface="Courier New"/>
              </a:rPr>
              <a:t>open -e .env    # Windows: notepad .env</a:t>
            </a:r>
            <a:br/>
            <a:r>
              <a:rPr sz="1500" b="0">
                <a:solidFill>
                  <a:srgbClr val="5A6065"/>
                </a:solidFill>
                <a:latin typeface="Courier New"/>
              </a:rPr>
              <a:t># paste the key from the whiteboard after LLM_API_KEY=</a:t>
            </a:r>
          </a:p>
        </p:txBody>
      </p:sp>
      <p:sp>
        <p:nvSpPr>
          <p:cNvPr id="15" name="Rectangle 14"/>
          <p:cNvSpPr/>
          <p:nvPr/>
        </p:nvSpPr>
        <p:spPr>
          <a:xfrm>
            <a:off x="1060704" y="533095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533095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531266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74243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51967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51967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50138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93115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891271"/>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306324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118872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100584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 and which lifetimes did they have?</a:t>
            </a:r>
          </a:p>
        </p:txBody>
      </p:sp>
      <p:sp>
        <p:nvSpPr>
          <p:cNvPr id="22" name="TextBox 21"/>
          <p:cNvSpPr txBox="1"/>
          <p:nvPr/>
        </p:nvSpPr>
        <p:spPr>
          <a:xfrm>
            <a:off x="10561319" y="429768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a:t>
            </a:r>
            <a:br/>
            <a:r>
              <a:rPr sz="1700" b="0">
                <a:solidFill>
                  <a:srgbClr val="17161C"/>
                </a:solidFill>
                <a:latin typeface="Arial"/>
              </a:rPr>
              <a:t>Remember your letter.</a:t>
            </a:r>
          </a:p>
        </p:txBody>
      </p:sp>
      <p:sp>
        <p:nvSpPr>
          <p:cNvPr id="10" name="Rectangle 9"/>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12" name="TextBox 11"/>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3" name="TextBox 12"/>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a:t>
            </a:r>
            <a:br/>
            <a:r>
              <a:rPr sz="3900" b="1">
                <a:solidFill>
                  <a:srgbClr val="5A6065"/>
                </a:solidFill>
                <a:latin typeface="Arial"/>
              </a:rPr>
              <a:t>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a:t>
            </a:r>
            <a:br/>
            <a:r>
              <a:rPr sz="2800" b="1">
                <a:solidFill>
                  <a:srgbClr val="17161C"/>
                </a:solidFill>
                <a:latin typeface="Arial"/>
              </a:rPr>
              <a:t>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a:t>
            </a:r>
            <a:br/>
            <a:r>
              <a:rPr sz="2800" b="1">
                <a:solidFill>
                  <a:srgbClr val="17161C"/>
                </a:solidFill>
                <a:latin typeface="Arial"/>
              </a:rPr>
              <a:t>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values from similar papers end up in the answer about yours.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a:t>
            </a:r>
            <a:br/>
            <a:r>
              <a:rPr sz="2800" b="1">
                <a:solidFill>
                  <a:srgbClr val="17161C"/>
                </a:solidFill>
                <a:latin typeface="Arial"/>
              </a:rPr>
              <a:t>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First every 1000 characters, neighbours sharing 200. Then Docling cuts at headings, paragraphs and table rows.</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300 and 3000, in the notebook</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 in the chatbot</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a:t>
            </a:r>
            <a:br/>
            <a:r>
              <a:rPr sz="1700" b="0">
                <a:solidFill>
                  <a:srgbClr val="17161C"/>
                </a:solidFill>
                <a:latin typeface="Arial"/>
              </a:rPr>
              <a:t>Answers on the next slide.</a:t>
            </a:r>
          </a:p>
        </p:txBody>
      </p:sp>
      <p:sp>
        <p:nvSpPr>
          <p:cNvPr id="10" name="Rectangle 9"/>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12" name="TextBox 11"/>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3" name="TextBox 12"/>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4" name="Rectangle 13"/>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6" name="TextBox 15"/>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7" name="TextBox 16"/>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8" name="TextBox 1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10" name="TextBox 9"/>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1" name="Rectangle 10"/>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3" name="TextBox 12"/>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4" name="Rectangle 13"/>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6" name="TextBox 15"/>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7" name="Rectangle 16"/>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9" name="TextBox 18"/>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1434 chunks instead of 197, so more borders fall inside a table. Docling's chunker cuts between rows instead.</a:t>
            </a:r>
          </a:p>
        </p:txBody>
      </p:sp>
      <p:sp>
        <p:nvSpPr>
          <p:cNvPr id="20" name="Rectangle 19"/>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22" name="TextBox 21"/>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0.76)</a:t>
            </a:r>
            <a:br/>
            <a:r>
              <a:rPr sz="1500" b="0">
                <a:solidFill>
                  <a:srgbClr val="17161C"/>
                </a:solidFill>
                <a:latin typeface="Arial"/>
              </a:rPr>
              <a:t>› … loaded with different organic fluorophores …</a:t>
            </a:r>
            <a:br/>
            <a:r>
              <a:rPr sz="1500" b="0">
                <a:solidFill>
                  <a:srgbClr val="17161C"/>
                </a:solidFill>
                <a:latin typeface="Arial"/>
              </a:rPr>
              <a:t/>
            </a:r>
            <a:br/>
            <a:r>
              <a:rPr sz="1500" b="0">
                <a:solidFill>
                  <a:srgbClr val="17161C"/>
                </a:solidFill>
                <a:latin typeface="Arial"/>
              </a:rPr>
              <a:t>Kage_2018_SciReports.pdf, p. 3  (score 0.62)</a:t>
            </a:r>
            <a:br/>
            <a:r>
              <a:rPr sz="1500" b="0">
                <a:solidFill>
                  <a:srgbClr val="17161C"/>
                </a:solidFill>
                <a:latin typeface="Arial"/>
              </a:rPr>
              <a:t>›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Schmidt_2022_SciReports.pdf, p. 8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BREAK</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5 minutes. Behind? Finish notebook 3 now: notebook 4 needs its index.json.</a:t>
            </a:r>
          </a:p>
        </p:txBody>
      </p:sp>
      <p:sp>
        <p:nvSpPr>
          <p:cNvPr id="6" name="Rectangle 5"/>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8" name="Picture 7" descr="logo-kisz.png"/>
          <p:cNvPicPr>
            <a:picLocks noChangeAspect="1"/>
          </p:cNvPicPr>
          <p:nvPr/>
        </p:nvPicPr>
        <p:blipFill>
          <a:blip r:embed="rId3"/>
          <a:stretch>
            <a:fillRect/>
          </a:stretch>
        </p:blipFill>
        <p:spPr>
          <a:xfrm>
            <a:off x="15334488" y="393192"/>
            <a:ext cx="2560320" cy="905528"/>
          </a:xfrm>
          <a:prstGeom prst="rect">
            <a:avLst/>
          </a:prstGeom>
        </p:spPr>
      </p:pic>
      <p:sp>
        <p:nvSpPr>
          <p:cNvPr id="9" name="TextBox 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 ONLY IF TIME</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2 chunks instead of 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244144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TextBox 26"/>
          <p:cNvSpPr txBox="1"/>
          <p:nvPr/>
        </p:nvSpPr>
        <p:spPr>
          <a:xfrm>
            <a:off x="9921240" y="6784848"/>
            <a:ext cx="758952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answer cites [1], [2]. Compare it with notebook 1.</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STILL RELY ON IT?</a:t>
            </a:r>
          </a:p>
        </p:txBody>
      </p:sp>
      <p:sp>
        <p:nvSpPr>
          <p:cNvPr id="5" name="Rectangle 4"/>
          <p:cNvSpPr/>
          <p:nvPr/>
        </p:nvSpPr>
        <p:spPr>
          <a:xfrm>
            <a:off x="13075920" y="9281160"/>
            <a:ext cx="443484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bmftr.png"/>
          <p:cNvPicPr>
            <a:picLocks noChangeAspect="1"/>
          </p:cNvPicPr>
          <p:nvPr/>
        </p:nvPicPr>
        <p:blipFill>
          <a:blip r:embed="rId2"/>
          <a:stretch>
            <a:fillRect/>
          </a:stretch>
        </p:blipFill>
        <p:spPr>
          <a:xfrm>
            <a:off x="13121640" y="9326880"/>
            <a:ext cx="1463040" cy="976506"/>
          </a:xfrm>
          <a:prstGeom prst="rect">
            <a:avLst/>
          </a:prstGeom>
        </p:spPr>
      </p:pic>
      <p:pic>
        <p:nvPicPr>
          <p:cNvPr id="7" name="Picture 6" descr="logo-kisz.png"/>
          <p:cNvPicPr>
            <a:picLocks noChangeAspect="1"/>
          </p:cNvPicPr>
          <p:nvPr/>
        </p:nvPicPr>
        <p:blipFill>
          <a:blip r:embed="rId3"/>
          <a:stretch>
            <a:fillRect/>
          </a:stretch>
        </p:blipFill>
        <p:spPr>
          <a:xfrm>
            <a:off x="14904720" y="9390888"/>
            <a:ext cx="2377440" cy="840847"/>
          </a:xfrm>
          <a:prstGeom prst="rect">
            <a:avLst/>
          </a:prstGeom>
        </p:spPr>
      </p:pic>
      <p:sp>
        <p:nvSpPr>
          <p:cNvPr id="8" name="Rectangle 7"/>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10" name="TextBox 9"/>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11" name="TextBox 10"/>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12" name="Rectangle 11"/>
          <p:cNvSpPr/>
          <p:nvPr/>
        </p:nvSpPr>
        <p:spPr>
          <a:xfrm>
            <a:off x="10972800" y="2103120"/>
            <a:ext cx="685800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292840" y="2286000"/>
            <a:ext cx="640080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4" name="TextBox 13"/>
          <p:cNvSpPr txBox="1"/>
          <p:nvPr/>
        </p:nvSpPr>
        <p:spPr>
          <a:xfrm>
            <a:off x="11292840" y="2926080"/>
            <a:ext cx="6309360" cy="38404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Organic dyes in PMMA beads</a:t>
            </a:r>
          </a:p>
          <a:p>
            <a:pPr algn="l">
              <a:lnSpc>
                <a:spcPct val="120000"/>
              </a:lnSpc>
            </a:pPr>
            <a:r>
              <a:rPr sz="3000" b="1">
                <a:solidFill>
                  <a:srgbClr val="17161C"/>
                </a:solidFill>
                <a:latin typeface="Arial"/>
              </a:rPr>
              <a:t>1.7 to 7.9 ns</a:t>
            </a:r>
          </a:p>
          <a:p>
            <a:pPr algn="l">
              <a:lnSpc>
                <a:spcPct val="120000"/>
              </a:lnSpc>
            </a:pPr>
            <a:r>
              <a:rPr sz="1000" b="0">
                <a:solidFill>
                  <a:srgbClr val="17161C"/>
                </a:solidFill>
                <a:latin typeface="Arial"/>
              </a:rPr>
              <a:t> </a:t>
            </a:r>
          </a:p>
          <a:p>
            <a:pPr algn="l">
              <a:lnSpc>
                <a:spcPct val="120000"/>
              </a:lnSpc>
            </a:pPr>
            <a:r>
              <a:rPr sz="2000" b="0">
                <a:solidFill>
                  <a:srgbClr val="17161C"/>
                </a:solidFill>
                <a:latin typeface="Arial"/>
              </a:rPr>
              <a:t>Quantum dots in melamine beads</a:t>
            </a:r>
          </a:p>
          <a:p>
            <a:pPr algn="l">
              <a:lnSpc>
                <a:spcPct val="120000"/>
              </a:lnSpc>
            </a:pPr>
            <a:r>
              <a:rPr sz="3000" b="1">
                <a:solidFill>
                  <a:srgbClr val="17161C"/>
                </a:solidFill>
                <a:latin typeface="Arial"/>
              </a:rPr>
              <a:t>22.6 ns</a:t>
            </a:r>
          </a:p>
        </p:txBody>
      </p:sp>
      <p:sp>
        <p:nvSpPr>
          <p:cNvPr id="15" name="Rectangle 14"/>
          <p:cNvSpPr/>
          <p:nvPr/>
        </p:nvSpPr>
        <p:spPr>
          <a:xfrm>
            <a:off x="1060704" y="7315200"/>
            <a:ext cx="16770096"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315200"/>
            <a:ext cx="16276320" cy="1143000"/>
          </a:xfrm>
          <a:prstGeom prst="rect">
            <a:avLst/>
          </a:prstGeom>
          <a:noFill/>
        </p:spPr>
        <p:txBody>
          <a:bodyPr wrap="square" anchor="ctr" lIns="0" rIns="0" tIns="0" bIns="0">
            <a:spAutoFit/>
          </a:bodyPr>
          <a:lstStyle/>
          <a:p>
            <a:pPr algn="l">
              <a:lnSpc>
                <a:spcPct val="115000"/>
              </a:lnSpc>
            </a:pPr>
            <a:r>
              <a:rPr sz="2200" b="1">
                <a:solidFill>
                  <a:srgbClr val="17161C"/>
                </a:solidFill>
                <a:latin typeface="Arial"/>
              </a:rPr>
              <a:t>With RAG you don't read the paper either: </a:t>
            </a:r>
            <a:r>
              <a:rPr sz="2200" b="0">
                <a:solidFill>
                  <a:srgbClr val="17161C"/>
                </a:solidFill>
                <a:latin typeface="Arial"/>
              </a:rPr>
              <a:t>click [1], and page 3 opens.</a:t>
            </a:r>
          </a:p>
        </p:txBody>
      </p:sp>
      <p:sp>
        <p:nvSpPr>
          <p:cNvPr id="17" name="TextBox 16"/>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58368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 · + ONLY IF TIME</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400" b="0">
                <a:solidFill>
                  <a:srgbClr val="5A6065"/>
                </a:solidFill>
                <a:latin typeface="Arial"/>
              </a:rPr>
              <a:t>One sentence each, round the room.</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Rectangle 12"/>
          <p:cNvSpPr/>
          <p:nvPr/>
        </p:nvSpPr>
        <p:spPr>
          <a:xfrm>
            <a:off x="1060704" y="5806440"/>
            <a:ext cx="16184880" cy="91440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806440"/>
            <a:ext cx="3108960" cy="914400"/>
          </a:xfrm>
          <a:prstGeom prst="rect">
            <a:avLst/>
          </a:prstGeom>
          <a:noFill/>
        </p:spPr>
        <p:txBody>
          <a:bodyPr wrap="square" anchor="ctr" lIns="0" rIns="0" tIns="0" bIns="0">
            <a:spAutoFit/>
          </a:bodyPr>
          <a:lstStyle/>
          <a:p>
            <a:pPr algn="l">
              <a:lnSpc>
                <a:spcPct val="115000"/>
              </a:lnSpc>
            </a:pPr>
            <a:r>
              <a:rPr sz="1400" b="1" spc="200">
                <a:solidFill>
                  <a:srgbClr val="8B9094"/>
                </a:solidFill>
                <a:latin typeface="Arial"/>
              </a:rPr>
              <a:t>WHAT OFTEN GOES WRONG</a:t>
            </a:r>
          </a:p>
        </p:txBody>
      </p:sp>
      <p:sp>
        <p:nvSpPr>
          <p:cNvPr id="15" name="TextBox 14"/>
          <p:cNvSpPr txBox="1"/>
          <p:nvPr/>
        </p:nvSpPr>
        <p:spPr>
          <a:xfrm>
            <a:off x="4754880" y="5806440"/>
            <a:ext cx="12252960" cy="914400"/>
          </a:xfrm>
          <a:prstGeom prst="rect">
            <a:avLst/>
          </a:prstGeom>
          <a:noFill/>
        </p:spPr>
        <p:txBody>
          <a:bodyPr wrap="square" anchor="ctr" lIns="0" rIns="0" tIns="0" bIns="0">
            <a:spAutoFit/>
          </a:bodyPr>
          <a:lstStyle/>
          <a:p>
            <a:pPr algn="l">
              <a:lnSpc>
                <a:spcPct val="115000"/>
              </a:lnSpc>
            </a:pPr>
            <a:r>
              <a:rPr sz="2200" b="0">
                <a:solidFill>
                  <a:srgbClr val="17161C"/>
                </a:solidFill>
                <a:latin typeface="Arial"/>
              </a:rPr>
              <a:t>Scanned PDFs  ·  tables  ·  questions across several documents</a:t>
            </a:r>
          </a:p>
        </p:txBody>
      </p:sp>
      <p:sp>
        <p:nvSpPr>
          <p:cNvPr id="16" name="TextBox 15"/>
          <p:cNvSpPr txBox="1"/>
          <p:nvPr/>
        </p:nvSpPr>
        <p:spPr>
          <a:xfrm>
            <a:off x="1060704" y="7086600"/>
            <a:ext cx="15544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BEFORE YOU TRUST AN ANSWER · THE LIST IS AT THE END OF NOTEBOOK 5</a:t>
            </a:r>
          </a:p>
        </p:txBody>
      </p:sp>
      <p:sp>
        <p:nvSpPr>
          <p:cNvPr id="17" name="Rectangle 16"/>
          <p:cNvSpPr/>
          <p:nvPr/>
        </p:nvSpPr>
        <p:spPr>
          <a:xfrm>
            <a:off x="106070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1</a:t>
            </a:r>
          </a:p>
        </p:txBody>
      </p:sp>
      <p:sp>
        <p:nvSpPr>
          <p:cNvPr id="19" name="TextBox 18"/>
          <p:cNvSpPr txBox="1"/>
          <p:nvPr/>
        </p:nvSpPr>
        <p:spPr>
          <a:xfrm>
            <a:off x="170078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Click the source</a:t>
            </a:r>
          </a:p>
        </p:txBody>
      </p:sp>
      <p:sp>
        <p:nvSpPr>
          <p:cNvPr id="20" name="Rectangle 19"/>
          <p:cNvSpPr/>
          <p:nvPr/>
        </p:nvSpPr>
        <p:spPr>
          <a:xfrm>
            <a:off x="650138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2</a:t>
            </a:r>
          </a:p>
        </p:txBody>
      </p:sp>
      <p:sp>
        <p:nvSpPr>
          <p:cNvPr id="22" name="TextBox 21"/>
          <p:cNvSpPr txBox="1"/>
          <p:nvPr/>
        </p:nvSpPr>
        <p:spPr>
          <a:xfrm>
            <a:off x="714146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Low score: check the ✗ claims</a:t>
            </a:r>
          </a:p>
        </p:txBody>
      </p:sp>
      <p:sp>
        <p:nvSpPr>
          <p:cNvPr id="23" name="Rectangle 22"/>
          <p:cNvSpPr/>
          <p:nvPr/>
        </p:nvSpPr>
        <p:spPr>
          <a:xfrm>
            <a:off x="1194206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94206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3</a:t>
            </a:r>
          </a:p>
        </p:txBody>
      </p:sp>
      <p:sp>
        <p:nvSpPr>
          <p:cNvPr id="25" name="TextBox 24"/>
          <p:cNvSpPr txBox="1"/>
          <p:nvPr/>
        </p:nvSpPr>
        <p:spPr>
          <a:xfrm>
            <a:off x="1258214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High score: still check what's missing</a:t>
            </a:r>
          </a:p>
        </p:txBody>
      </p:sp>
      <p:sp>
        <p:nvSpPr>
          <p:cNvPr id="26" name="Rectangle 25"/>
          <p:cNvSpPr/>
          <p:nvPr/>
        </p:nvSpPr>
        <p:spPr>
          <a:xfrm>
            <a:off x="106070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070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4</a:t>
            </a:r>
          </a:p>
        </p:txBody>
      </p:sp>
      <p:sp>
        <p:nvSpPr>
          <p:cNvPr id="28" name="TextBox 27"/>
          <p:cNvSpPr txBox="1"/>
          <p:nvPr/>
        </p:nvSpPr>
        <p:spPr>
          <a:xfrm>
            <a:off x="170078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Scanned PDF or tables? Check what went in</a:t>
            </a:r>
          </a:p>
        </p:txBody>
      </p:sp>
      <p:sp>
        <p:nvSpPr>
          <p:cNvPr id="29" name="Rectangle 28"/>
          <p:cNvSpPr/>
          <p:nvPr/>
        </p:nvSpPr>
        <p:spPr>
          <a:xfrm>
            <a:off x="650138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5</a:t>
            </a:r>
          </a:p>
        </p:txBody>
      </p:sp>
      <p:sp>
        <p:nvSpPr>
          <p:cNvPr id="31" name="TextBox 30"/>
          <p:cNvSpPr txBox="1"/>
          <p:nvPr/>
        </p:nvSpPr>
        <p:spPr>
          <a:xfrm>
            <a:off x="714146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Several documents? Search may miss one</a:t>
            </a:r>
          </a:p>
        </p:txBody>
      </p:sp>
      <p:sp>
        <p:nvSpPr>
          <p:cNvPr id="32" name="Rectangle 31"/>
          <p:cNvSpPr/>
          <p:nvPr/>
        </p:nvSpPr>
        <p:spPr>
          <a:xfrm>
            <a:off x="1194206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94206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6</a:t>
            </a:r>
          </a:p>
        </p:txBody>
      </p:sp>
      <p:sp>
        <p:nvSpPr>
          <p:cNvPr id="34" name="TextBox 33"/>
          <p:cNvSpPr txBox="1"/>
          <p:nvPr/>
        </p:nvSpPr>
        <p:spPr>
          <a:xfrm>
            <a:off x="1258214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Costly if wrong? Keep "say you don't know"</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One chunker for every file</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 chunker per data source, set in a config file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Mario Tormo Romero</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main path.</a:t>
            </a:r>
          </a:p>
        </p:txBody>
      </p:sp>
      <p:sp>
        <p:nvSpPr>
          <p:cNvPr id="6" name="Rectangle 5"/>
          <p:cNvSpPr/>
          <p:nvPr/>
        </p:nvSpPr>
        <p:spPr>
          <a:xfrm>
            <a:off x="12573000" y="182880"/>
            <a:ext cx="548640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8" name="Picture 7" descr="logo-kisz.png"/>
          <p:cNvPicPr>
            <a:picLocks noChangeAspect="1"/>
          </p:cNvPicPr>
          <p:nvPr/>
        </p:nvPicPr>
        <p:blipFill>
          <a:blip r:embed="rId3"/>
          <a:stretch>
            <a:fillRect/>
          </a:stretch>
        </p:blipFill>
        <p:spPr>
          <a:xfrm>
            <a:off x="15334488" y="393192"/>
            <a:ext cx="2560320" cy="905528"/>
          </a:xfrm>
          <a:prstGeom prst="rect">
            <a:avLst/>
          </a:prstGeom>
        </p:spPr>
      </p:pic>
      <p:sp>
        <p:nvSpPr>
          <p:cNvPr id="9" name="TextBox 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Fixed size: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Our notebook: </a:t>
            </a:r>
            <a:r>
              <a:rPr sz="1800" b="0">
                <a:solidFill>
                  <a:srgbClr val="17161C"/>
                </a:solidFill>
                <a:latin typeface="Arial"/>
              </a:rPr>
              <a:t>Docling's HybridChunker, at headings, paragraphs and table rows, below 256 tokens.</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