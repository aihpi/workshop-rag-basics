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8288000" cy="10477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 22 minutes with the AI Service Centre and the install, 5 of them buffer for setup problems. 1:45 in total, mostly in the notebooks, with a 5-minute break after notebook 3 and 5 minutes for questions at the end. The participant list is going round.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the list round now, not at the end. Get everyone to start git clone and uv sync now: it's about 2 GB on the workshop Wi-Fi, and it runs while we talk about the AI Service Centre. Collect the list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 About 6 minutes for slides 3 to 7: the main reason we are here. The install from slide 2 runs meanwhile.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centres across Germany. Our site in Potsdam and Berlin covers education, consulting and the use of AI in business and society.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free and open. Newsletter via the QR code on the left.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 to use, no production use. Request access at aisc.hpi.de.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call to action: book office hours (QR on the left), apply for a pilot project, which opens every three months (QR on the right). Bridge: today's models run on exactly this infrastructure; here is what you will build on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three lines aloud. Ask: is this what you came for? Write anything that doesn't fit on the whiteboard; we come back to it at the end (slide 24).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box on this picture is one notebook. Ingestion happens once, inference with every question; the same embedding model in both. Ask: do we agree on the route?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on the whiteboard now. check_setup.py downloads about 500 MB of Docling models the first time; notebook 1 works before that finishes. Anyone whose uv sync is still running: raise a hand. Ask: everyone sees 'You're ready'?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 6 minutes. Domain in one sentence, before they ask: Kage et al. is bioanalytics, flow cytometry; tiny beads are told apart by how long they glow after a flash of light. Nobody needs to understand the paper, they only judge an answer about it. Time box, then continue: nobody waits for the bonuses. Don't say whether the answer is right, and don't hint. They decide in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Rely on it means, for example, cite it in your report or pass it on as a fact. Count hands per letter, write the numbers on the whiteboard. No reveal, no hint: notebook 4 comes back to it.</a:t>
            </a:r>
          </a:p>
          <a:p/>
          <a:p>
            <a:r>
              <a:t>If most say A: 'It sounds convincing, doesn't it? Keep that in mind.' Nothing more; the reveal does the rest.</a:t>
            </a:r>
          </a:p>
          <a:p>
            <a:r>
              <a:t>If most say B: ask 'What would your quick check be?' Collect two or three answers on the whiteboard. They usually are: google it (then you still have to read the paper), ask again (another answer, still no source), look it up in the paper (which page?). A quick check without a source is not quick.</a:t>
            </a:r>
          </a:p>
          <a:p>
            <a:r>
              <a:t>If most say C: ask 'Then what is it good for?' Without a source you can't use the answer at all. RAG is what makes it usable.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Whatever you voted: you had no way to know. It sounded right, and to check it you would have had to read the paper. That is the problem. Notebook 4 checks your own answer against the passages it finds in the paper. So first the model needs our documents in a form it can search: that is notebook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 7 minutes. Time box, then continue: nobody waits for the bonuses. Before you move on: everyone sees the 'saved … chunks' line (chunks.json)? Docling needs about a minute for the three papers; talk through the Markdown while it runs. GrundschutzKI cuts at headings instead; that is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out, hands up.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Anyone see something different? These are the numbers from exercise 1: all three papers. Ask who saw a table row split over two chunks on Schmidt page 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 8 minutes. Time box, then continue: nobody waits for the bonuses. Before you move on: everyone sees the 'saved … chunks' line (index.json)? Make them ask the France question before you explain anything.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cat and kitten numbers are the ones they just saw. Then ask the room: which part of the system knows the page number of a chunk? The payload in Qdrant, written at ingestion from Docling's page numbers; not the LLM, not the embedding model. Ask: do we know what we've built so far?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minutes, start a visible timer. Walk round: anyone without index.json runs notebook 3 to the end now.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 11 minutes. Time box, then continue: nobody waits for the bonuses. Same question as notebook 1. Let them click a source. Strict-or-not is a bonus today; it comes back on the checklist on slide 24.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back to the vote on the whiteboard. The ✗ lines are what nobody could see; one claim (quantum dots) was right, and the paper box shows the real values. You only know once you check the source, and RAG makes that one click. This is one run; everyone sees their own notebook 1 answer judged, with its own claims and score.</a:t>
            </a:r>
          </a:p>
          <a:p/>
          <a:p>
            <a:r>
              <a:t>If most said A: five of six claims had no backing in the chunks, and the paper box shows they are wrong. You would have used them.</a:t>
            </a:r>
          </a:p>
          <a:p>
            <a:r>
              <a:t>✗ means not backed by the five chunks, not automatically false: a true claim the search missed gets ✗ too. That is why the click matters.</a:t>
            </a:r>
          </a:p>
          <a:p>
            <a:r>
              <a:t>If most said B: point at the quick checks on the whiteboard. This click is the quick check.</a:t>
            </a:r>
          </a:p>
          <a:p>
            <a:r>
              <a:t>If most said C: right instinct, and now there is a way to check.</a:t>
            </a:r>
          </a:p>
          <a:p/>
          <a:p>
            <a:r>
              <a:t>Ask: do we see how far we've come? Then: that held on our papers; does it hold on yours?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S5. 6 minutes. Time box, then continue: nobody waits for the bonuses. The score is already in the app. Expect at least one answer that is worse than on the papers; that's the point. A scanned PDF has no text layer, and with OCR off the bot gets nothing to answer from.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each, for example 'my 200 papers on X; I expect the tables to break, because ...'. Above 12 people, tables of four, one sentence per table. Then the next slide. If someone asks why not put all PDFs in the prompt: cost per question, page citations, and collections larger than any context window.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round: compare with what people said. Then the list promised on slide 8: read it out, one line each; every line is something they saw today. Point 6 is the strict-or-not bonus from notebook 4. Close the loop with the whiteboard list from slide 8. Ask: can you repeat it on your own?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 is where a real project starts. Office hours if you get stuck on your collection: the same offers as on slide 7. SENTRA and GrundschutzKI (appendix) are two pilot projects built this way.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 five minutes for questions. Leave the QR code up while they come in. Contact: kisz@hpi.de.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after this slide is for questions and for reading afterwards.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live demo today, just these two to show RAG in real use. SENTRA: up to 2000 requests a year at the Bundestag's research services. GrundschutzKI: do-it-yourself instead of external consulting, also with NIS2 in mind.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One method of many: fixed size with overlap is what the notebook does. Structured documents chunk better along headings.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RAG = retrieve, augment, generate. Citations are bookkeeping, not magic.</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to 2 minutes, a recap: they built faithfulness themselves in notebook 4. Relevance is new. Link it to the exercises: limit 2 versus 15, chunk size 300 versus 3000 are exactly the changes you would measure this 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png"/><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jpg"/><Relationship Id="rId7" Type="http://schemas.openxmlformats.org/officeDocument/2006/relationships/image" Target="../media/image19.png"/><Relationship Id="rId8" Type="http://schemas.openxmlformats.org/officeDocument/2006/relationships/image" Target="../media/image20.jpg"/><Relationship Id="rId9" Type="http://schemas.openxmlformats.org/officeDocument/2006/relationships/image" Target="../media/image21.jpg"/><Relationship Id="rId10" Type="http://schemas.openxmlformats.org/officeDocument/2006/relationships/image" Target="../media/image22.jpg"/><Relationship Id="rId11" Type="http://schemas.openxmlformats.org/officeDocument/2006/relationships/image" Target="../media/image23.png"/><Relationship Id="rId12" Type="http://schemas.openxmlformats.org/officeDocument/2006/relationships/image" Target="../media/image24.jpg"/><Relationship Id="rId13" Type="http://schemas.openxmlformats.org/officeDocument/2006/relationships/image" Target="../media/image25.png"/><Relationship Id="rId14" Type="http://schemas.openxmlformats.org/officeDocument/2006/relationships/image" Target="../media/image26.jpg"/><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image" Target="../media/image28.jpg"/><Relationship Id="rId5" Type="http://schemas.openxmlformats.org/officeDocument/2006/relationships/image" Target="../media/image29.jp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jpg"/><Relationship Id="rId4" Type="http://schemas.openxmlformats.org/officeDocument/2006/relationships/image" Target="../media/image32.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3.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9.png"/><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0.png"/><Relationship Id="rId5" Type="http://schemas.openxmlformats.org/officeDocument/2006/relationships/image" Target="../media/image30.png"/><Relationship Id="rId6" Type="http://schemas.openxmlformats.org/officeDocument/2006/relationships/image" Target="../media/image32.png"/><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hyperlink" Target="mailto:kisz@hpi.de" TargetMode="External"/><Relationship Id="rId4" Type="http://schemas.openxmlformats.org/officeDocument/2006/relationships/hyperlink" Target="https://hpi.de/kisz" TargetMode="External"/><Relationship Id="rId5" Type="http://schemas.openxmlformats.org/officeDocument/2006/relationships/hyperlink" Target="https://github.com/aihpi/workshop-rag-basics" TargetMode="External"/><Relationship Id="rId6" Type="http://schemas.openxmlformats.org/officeDocument/2006/relationships/hyperlink" Target="https://github.com/aihpi/pilotproject-rag-template" TargetMode="External"/><Relationship Id="rId7" Type="http://schemas.openxmlformats.org/officeDocument/2006/relationships/image" Target="../media/image1.png"/><Relationship Id="rId8" Type="http://schemas.openxmlformats.org/officeDocument/2006/relationships/image" Target="../media/image2.png"/><Relationship Id="rId9" Type="http://schemas.openxmlformats.org/officeDocument/2006/relationships/image" Target="../media/image3.png"/><Relationship Id="rId10" Type="http://schemas.openxmlformats.org/officeDocument/2006/relationships/image" Target="../media/image4.png"/><Relationship Id="rId1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44.png"/><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27048" y="2048256"/>
            <a:ext cx="13716000" cy="365760"/>
          </a:xfrm>
          <a:prstGeom prst="rect">
            <a:avLst/>
          </a:prstGeom>
          <a:noFill/>
        </p:spPr>
        <p:txBody>
          <a:bodyPr wrap="square" anchor="t" lIns="0" rIns="0" tIns="0" bIns="0">
            <a:spAutoFit/>
          </a:bodyPr>
          <a:lstStyle/>
          <a:p>
            <a:pPr algn="l">
              <a:lnSpc>
                <a:spcPct val="115000"/>
              </a:lnSpc>
            </a:pPr>
            <a:r>
              <a:rPr sz="1950" b="1" spc="400">
                <a:solidFill>
                  <a:srgbClr val="DC640D"/>
                </a:solidFill>
                <a:latin typeface="Arial"/>
              </a:rPr>
              <a:t>AI GRID SUMMIT</a:t>
            </a:r>
          </a:p>
        </p:txBody>
      </p:sp>
      <p:sp>
        <p:nvSpPr>
          <p:cNvPr id="3" name="TextBox 2"/>
          <p:cNvSpPr txBox="1"/>
          <p:nvPr/>
        </p:nvSpPr>
        <p:spPr>
          <a:xfrm>
            <a:off x="1527048" y="2578608"/>
            <a:ext cx="13716000" cy="1005840"/>
          </a:xfrm>
          <a:prstGeom prst="rect">
            <a:avLst/>
          </a:prstGeom>
          <a:noFill/>
        </p:spPr>
        <p:txBody>
          <a:bodyPr wrap="square" anchor="t" lIns="0" rIns="0" tIns="0" bIns="0">
            <a:spAutoFit/>
          </a:bodyPr>
          <a:lstStyle/>
          <a:p>
            <a:pPr algn="l">
              <a:lnSpc>
                <a:spcPct val="115000"/>
              </a:lnSpc>
            </a:pPr>
            <a:r>
              <a:rPr sz="6900" b="1">
                <a:solidFill>
                  <a:srgbClr val="5A6065"/>
                </a:solidFill>
                <a:latin typeface="Arial"/>
              </a:rPr>
              <a:t>HANDS-ON RAG</a:t>
            </a:r>
          </a:p>
        </p:txBody>
      </p:sp>
      <p:sp>
        <p:nvSpPr>
          <p:cNvPr id="4" name="TextBox 3"/>
          <p:cNvSpPr txBox="1"/>
          <p:nvPr/>
        </p:nvSpPr>
        <p:spPr>
          <a:xfrm>
            <a:off x="1527048" y="3758184"/>
            <a:ext cx="13716000" cy="640080"/>
          </a:xfrm>
          <a:prstGeom prst="rect">
            <a:avLst/>
          </a:prstGeom>
          <a:noFill/>
        </p:spPr>
        <p:txBody>
          <a:bodyPr wrap="square" anchor="t" lIns="0" rIns="0" tIns="0" bIns="0">
            <a:spAutoFit/>
          </a:bodyPr>
          <a:lstStyle/>
          <a:p>
            <a:pPr algn="l">
              <a:lnSpc>
                <a:spcPct val="115000"/>
              </a:lnSpc>
            </a:pPr>
            <a:r>
              <a:rPr sz="3450" b="0">
                <a:solidFill>
                  <a:srgbClr val="B1063A"/>
                </a:solidFill>
                <a:latin typeface="Arial"/>
              </a:rPr>
              <a:t>Build your own document Q&amp;A system</a:t>
            </a:r>
          </a:p>
        </p:txBody>
      </p:sp>
      <p:sp>
        <p:nvSpPr>
          <p:cNvPr id="5" name="Rectangle 4"/>
          <p:cNvSpPr/>
          <p:nvPr/>
        </p:nvSpPr>
        <p:spPr>
          <a:xfrm>
            <a:off x="1527048" y="4754880"/>
            <a:ext cx="1143000" cy="73152"/>
          </a:xfrm>
          <a:prstGeom prst="rect">
            <a:avLst/>
          </a:prstGeom>
          <a:solidFill>
            <a:srgbClr val="B10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27048" y="5266944"/>
            <a:ext cx="12801600" cy="1005840"/>
          </a:xfrm>
          <a:prstGeom prst="rect">
            <a:avLst/>
          </a:prstGeom>
          <a:noFill/>
        </p:spPr>
        <p:txBody>
          <a:bodyPr wrap="square" anchor="t" lIns="0" rIns="0" tIns="0" bIns="0">
            <a:spAutoFit/>
          </a:bodyPr>
          <a:lstStyle/>
          <a:p>
            <a:pPr algn="l">
              <a:lnSpc>
                <a:spcPct val="115000"/>
              </a:lnSpc>
            </a:pPr>
            <a:r>
              <a:rPr sz="2250" b="0">
                <a:solidFill>
                  <a:srgbClr val="17161C"/>
                </a:solidFill>
                <a:latin typeface="Arial"/>
              </a:rPr>
              <a:t>Felix Boelter  |  Mario Tormo Romero</a:t>
            </a:r>
          </a:p>
          <a:p>
            <a:pPr algn="l">
              <a:lnSpc>
                <a:spcPct val="115000"/>
              </a:lnSpc>
            </a:pPr>
            <a:r>
              <a:rPr sz="2250" b="0">
                <a:solidFill>
                  <a:srgbClr val="5A6065"/>
                </a:solidFill>
                <a:latin typeface="Arial"/>
              </a:rPr>
              <a:t>AI Service Centre Berlin-Brandenburg  |  14 October 2026</a:t>
            </a:r>
          </a:p>
        </p:txBody>
      </p:sp>
      <p:pic>
        <p:nvPicPr>
          <p:cNvPr id="7" name="Picture 6" descr="logo-kisz.png"/>
          <p:cNvPicPr>
            <a:picLocks noChangeAspect="1"/>
          </p:cNvPicPr>
          <p:nvPr/>
        </p:nvPicPr>
        <p:blipFill>
          <a:blip r:embed="rId2"/>
          <a:stretch>
            <a:fillRect/>
          </a:stretch>
        </p:blipFill>
        <p:spPr>
          <a:xfrm>
            <a:off x="15041880" y="676656"/>
            <a:ext cx="2560320" cy="905528"/>
          </a:xfrm>
          <a:prstGeom prst="rect">
            <a:avLst/>
          </a:prstGeom>
        </p:spPr>
      </p:pic>
      <p:pic>
        <p:nvPicPr>
          <p:cNvPr id="8" name="Picture 7" descr="logo-bmftr.png"/>
          <p:cNvPicPr>
            <a:picLocks noChangeAspect="1"/>
          </p:cNvPicPr>
          <p:nvPr/>
        </p:nvPicPr>
        <p:blipFill>
          <a:blip r:embed="rId3"/>
          <a:stretch>
            <a:fillRect/>
          </a:stretch>
        </p:blipFill>
        <p:spPr>
          <a:xfrm>
            <a:off x="15005304" y="1810512"/>
            <a:ext cx="2560320" cy="1708886"/>
          </a:xfrm>
          <a:prstGeom prst="rect">
            <a:avLst/>
          </a:prstGeom>
        </p:spPr>
      </p:pic>
      <p:pic>
        <p:nvPicPr>
          <p:cNvPr id="9" name="Picture 8" descr="hpi-tagline.png"/>
          <p:cNvPicPr>
            <a:picLocks noChangeAspect="1"/>
          </p:cNvPicPr>
          <p:nvPr/>
        </p:nvPicPr>
        <p:blipFill>
          <a:blip r:embed="rId4"/>
          <a:stretch>
            <a:fillRect/>
          </a:stretch>
        </p:blipFill>
        <p:spPr>
          <a:xfrm>
            <a:off x="694944" y="9354312"/>
            <a:ext cx="2670048" cy="991732"/>
          </a:xfrm>
          <a:prstGeom prst="rect">
            <a:avLst/>
          </a:prstGeom>
        </p:spPr>
      </p:pic>
      <p:pic>
        <p:nvPicPr>
          <p:cNvPr id="10" name="Picture 9" descr="hpi-building.png"/>
          <p:cNvPicPr>
            <a:picLocks noChangeAspect="1"/>
          </p:cNvPicPr>
          <p:nvPr/>
        </p:nvPicPr>
        <p:blipFill>
          <a:blip r:embed="rId5"/>
          <a:stretch>
            <a:fillRect/>
          </a:stretch>
        </p:blipFill>
        <p:spPr>
          <a:xfrm>
            <a:off x="8887968" y="6144768"/>
            <a:ext cx="10716768" cy="4967261"/>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8B90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PARTICIPANT LIST</a:t>
            </a:r>
          </a:p>
        </p:txBody>
      </p:sp>
      <p:pic>
        <p:nvPicPr>
          <p:cNvPr id="4" name="Picture 3"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5" name="Picture 4" descr="logo-kisz.png"/>
          <p:cNvPicPr>
            <a:picLocks noChangeAspect="1"/>
          </p:cNvPicPr>
          <p:nvPr/>
        </p:nvPicPr>
        <p:blipFill>
          <a:blip r:embed="rId3"/>
          <a:stretch>
            <a:fillRect/>
          </a:stretch>
        </p:blipFill>
        <p:spPr>
          <a:xfrm>
            <a:off x="15334488" y="393192"/>
            <a:ext cx="2560320" cy="905528"/>
          </a:xfrm>
          <a:prstGeom prst="rect">
            <a:avLst/>
          </a:prstGeom>
        </p:spPr>
      </p:pic>
      <p:sp>
        <p:nvSpPr>
          <p:cNvPr id="6" name="TextBox 5"/>
          <p:cNvSpPr txBox="1"/>
          <p:nvPr/>
        </p:nvSpPr>
        <p:spPr>
          <a:xfrm>
            <a:off x="1060704" y="2377440"/>
            <a:ext cx="9144000" cy="1097280"/>
          </a:xfrm>
          <a:prstGeom prst="rect">
            <a:avLst/>
          </a:prstGeom>
          <a:noFill/>
        </p:spPr>
        <p:txBody>
          <a:bodyPr wrap="square" anchor="t" lIns="0" rIns="0" tIns="0" bIns="0">
            <a:spAutoFit/>
          </a:bodyPr>
          <a:lstStyle/>
          <a:p>
            <a:pPr algn="l">
              <a:lnSpc>
                <a:spcPct val="115000"/>
              </a:lnSpc>
            </a:pPr>
            <a:r>
              <a:rPr sz="2400" b="0">
                <a:solidFill>
                  <a:srgbClr val="17161C"/>
                </a:solidFill>
                <a:latin typeface="Arial"/>
              </a:rPr>
              <a:t>The list is going round now. Please sign in while everyone is still seated.</a:t>
            </a:r>
          </a:p>
        </p:txBody>
      </p:sp>
      <p:sp>
        <p:nvSpPr>
          <p:cNvPr id="7" name="Rectangle 6"/>
          <p:cNvSpPr/>
          <p:nvPr/>
        </p:nvSpPr>
        <p:spPr>
          <a:xfrm>
            <a:off x="1060704" y="3931920"/>
            <a:ext cx="2834640" cy="685800"/>
          </a:xfrm>
          <a:prstGeom prst="rect">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931920"/>
            <a:ext cx="2560320" cy="685800"/>
          </a:xfrm>
          <a:prstGeom prst="rect">
            <a:avLst/>
          </a:prstGeom>
          <a:noFill/>
        </p:spPr>
        <p:txBody>
          <a:bodyPr wrap="square" anchor="ctr" lIns="0" rIns="0" tIns="0" bIns="0">
            <a:spAutoFit/>
          </a:bodyPr>
          <a:lstStyle/>
          <a:p>
            <a:pPr algn="l">
              <a:lnSpc>
                <a:spcPct val="115000"/>
              </a:lnSpc>
            </a:pPr>
            <a:r>
              <a:rPr sz="1900" b="1">
                <a:solidFill>
                  <a:srgbClr val="FFFFFF"/>
                </a:solidFill>
                <a:latin typeface="Arial"/>
              </a:rPr>
              <a:t>Name</a:t>
            </a:r>
          </a:p>
        </p:txBody>
      </p:sp>
      <p:sp>
        <p:nvSpPr>
          <p:cNvPr id="9" name="Rectangle 8"/>
          <p:cNvSpPr/>
          <p:nvPr/>
        </p:nvSpPr>
        <p:spPr>
          <a:xfrm>
            <a:off x="1060704" y="464515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0704" y="519379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0704" y="574243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22776" y="3931920"/>
            <a:ext cx="2834640" cy="685800"/>
          </a:xfrm>
          <a:prstGeom prst="rect">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05656" y="3931920"/>
            <a:ext cx="2560320" cy="685800"/>
          </a:xfrm>
          <a:prstGeom prst="rect">
            <a:avLst/>
          </a:prstGeom>
          <a:noFill/>
        </p:spPr>
        <p:txBody>
          <a:bodyPr wrap="square" anchor="ctr" lIns="0" rIns="0" tIns="0" bIns="0">
            <a:spAutoFit/>
          </a:bodyPr>
          <a:lstStyle/>
          <a:p>
            <a:pPr algn="l">
              <a:lnSpc>
                <a:spcPct val="115000"/>
              </a:lnSpc>
            </a:pPr>
            <a:r>
              <a:rPr sz="1900" b="1">
                <a:solidFill>
                  <a:srgbClr val="FFFFFF"/>
                </a:solidFill>
                <a:latin typeface="Arial"/>
              </a:rPr>
              <a:t>Institution</a:t>
            </a:r>
          </a:p>
        </p:txBody>
      </p:sp>
      <p:sp>
        <p:nvSpPr>
          <p:cNvPr id="14" name="Rectangle 13"/>
          <p:cNvSpPr/>
          <p:nvPr/>
        </p:nvSpPr>
        <p:spPr>
          <a:xfrm>
            <a:off x="3922776" y="464515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922776" y="519379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22776" y="574243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84848" y="3931920"/>
            <a:ext cx="2834640" cy="685800"/>
          </a:xfrm>
          <a:prstGeom prst="rect">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67728" y="3931920"/>
            <a:ext cx="2560320" cy="685800"/>
          </a:xfrm>
          <a:prstGeom prst="rect">
            <a:avLst/>
          </a:prstGeom>
          <a:noFill/>
        </p:spPr>
        <p:txBody>
          <a:bodyPr wrap="square" anchor="ctr" lIns="0" rIns="0" tIns="0" bIns="0">
            <a:spAutoFit/>
          </a:bodyPr>
          <a:lstStyle/>
          <a:p>
            <a:pPr algn="l">
              <a:lnSpc>
                <a:spcPct val="115000"/>
              </a:lnSpc>
            </a:pPr>
            <a:r>
              <a:rPr sz="1900" b="1">
                <a:solidFill>
                  <a:srgbClr val="FFFFFF"/>
                </a:solidFill>
                <a:latin typeface="Arial"/>
              </a:rPr>
              <a:t>Email</a:t>
            </a:r>
          </a:p>
        </p:txBody>
      </p:sp>
      <p:sp>
        <p:nvSpPr>
          <p:cNvPr id="19" name="Rectangle 18"/>
          <p:cNvSpPr/>
          <p:nvPr/>
        </p:nvSpPr>
        <p:spPr>
          <a:xfrm>
            <a:off x="6784848" y="464515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784848" y="519379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784848" y="574243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0704" y="6675120"/>
            <a:ext cx="8595360" cy="914400"/>
          </a:xfrm>
          <a:prstGeom prst="rect">
            <a:avLst/>
          </a:prstGeom>
          <a:noFill/>
        </p:spPr>
        <p:txBody>
          <a:bodyPr wrap="square" anchor="t" lIns="0" rIns="0" tIns="0" bIns="0">
            <a:spAutoFit/>
          </a:bodyPr>
          <a:lstStyle/>
          <a:p>
            <a:pPr algn="l">
              <a:lnSpc>
                <a:spcPct val="115000"/>
              </a:lnSpc>
            </a:pPr>
            <a:r>
              <a:rPr sz="1700" b="0">
                <a:solidFill>
                  <a:srgbClr val="5A6065"/>
                </a:solidFill>
                <a:latin typeface="Arial"/>
              </a:rPr>
              <a:t>The printout stays with the workshop lead. Please hand it back at the end.</a:t>
            </a:r>
          </a:p>
        </p:txBody>
      </p:sp>
      <p:sp>
        <p:nvSpPr>
          <p:cNvPr id="23" name="Rectangle 22"/>
          <p:cNvSpPr/>
          <p:nvPr/>
        </p:nvSpPr>
        <p:spPr>
          <a:xfrm>
            <a:off x="10424160" y="2377440"/>
            <a:ext cx="7406640" cy="566928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789920" y="2651760"/>
            <a:ext cx="6766560" cy="457200"/>
          </a:xfrm>
          <a:prstGeom prst="rect">
            <a:avLst/>
          </a:prstGeom>
          <a:noFill/>
        </p:spPr>
        <p:txBody>
          <a:bodyPr wrap="square" anchor="t" lIns="0" rIns="0" tIns="0" bIns="0">
            <a:spAutoFit/>
          </a:bodyPr>
          <a:lstStyle/>
          <a:p>
            <a:pPr algn="l">
              <a:lnSpc>
                <a:spcPct val="115000"/>
              </a:lnSpc>
            </a:pPr>
            <a:r>
              <a:rPr sz="1700" b="1" spc="300">
                <a:solidFill>
                  <a:srgbClr val="17161C"/>
                </a:solidFill>
                <a:latin typeface="Arial"/>
              </a:rPr>
              <a:t>START THE INSTALL NOW</a:t>
            </a:r>
          </a:p>
        </p:txBody>
      </p:sp>
      <p:sp>
        <p:nvSpPr>
          <p:cNvPr id="25" name="TextBox 24"/>
          <p:cNvSpPr txBox="1"/>
          <p:nvPr/>
        </p:nvSpPr>
        <p:spPr>
          <a:xfrm>
            <a:off x="10789920" y="3200400"/>
            <a:ext cx="6766560" cy="1097280"/>
          </a:xfrm>
          <a:prstGeom prst="rect">
            <a:avLst/>
          </a:prstGeom>
          <a:noFill/>
        </p:spPr>
        <p:txBody>
          <a:bodyPr wrap="square" anchor="t" lIns="0" rIns="0" tIns="0" bIns="0">
            <a:spAutoFit/>
          </a:bodyPr>
          <a:lstStyle/>
          <a:p>
            <a:pPr algn="l">
              <a:lnSpc>
                <a:spcPct val="120000"/>
              </a:lnSpc>
            </a:pPr>
            <a:r>
              <a:rPr sz="2000" b="0">
                <a:solidFill>
                  <a:srgbClr val="17161C"/>
                </a:solidFill>
                <a:latin typeface="Arial"/>
              </a:rPr>
              <a:t>It downloads about 2 GB, so let it run while we talk.</a:t>
            </a:r>
          </a:p>
        </p:txBody>
      </p:sp>
      <p:sp>
        <p:nvSpPr>
          <p:cNvPr id="26" name="TextBox 25"/>
          <p:cNvSpPr txBox="1"/>
          <p:nvPr/>
        </p:nvSpPr>
        <p:spPr>
          <a:xfrm>
            <a:off x="10789920" y="4343400"/>
            <a:ext cx="6766560" cy="2377440"/>
          </a:xfrm>
          <a:prstGeom prst="rect">
            <a:avLst/>
          </a:prstGeom>
          <a:noFill/>
        </p:spPr>
        <p:txBody>
          <a:bodyPr wrap="square" anchor="t" lIns="0" rIns="0" tIns="0" bIns="0">
            <a:spAutoFit/>
          </a:bodyPr>
          <a:lstStyle/>
          <a:p>
            <a:pPr algn="l">
              <a:lnSpc>
                <a:spcPct val="130000"/>
              </a:lnSpc>
            </a:pPr>
            <a:r>
              <a:rPr sz="1400" b="0">
                <a:solidFill>
                  <a:srgbClr val="17161C"/>
                </a:solidFill>
                <a:latin typeface="Courier New"/>
              </a:rPr>
              <a:t>git clone https://github.com/aihpi/workshop-rag-basics.git</a:t>
            </a:r>
            <a:br/>
            <a:r>
              <a:rPr sz="1400" b="0">
                <a:solidFill>
                  <a:srgbClr val="17161C"/>
                </a:solidFill>
                <a:latin typeface="Courier New"/>
              </a:rPr>
              <a:t>cd workshop-rag-basics</a:t>
            </a:r>
            <a:br/>
            <a:r>
              <a:rPr sz="1400" b="0">
                <a:solidFill>
                  <a:srgbClr val="17161C"/>
                </a:solidFill>
                <a:latin typeface="Courier New"/>
              </a:rPr>
              <a:t>uv sync</a:t>
            </a:r>
          </a:p>
        </p:txBody>
      </p:sp>
      <p:pic>
        <p:nvPicPr>
          <p:cNvPr id="27" name="Picture 26" descr="qr-repo.png"/>
          <p:cNvPicPr>
            <a:picLocks noChangeAspect="1"/>
          </p:cNvPicPr>
          <p:nvPr/>
        </p:nvPicPr>
        <p:blipFill>
          <a:blip r:embed="rId4"/>
          <a:stretch>
            <a:fillRect/>
          </a:stretch>
        </p:blipFill>
        <p:spPr>
          <a:xfrm>
            <a:off x="10789920" y="6400800"/>
            <a:ext cx="1371600" cy="1371600"/>
          </a:xfrm>
          <a:prstGeom prst="rect">
            <a:avLst/>
          </a:prstGeom>
        </p:spPr>
      </p:pic>
      <p:sp>
        <p:nvSpPr>
          <p:cNvPr id="28" name="TextBox 27"/>
          <p:cNvSpPr txBox="1"/>
          <p:nvPr/>
        </p:nvSpPr>
        <p:spPr>
          <a:xfrm>
            <a:off x="12344400" y="6720840"/>
            <a:ext cx="5303520" cy="822960"/>
          </a:xfrm>
          <a:prstGeom prst="rect">
            <a:avLst/>
          </a:prstGeom>
          <a:noFill/>
        </p:spPr>
        <p:txBody>
          <a:bodyPr wrap="square" anchor="t" lIns="0" rIns="0" tIns="0" bIns="0">
            <a:spAutoFit/>
          </a:bodyPr>
          <a:lstStyle/>
          <a:p>
            <a:pPr algn="l">
              <a:lnSpc>
                <a:spcPct val="120000"/>
              </a:lnSpc>
            </a:pPr>
            <a:r>
              <a:rPr sz="1500" b="0">
                <a:solidFill>
                  <a:srgbClr val="17161C"/>
                </a:solidFill>
                <a:latin typeface="Arial"/>
              </a:rPr>
              <a:t>Needs uv and Git, from the</a:t>
            </a:r>
            <a:br/>
            <a:r>
              <a:rPr sz="1500" b="0">
                <a:solidFill>
                  <a:srgbClr val="17161C"/>
                </a:solidFill>
                <a:latin typeface="Arial"/>
              </a:rPr>
              <a:t>workshop-getting-started guide.</a:t>
            </a:r>
          </a:p>
        </p:txBody>
      </p:sp>
      <p:sp>
        <p:nvSpPr>
          <p:cNvPr id="29" name="TextBox 28"/>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B1063A"/>
        </a:solidFill>
        <a:effectLst/>
      </p:bgPr>
    </p:bg>
    <p:spTree>
      <p:nvGrpSpPr>
        <p:cNvPr id="1" name=""/>
        <p:cNvGrpSpPr/>
        <p:nvPr/>
      </p:nvGrpSpPr>
      <p:grpSpPr/>
      <p:sp>
        <p:nvSpPr>
          <p:cNvPr id="2" name="TextBox 1"/>
          <p:cNvSpPr txBox="1"/>
          <p:nvPr/>
        </p:nvSpPr>
        <p:spPr>
          <a:xfrm>
            <a:off x="1060704" y="2606040"/>
            <a:ext cx="10972800" cy="457200"/>
          </a:xfrm>
          <a:prstGeom prst="rect">
            <a:avLst/>
          </a:prstGeom>
          <a:noFill/>
        </p:spPr>
        <p:txBody>
          <a:bodyPr wrap="square" anchor="t" lIns="0" rIns="0" tIns="0" bIns="0">
            <a:spAutoFit/>
          </a:bodyPr>
          <a:lstStyle/>
          <a:p>
            <a:pPr algn="l">
              <a:lnSpc>
                <a:spcPct val="115000"/>
              </a:lnSpc>
            </a:pPr>
            <a:r>
              <a:rPr sz="2200" b="1" spc="300">
                <a:solidFill>
                  <a:srgbClr val="FFFFFF"/>
                </a:solidFill>
                <a:latin typeface="Arial"/>
              </a:rPr>
              <a:t>01</a:t>
            </a:r>
          </a:p>
        </p:txBody>
      </p:sp>
      <p:sp>
        <p:nvSpPr>
          <p:cNvPr id="3" name="TextBox 2"/>
          <p:cNvSpPr txBox="1"/>
          <p:nvPr/>
        </p:nvSpPr>
        <p:spPr>
          <a:xfrm>
            <a:off x="1060704" y="3154680"/>
            <a:ext cx="15544800" cy="2103120"/>
          </a:xfrm>
          <a:prstGeom prst="rect">
            <a:avLst/>
          </a:prstGeom>
          <a:noFill/>
        </p:spPr>
        <p:txBody>
          <a:bodyPr wrap="square" anchor="b" lIns="0" rIns="0" tIns="0" bIns="0">
            <a:spAutoFit/>
          </a:bodyPr>
          <a:lstStyle/>
          <a:p>
            <a:pPr algn="l">
              <a:lnSpc>
                <a:spcPct val="95000"/>
              </a:lnSpc>
            </a:pPr>
            <a:r>
              <a:rPr sz="6000" b="1">
                <a:solidFill>
                  <a:srgbClr val="FFFFFF"/>
                </a:solidFill>
                <a:latin typeface="Arial"/>
              </a:rPr>
              <a:t>AI SERVICE CENTRE</a:t>
            </a:r>
            <a:br/>
            <a:r>
              <a:rPr sz="6000" b="1">
                <a:solidFill>
                  <a:srgbClr val="FFFFFF"/>
                </a:solidFill>
                <a:latin typeface="Arial"/>
              </a:rPr>
              <a:t>BERLIN-BRANDENBURG</a:t>
            </a:r>
          </a:p>
        </p:txBody>
      </p:sp>
      <p:sp>
        <p:nvSpPr>
          <p:cNvPr id="4" name="Rectangle 3"/>
          <p:cNvSpPr/>
          <p:nvPr/>
        </p:nvSpPr>
        <p:spPr>
          <a:xfrm>
            <a:off x="1060704" y="5486400"/>
            <a:ext cx="160020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 y="5897880"/>
            <a:ext cx="14630400" cy="548640"/>
          </a:xfrm>
          <a:prstGeom prst="rect">
            <a:avLst/>
          </a:prstGeom>
          <a:noFill/>
        </p:spPr>
        <p:txBody>
          <a:bodyPr wrap="square" anchor="t" lIns="0" rIns="0" tIns="0" bIns="0">
            <a:spAutoFit/>
          </a:bodyPr>
          <a:lstStyle/>
          <a:p>
            <a:pPr algn="l">
              <a:lnSpc>
                <a:spcPct val="115000"/>
              </a:lnSpc>
            </a:pPr>
            <a:r>
              <a:rPr sz="2400" b="0">
                <a:solidFill>
                  <a:srgbClr val="FFFFFF"/>
                </a:solidFill>
                <a:latin typeface="Arial"/>
              </a:rPr>
              <a:t>Who we are and what you can use.</a:t>
            </a:r>
          </a:p>
        </p:txBody>
      </p:sp>
      <p:sp>
        <p:nvSpPr>
          <p:cNvPr id="6" name="Freeform 5"/>
          <p:cNvSpPr/>
          <p:nvPr/>
        </p:nvSpPr>
        <p:spPr>
          <a:xfrm>
            <a:off x="0" y="8229600"/>
            <a:ext cx="4572000" cy="1828800"/>
          </a:xfrm>
          <a:custGeom>
            <a:avLst/>
            <a:gdLst/>
            <a:ahLst/>
            <a:cxnLst/>
            <a:rect l="l" t="t" r="r" b="b"/>
            <a:pathLst>
              <a:path w="5" h="2">
                <a:moveTo>
                  <a:pt x="0" y="0"/>
                </a:moveTo>
                <a:lnTo>
                  <a:pt x="5" y="2"/>
                </a:lnTo>
                <a:lnTo>
                  <a:pt x="0" y="2"/>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go-bmftr.png"/>
          <p:cNvPicPr>
            <a:picLocks noChangeAspect="1"/>
          </p:cNvPicPr>
          <p:nvPr/>
        </p:nvPicPr>
        <p:blipFill>
          <a:blip r:embed="rId2"/>
          <a:stretch>
            <a:fillRect/>
          </a:stretch>
        </p:blipFill>
        <p:spPr>
          <a:xfrm>
            <a:off x="45720" y="8915400"/>
            <a:ext cx="2395728" cy="1599029"/>
          </a:xfrm>
          <a:prstGeom prst="rect">
            <a:avLst/>
          </a:prstGeom>
        </p:spPr>
      </p:pic>
      <p:sp>
        <p:nvSpPr>
          <p:cNvPr id="8" name="TextBox 7"/>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07207" y="5321808"/>
            <a:ext cx="6473951"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AI SERVICE CENTRES</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FOUR AI SERVICE CENTRES</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pic>
        <p:nvPicPr>
          <p:cNvPr id="7" name="Picture 6" descr="qr-kisz.png"/>
          <p:cNvPicPr>
            <a:picLocks noChangeAspect="1"/>
          </p:cNvPicPr>
          <p:nvPr/>
        </p:nvPicPr>
        <p:blipFill>
          <a:blip r:embed="rId4"/>
          <a:stretch>
            <a:fillRect/>
          </a:stretch>
        </p:blipFill>
        <p:spPr>
          <a:xfrm>
            <a:off x="1143000" y="2514600"/>
            <a:ext cx="2606040" cy="2606040"/>
          </a:xfrm>
          <a:prstGeom prst="rect">
            <a:avLst/>
          </a:prstGeom>
        </p:spPr>
      </p:pic>
      <p:sp>
        <p:nvSpPr>
          <p:cNvPr id="8" name="TextBox 7"/>
          <p:cNvSpPr txBox="1"/>
          <p:nvPr/>
        </p:nvSpPr>
        <p:spPr>
          <a:xfrm>
            <a:off x="1143000" y="5166360"/>
            <a:ext cx="2606040" cy="320040"/>
          </a:xfrm>
          <a:prstGeom prst="rect">
            <a:avLst/>
          </a:prstGeom>
          <a:noFill/>
        </p:spPr>
        <p:txBody>
          <a:bodyPr wrap="square" anchor="t" lIns="0" rIns="0" tIns="0" bIns="0">
            <a:spAutoFit/>
          </a:bodyPr>
          <a:lstStyle/>
          <a:p>
            <a:pPr algn="ctr">
              <a:lnSpc>
                <a:spcPct val="115000"/>
              </a:lnSpc>
            </a:pPr>
            <a:r>
              <a:rPr sz="1300" b="0">
                <a:solidFill>
                  <a:srgbClr val="5A6065"/>
                </a:solidFill>
                <a:latin typeface="Arial"/>
              </a:rPr>
              <a:t>hpi.de/ki-servicezentrum</a:t>
            </a:r>
          </a:p>
        </p:txBody>
      </p:sp>
      <p:pic>
        <p:nvPicPr>
          <p:cNvPr id="9" name="Picture 8" descr="map-germany.png"/>
          <p:cNvPicPr>
            <a:picLocks noChangeAspect="1"/>
          </p:cNvPicPr>
          <p:nvPr/>
        </p:nvPicPr>
        <p:blipFill>
          <a:blip r:embed="rId5"/>
          <a:stretch>
            <a:fillRect/>
          </a:stretch>
        </p:blipFill>
        <p:spPr>
          <a:xfrm>
            <a:off x="4992624" y="1691640"/>
            <a:ext cx="4764024" cy="6338509"/>
          </a:xfrm>
          <a:prstGeom prst="rect">
            <a:avLst/>
          </a:prstGeom>
        </p:spPr>
      </p:pic>
      <p:pic>
        <p:nvPicPr>
          <p:cNvPr id="10" name="Picture 9" descr="map-states.png"/>
          <p:cNvPicPr>
            <a:picLocks noChangeAspect="1"/>
          </p:cNvPicPr>
          <p:nvPr/>
        </p:nvPicPr>
        <p:blipFill>
          <a:blip r:embed="rId6"/>
          <a:stretch>
            <a:fillRect/>
          </a:stretch>
        </p:blipFill>
        <p:spPr>
          <a:xfrm>
            <a:off x="4992624" y="1810512"/>
            <a:ext cx="4745736" cy="6267480"/>
          </a:xfrm>
          <a:prstGeom prst="rect">
            <a:avLst/>
          </a:prstGeom>
        </p:spPr>
      </p:pic>
      <p:sp>
        <p:nvSpPr>
          <p:cNvPr id="11" name="Oval 10"/>
          <p:cNvSpPr/>
          <p:nvPr/>
        </p:nvSpPr>
        <p:spPr>
          <a:xfrm>
            <a:off x="7031736" y="3675888"/>
            <a:ext cx="109728" cy="109728"/>
          </a:xfrm>
          <a:prstGeom prst="ellipse">
            <a:avLst/>
          </a:prstGeom>
          <a:solidFill>
            <a:srgbClr val="1BA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077456" y="4407408"/>
            <a:ext cx="109728" cy="109728"/>
          </a:xfrm>
          <a:prstGeom prst="ellipse">
            <a:avLst/>
          </a:prstGeom>
          <a:solidFill>
            <a:srgbClr val="1BA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03136" y="4700016"/>
            <a:ext cx="109728" cy="109728"/>
          </a:xfrm>
          <a:prstGeom prst="ellipse">
            <a:avLst/>
          </a:prstGeom>
          <a:solidFill>
            <a:srgbClr val="1BA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7306056" y="4462272"/>
            <a:ext cx="438912" cy="0"/>
          </a:xfrm>
          <a:prstGeom prst="line">
            <a:avLst/>
          </a:prstGeom>
          <a:ln w="28575">
            <a:solidFill>
              <a:srgbClr val="1BABE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744968" y="2560320"/>
            <a:ext cx="2148840" cy="1901952"/>
          </a:xfrm>
          <a:prstGeom prst="line">
            <a:avLst/>
          </a:prstGeom>
          <a:ln w="28575">
            <a:solidFill>
              <a:srgbClr val="1BABE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893808" y="2560320"/>
            <a:ext cx="2350008" cy="0"/>
          </a:xfrm>
          <a:prstGeom prst="line">
            <a:avLst/>
          </a:prstGeom>
          <a:ln w="28575">
            <a:solidFill>
              <a:srgbClr val="1BABE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12152376" y="2468879"/>
            <a:ext cx="182880" cy="182880"/>
          </a:xfrm>
          <a:prstGeom prst="ellipse">
            <a:avLst/>
          </a:prstGeom>
          <a:solidFill>
            <a:srgbClr val="1BA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ogo-kisski.png"/>
          <p:cNvPicPr>
            <a:picLocks noChangeAspect="1"/>
          </p:cNvPicPr>
          <p:nvPr/>
        </p:nvPicPr>
        <p:blipFill>
          <a:blip r:embed="rId7"/>
          <a:stretch>
            <a:fillRect/>
          </a:stretch>
        </p:blipFill>
        <p:spPr>
          <a:xfrm>
            <a:off x="10835640" y="2148840"/>
            <a:ext cx="1234440" cy="355903"/>
          </a:xfrm>
          <a:prstGeom prst="rect">
            <a:avLst/>
          </a:prstGeom>
        </p:spPr>
      </p:pic>
      <p:sp>
        <p:nvSpPr>
          <p:cNvPr id="19" name="TextBox 18"/>
          <p:cNvSpPr txBox="1"/>
          <p:nvPr/>
        </p:nvSpPr>
        <p:spPr>
          <a:xfrm>
            <a:off x="12527280" y="2103120"/>
            <a:ext cx="5669280" cy="365760"/>
          </a:xfrm>
          <a:prstGeom prst="rect">
            <a:avLst/>
          </a:prstGeom>
          <a:noFill/>
        </p:spPr>
        <p:txBody>
          <a:bodyPr wrap="square" anchor="t" lIns="0" rIns="0" tIns="0" bIns="0">
            <a:spAutoFit/>
          </a:bodyPr>
          <a:lstStyle/>
          <a:p>
            <a:pPr algn="l">
              <a:lnSpc>
                <a:spcPct val="115000"/>
              </a:lnSpc>
            </a:pPr>
            <a:r>
              <a:rPr sz="1900" b="1">
                <a:solidFill>
                  <a:srgbClr val="1BABE3"/>
                </a:solidFill>
                <a:latin typeface="Arial"/>
              </a:rPr>
              <a:t>Göttingen | Kassel | Hannover</a:t>
            </a:r>
          </a:p>
        </p:txBody>
      </p:sp>
      <p:sp>
        <p:nvSpPr>
          <p:cNvPr id="20" name="TextBox 19"/>
          <p:cNvSpPr txBox="1"/>
          <p:nvPr/>
        </p:nvSpPr>
        <p:spPr>
          <a:xfrm>
            <a:off x="12527280" y="2514600"/>
            <a:ext cx="5486400" cy="731520"/>
          </a:xfrm>
          <a:prstGeom prst="rect">
            <a:avLst/>
          </a:prstGeom>
          <a:noFill/>
        </p:spPr>
        <p:txBody>
          <a:bodyPr wrap="square" anchor="t" lIns="0" rIns="0" tIns="0" bIns="0">
            <a:spAutoFit/>
          </a:bodyPr>
          <a:lstStyle/>
          <a:p>
            <a:pPr algn="l">
              <a:lnSpc>
                <a:spcPct val="115000"/>
              </a:lnSpc>
            </a:pPr>
            <a:r>
              <a:rPr sz="1600" b="0">
                <a:solidFill>
                  <a:srgbClr val="17161C"/>
                </a:solidFill>
                <a:latin typeface="Arial"/>
              </a:rPr>
              <a:t>Sensitive and critical infrastructure, medicine &amp; energy</a:t>
            </a:r>
          </a:p>
        </p:txBody>
      </p:sp>
      <p:sp>
        <p:nvSpPr>
          <p:cNvPr id="21" name="Oval 20"/>
          <p:cNvSpPr/>
          <p:nvPr/>
        </p:nvSpPr>
        <p:spPr>
          <a:xfrm>
            <a:off x="8677656" y="3867912"/>
            <a:ext cx="109728" cy="109728"/>
          </a:xfrm>
          <a:prstGeom prst="ellipse">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8732520" y="3922776"/>
            <a:ext cx="3511296" cy="0"/>
          </a:xfrm>
          <a:prstGeom prst="line">
            <a:avLst/>
          </a:prstGeom>
          <a:ln w="28575">
            <a:solidFill>
              <a:srgbClr val="DD6108"/>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12152376" y="3831336"/>
            <a:ext cx="182880" cy="182880"/>
          </a:xfrm>
          <a:prstGeom prst="ellipse">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logo-kisz-small.png"/>
          <p:cNvPicPr>
            <a:picLocks noChangeAspect="1"/>
          </p:cNvPicPr>
          <p:nvPr/>
        </p:nvPicPr>
        <p:blipFill>
          <a:blip r:embed="rId8"/>
          <a:stretch>
            <a:fillRect/>
          </a:stretch>
        </p:blipFill>
        <p:spPr>
          <a:xfrm>
            <a:off x="10835640" y="3474720"/>
            <a:ext cx="1234440" cy="438805"/>
          </a:xfrm>
          <a:prstGeom prst="rect">
            <a:avLst/>
          </a:prstGeom>
        </p:spPr>
      </p:pic>
      <p:sp>
        <p:nvSpPr>
          <p:cNvPr id="25" name="TextBox 24"/>
          <p:cNvSpPr txBox="1"/>
          <p:nvPr/>
        </p:nvSpPr>
        <p:spPr>
          <a:xfrm>
            <a:off x="12527280" y="3429000"/>
            <a:ext cx="5669280" cy="365760"/>
          </a:xfrm>
          <a:prstGeom prst="rect">
            <a:avLst/>
          </a:prstGeom>
          <a:noFill/>
        </p:spPr>
        <p:txBody>
          <a:bodyPr wrap="square" anchor="t" lIns="0" rIns="0" tIns="0" bIns="0">
            <a:spAutoFit/>
          </a:bodyPr>
          <a:lstStyle/>
          <a:p>
            <a:pPr algn="l">
              <a:lnSpc>
                <a:spcPct val="115000"/>
              </a:lnSpc>
            </a:pPr>
            <a:r>
              <a:rPr sz="1900" b="1">
                <a:solidFill>
                  <a:srgbClr val="DD6108"/>
                </a:solidFill>
                <a:latin typeface="Arial"/>
              </a:rPr>
              <a:t>Potsdam | Berlin</a:t>
            </a:r>
          </a:p>
        </p:txBody>
      </p:sp>
      <p:sp>
        <p:nvSpPr>
          <p:cNvPr id="26" name="TextBox 25"/>
          <p:cNvSpPr txBox="1"/>
          <p:nvPr/>
        </p:nvSpPr>
        <p:spPr>
          <a:xfrm>
            <a:off x="12527280" y="3840480"/>
            <a:ext cx="5486400" cy="731520"/>
          </a:xfrm>
          <a:prstGeom prst="rect">
            <a:avLst/>
          </a:prstGeom>
          <a:noFill/>
        </p:spPr>
        <p:txBody>
          <a:bodyPr wrap="square" anchor="t" lIns="0" rIns="0" tIns="0" bIns="0">
            <a:spAutoFit/>
          </a:bodyPr>
          <a:lstStyle/>
          <a:p>
            <a:pPr algn="l">
              <a:lnSpc>
                <a:spcPct val="115000"/>
              </a:lnSpc>
            </a:pPr>
            <a:r>
              <a:rPr sz="1600" b="0">
                <a:solidFill>
                  <a:srgbClr val="17161C"/>
                </a:solidFill>
                <a:latin typeface="Arial"/>
              </a:rPr>
              <a:t>Education and consulting, AI in business &amp; society</a:t>
            </a:r>
          </a:p>
        </p:txBody>
      </p:sp>
      <p:sp>
        <p:nvSpPr>
          <p:cNvPr id="27" name="Oval 26"/>
          <p:cNvSpPr/>
          <p:nvPr/>
        </p:nvSpPr>
        <p:spPr>
          <a:xfrm>
            <a:off x="5769864" y="4507992"/>
            <a:ext cx="109728" cy="109728"/>
          </a:xfrm>
          <a:prstGeom prst="ellipse">
            <a:avLst/>
          </a:prstGeom>
          <a:solidFill>
            <a:srgbClr val="E93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15584" y="4745736"/>
            <a:ext cx="109728" cy="109728"/>
          </a:xfrm>
          <a:prstGeom prst="ellipse">
            <a:avLst/>
          </a:prstGeom>
          <a:solidFill>
            <a:srgbClr val="E93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358384" y="5056632"/>
            <a:ext cx="109728" cy="109728"/>
          </a:xfrm>
          <a:prstGeom prst="ellipse">
            <a:avLst/>
          </a:prstGeom>
          <a:solidFill>
            <a:srgbClr val="E93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193792" y="5157216"/>
            <a:ext cx="109728" cy="109728"/>
          </a:xfrm>
          <a:prstGeom prst="ellipse">
            <a:avLst/>
          </a:prstGeom>
          <a:solidFill>
            <a:srgbClr val="E93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907024" y="5404104"/>
            <a:ext cx="109728" cy="109728"/>
          </a:xfrm>
          <a:prstGeom prst="ellipse">
            <a:avLst/>
          </a:prstGeom>
          <a:solidFill>
            <a:srgbClr val="E93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5897880" y="4617720"/>
            <a:ext cx="658368" cy="429768"/>
          </a:xfrm>
          <a:prstGeom prst="line">
            <a:avLst/>
          </a:prstGeom>
          <a:ln w="28575">
            <a:solidFill>
              <a:srgbClr val="E9358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556248" y="5047488"/>
            <a:ext cx="5687568" cy="0"/>
          </a:xfrm>
          <a:prstGeom prst="line">
            <a:avLst/>
          </a:prstGeom>
          <a:ln w="28575">
            <a:solidFill>
              <a:srgbClr val="E9358D"/>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2152376" y="4956048"/>
            <a:ext cx="182880" cy="182880"/>
          </a:xfrm>
          <a:prstGeom prst="ellipse">
            <a:avLst/>
          </a:prstGeom>
          <a:solidFill>
            <a:srgbClr val="E93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ogo-westai.png"/>
          <p:cNvPicPr>
            <a:picLocks noChangeAspect="1"/>
          </p:cNvPicPr>
          <p:nvPr/>
        </p:nvPicPr>
        <p:blipFill>
          <a:blip r:embed="rId9"/>
          <a:stretch>
            <a:fillRect/>
          </a:stretch>
        </p:blipFill>
        <p:spPr>
          <a:xfrm>
            <a:off x="10835640" y="4617720"/>
            <a:ext cx="1234440" cy="277447"/>
          </a:xfrm>
          <a:prstGeom prst="rect">
            <a:avLst/>
          </a:prstGeom>
        </p:spPr>
      </p:pic>
      <p:sp>
        <p:nvSpPr>
          <p:cNvPr id="36" name="TextBox 35"/>
          <p:cNvSpPr txBox="1"/>
          <p:nvPr/>
        </p:nvSpPr>
        <p:spPr>
          <a:xfrm>
            <a:off x="12527280" y="4572000"/>
            <a:ext cx="5669280" cy="365760"/>
          </a:xfrm>
          <a:prstGeom prst="rect">
            <a:avLst/>
          </a:prstGeom>
          <a:noFill/>
        </p:spPr>
        <p:txBody>
          <a:bodyPr wrap="square" anchor="t" lIns="0" rIns="0" tIns="0" bIns="0">
            <a:spAutoFit/>
          </a:bodyPr>
          <a:lstStyle/>
          <a:p>
            <a:pPr algn="l">
              <a:lnSpc>
                <a:spcPct val="115000"/>
              </a:lnSpc>
            </a:pPr>
            <a:r>
              <a:rPr sz="1900" b="1">
                <a:solidFill>
                  <a:srgbClr val="E9358D"/>
                </a:solidFill>
                <a:latin typeface="Arial"/>
              </a:rPr>
              <a:t>Bonn | St. Augustin | Aachen | Jülich | Dortmund</a:t>
            </a:r>
          </a:p>
        </p:txBody>
      </p:sp>
      <p:sp>
        <p:nvSpPr>
          <p:cNvPr id="37" name="TextBox 36"/>
          <p:cNvSpPr txBox="1"/>
          <p:nvPr/>
        </p:nvSpPr>
        <p:spPr>
          <a:xfrm>
            <a:off x="12527280" y="4983480"/>
            <a:ext cx="5486400" cy="731520"/>
          </a:xfrm>
          <a:prstGeom prst="rect">
            <a:avLst/>
          </a:prstGeom>
          <a:noFill/>
        </p:spPr>
        <p:txBody>
          <a:bodyPr wrap="square" anchor="t" lIns="0" rIns="0" tIns="0" bIns="0">
            <a:spAutoFit/>
          </a:bodyPr>
          <a:lstStyle/>
          <a:p>
            <a:pPr algn="l">
              <a:lnSpc>
                <a:spcPct val="115000"/>
              </a:lnSpc>
            </a:pPr>
            <a:r>
              <a:rPr sz="1600" b="0">
                <a:solidFill>
                  <a:srgbClr val="17161C"/>
                </a:solidFill>
                <a:latin typeface="Arial"/>
              </a:rPr>
              <a:t>AI hardware, consulting and training; multimodal and transferable models</a:t>
            </a:r>
          </a:p>
        </p:txBody>
      </p:sp>
      <p:sp>
        <p:nvSpPr>
          <p:cNvPr id="38" name="Oval 37"/>
          <p:cNvSpPr/>
          <p:nvPr/>
        </p:nvSpPr>
        <p:spPr>
          <a:xfrm>
            <a:off x="6318504" y="5650992"/>
            <a:ext cx="109728" cy="109728"/>
          </a:xfrm>
          <a:prstGeom prst="ellipse">
            <a:avLst/>
          </a:prstGeom>
          <a:solidFill>
            <a:srgbClr val="8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6556248" y="5705856"/>
            <a:ext cx="2221992" cy="0"/>
          </a:xfrm>
          <a:prstGeom prst="line">
            <a:avLst/>
          </a:prstGeom>
          <a:ln w="28575">
            <a:solidFill>
              <a:srgbClr val="8A6AF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778240" y="5705856"/>
            <a:ext cx="1097280" cy="512064"/>
          </a:xfrm>
          <a:prstGeom prst="line">
            <a:avLst/>
          </a:prstGeom>
          <a:ln w="28575">
            <a:solidFill>
              <a:srgbClr val="8A6AF4"/>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875520" y="6217920"/>
            <a:ext cx="2368296" cy="0"/>
          </a:xfrm>
          <a:prstGeom prst="line">
            <a:avLst/>
          </a:prstGeom>
          <a:ln w="28575">
            <a:solidFill>
              <a:srgbClr val="8A6AF4"/>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12152376" y="6126480"/>
            <a:ext cx="182880" cy="182880"/>
          </a:xfrm>
          <a:prstGeom prst="ellipse">
            <a:avLst/>
          </a:prstGeom>
          <a:solidFill>
            <a:srgbClr val="8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logo-hessian.png"/>
          <p:cNvPicPr>
            <a:picLocks noChangeAspect="1"/>
          </p:cNvPicPr>
          <p:nvPr/>
        </p:nvPicPr>
        <p:blipFill>
          <a:blip r:embed="rId10"/>
          <a:stretch>
            <a:fillRect/>
          </a:stretch>
        </p:blipFill>
        <p:spPr>
          <a:xfrm>
            <a:off x="10835640" y="5852160"/>
            <a:ext cx="1234440" cy="430889"/>
          </a:xfrm>
          <a:prstGeom prst="rect">
            <a:avLst/>
          </a:prstGeom>
        </p:spPr>
      </p:pic>
      <p:sp>
        <p:nvSpPr>
          <p:cNvPr id="44" name="TextBox 43"/>
          <p:cNvSpPr txBox="1"/>
          <p:nvPr/>
        </p:nvSpPr>
        <p:spPr>
          <a:xfrm>
            <a:off x="12527280" y="5806440"/>
            <a:ext cx="5669280" cy="365760"/>
          </a:xfrm>
          <a:prstGeom prst="rect">
            <a:avLst/>
          </a:prstGeom>
          <a:noFill/>
        </p:spPr>
        <p:txBody>
          <a:bodyPr wrap="square" anchor="t" lIns="0" rIns="0" tIns="0" bIns="0">
            <a:spAutoFit/>
          </a:bodyPr>
          <a:lstStyle/>
          <a:p>
            <a:pPr algn="l">
              <a:lnSpc>
                <a:spcPct val="115000"/>
              </a:lnSpc>
            </a:pPr>
            <a:r>
              <a:rPr sz="1900" b="1">
                <a:solidFill>
                  <a:srgbClr val="8A6AF4"/>
                </a:solidFill>
                <a:latin typeface="Arial"/>
              </a:rPr>
              <a:t>Darmstadt</a:t>
            </a:r>
          </a:p>
        </p:txBody>
      </p:sp>
      <p:sp>
        <p:nvSpPr>
          <p:cNvPr id="45" name="TextBox 44"/>
          <p:cNvSpPr txBox="1"/>
          <p:nvPr/>
        </p:nvSpPr>
        <p:spPr>
          <a:xfrm>
            <a:off x="12527280" y="6217920"/>
            <a:ext cx="5486400" cy="731520"/>
          </a:xfrm>
          <a:prstGeom prst="rect">
            <a:avLst/>
          </a:prstGeom>
          <a:noFill/>
        </p:spPr>
        <p:txBody>
          <a:bodyPr wrap="square" anchor="t" lIns="0" rIns="0" tIns="0" bIns="0">
            <a:spAutoFit/>
          </a:bodyPr>
          <a:lstStyle/>
          <a:p>
            <a:pPr algn="l">
              <a:lnSpc>
                <a:spcPct val="115000"/>
              </a:lnSpc>
            </a:pPr>
            <a:r>
              <a:rPr sz="1600" b="0">
                <a:solidFill>
                  <a:srgbClr val="17161C"/>
                </a:solidFill>
                <a:latin typeface="Arial"/>
              </a:rPr>
              <a:t>Explainability, generalisability and contextual adaptation</a:t>
            </a:r>
          </a:p>
        </p:txBody>
      </p:sp>
      <p:pic>
        <p:nvPicPr>
          <p:cNvPr id="46" name="Picture 45" descr="logo-centres.png"/>
          <p:cNvPicPr>
            <a:picLocks noChangeAspect="1"/>
          </p:cNvPicPr>
          <p:nvPr/>
        </p:nvPicPr>
        <p:blipFill>
          <a:blip r:embed="rId11"/>
          <a:stretch>
            <a:fillRect/>
          </a:stretch>
        </p:blipFill>
        <p:spPr>
          <a:xfrm>
            <a:off x="5495544" y="8659368"/>
            <a:ext cx="4096512" cy="1478046"/>
          </a:xfrm>
          <a:prstGeom prst="rect">
            <a:avLst/>
          </a:prstGeom>
        </p:spPr>
      </p:pic>
      <p:sp>
        <p:nvSpPr>
          <p:cNvPr id="47" name="TextBox 46"/>
          <p:cNvSpPr txBox="1"/>
          <p:nvPr/>
        </p:nvSpPr>
        <p:spPr>
          <a:xfrm>
            <a:off x="13898880" y="8138160"/>
            <a:ext cx="4206240" cy="1645920"/>
          </a:xfrm>
          <a:prstGeom prst="rect">
            <a:avLst/>
          </a:prstGeom>
          <a:noFill/>
        </p:spPr>
        <p:txBody>
          <a:bodyPr wrap="square" anchor="t" lIns="0" rIns="0" tIns="0" bIns="0">
            <a:spAutoFit/>
          </a:bodyPr>
          <a:lstStyle/>
          <a:p>
            <a:pPr algn="l">
              <a:lnSpc>
                <a:spcPct val="115000"/>
              </a:lnSpc>
            </a:pPr>
            <a:r>
              <a:rPr sz="1800" b="1">
                <a:solidFill>
                  <a:srgbClr val="17161C"/>
                </a:solidFill>
                <a:latin typeface="Arial"/>
              </a:rPr>
              <a:t>Goal: </a:t>
            </a:r>
            <a:r>
              <a:rPr sz="1800" b="1">
                <a:solidFill>
                  <a:srgbClr val="17161C"/>
                </a:solidFill>
                <a:latin typeface="Arial"/>
              </a:rPr>
              <a:t>lower the barriers to putting AI to work in society and business</a:t>
            </a:r>
          </a:p>
        </p:txBody>
      </p:sp>
      <p:sp>
        <p:nvSpPr>
          <p:cNvPr id="48" name="TextBox 47"/>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EDUCATION</a:t>
            </a:r>
          </a:p>
        </p:txBody>
      </p:sp>
      <p:pic>
        <p:nvPicPr>
          <p:cNvPr id="4" name="Picture 3" descr="qr-newsletter.png"/>
          <p:cNvPicPr>
            <a:picLocks noChangeAspect="1"/>
          </p:cNvPicPr>
          <p:nvPr/>
        </p:nvPicPr>
        <p:blipFill>
          <a:blip r:embed="rId2"/>
          <a:stretch>
            <a:fillRect/>
          </a:stretch>
        </p:blipFill>
        <p:spPr>
          <a:xfrm>
            <a:off x="1060704" y="2194560"/>
            <a:ext cx="2606040" cy="2606040"/>
          </a:xfrm>
          <a:prstGeom prst="rect">
            <a:avLst/>
          </a:prstGeom>
        </p:spPr>
      </p:pic>
      <p:sp>
        <p:nvSpPr>
          <p:cNvPr id="5" name="TextBox 4"/>
          <p:cNvSpPr txBox="1"/>
          <p:nvPr/>
        </p:nvSpPr>
        <p:spPr>
          <a:xfrm>
            <a:off x="1060704" y="4846320"/>
            <a:ext cx="2606040" cy="320040"/>
          </a:xfrm>
          <a:prstGeom prst="rect">
            <a:avLst/>
          </a:prstGeom>
          <a:noFill/>
        </p:spPr>
        <p:txBody>
          <a:bodyPr wrap="square" anchor="t" lIns="0" rIns="0" tIns="0" bIns="0">
            <a:spAutoFit/>
          </a:bodyPr>
          <a:lstStyle/>
          <a:p>
            <a:pPr algn="ctr">
              <a:lnSpc>
                <a:spcPct val="115000"/>
              </a:lnSpc>
            </a:pPr>
            <a:r>
              <a:rPr sz="1500" b="1">
                <a:solidFill>
                  <a:srgbClr val="5A6065"/>
                </a:solidFill>
                <a:latin typeface="Arial"/>
              </a:rPr>
              <a:t>Newsletter</a:t>
            </a:r>
          </a:p>
        </p:txBody>
      </p:sp>
      <p:sp>
        <p:nvSpPr>
          <p:cNvPr id="6" name="Rectangle 5"/>
          <p:cNvSpPr/>
          <p:nvPr/>
        </p:nvSpPr>
        <p:spPr>
          <a:xfrm>
            <a:off x="4864608" y="502920"/>
            <a:ext cx="1600200" cy="155448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64608" y="502920"/>
            <a:ext cx="1600200" cy="1554480"/>
          </a:xfrm>
          <a:prstGeom prst="rect">
            <a:avLst/>
          </a:prstGeom>
          <a:noFill/>
        </p:spPr>
        <p:txBody>
          <a:bodyPr wrap="square" anchor="ctr" lIns="0" rIns="0" tIns="0" bIns="0">
            <a:spAutoFit/>
          </a:bodyPr>
          <a:lstStyle/>
          <a:p>
            <a:pPr algn="ctr">
              <a:lnSpc>
                <a:spcPct val="100000"/>
              </a:lnSpc>
            </a:pPr>
            <a:r>
              <a:rPr sz="2100" b="1">
                <a:solidFill>
                  <a:srgbClr val="FFFFFF"/>
                </a:solidFill>
                <a:latin typeface="Arial"/>
              </a:rPr>
              <a:t>Talks</a:t>
            </a:r>
          </a:p>
        </p:txBody>
      </p:sp>
      <p:pic>
        <p:nvPicPr>
          <p:cNvPr id="8" name="Picture 7" descr="qr-talks.png"/>
          <p:cNvPicPr>
            <a:picLocks noChangeAspect="1"/>
          </p:cNvPicPr>
          <p:nvPr/>
        </p:nvPicPr>
        <p:blipFill>
          <a:blip r:embed="rId3"/>
          <a:stretch>
            <a:fillRect/>
          </a:stretch>
        </p:blipFill>
        <p:spPr>
          <a:xfrm>
            <a:off x="8229600" y="502920"/>
            <a:ext cx="1371600" cy="1371600"/>
          </a:xfrm>
          <a:prstGeom prst="rect">
            <a:avLst/>
          </a:prstGeom>
        </p:spPr>
      </p:pic>
      <p:sp>
        <p:nvSpPr>
          <p:cNvPr id="9" name="TextBox 8"/>
          <p:cNvSpPr txBox="1"/>
          <p:nvPr/>
        </p:nvSpPr>
        <p:spPr>
          <a:xfrm>
            <a:off x="6675120" y="1920240"/>
            <a:ext cx="3108960" cy="320040"/>
          </a:xfrm>
          <a:prstGeom prst="rect">
            <a:avLst/>
          </a:prstGeom>
          <a:noFill/>
        </p:spPr>
        <p:txBody>
          <a:bodyPr wrap="square" anchor="t" lIns="0" rIns="0" tIns="0" bIns="0">
            <a:spAutoFit/>
          </a:bodyPr>
          <a:lstStyle/>
          <a:p>
            <a:pPr algn="r">
              <a:lnSpc>
                <a:spcPct val="115000"/>
              </a:lnSpc>
            </a:pPr>
            <a:r>
              <a:rPr sz="1300" b="1">
                <a:solidFill>
                  <a:srgbClr val="DC640D"/>
                </a:solidFill>
                <a:latin typeface="Arial"/>
              </a:rPr>
              <a:t>tele-task.de/series/1463</a:t>
            </a:r>
          </a:p>
        </p:txBody>
      </p:sp>
      <p:sp>
        <p:nvSpPr>
          <p:cNvPr id="10" name="TextBox 9"/>
          <p:cNvSpPr txBox="1"/>
          <p:nvPr/>
        </p:nvSpPr>
        <p:spPr>
          <a:xfrm>
            <a:off x="4864608" y="2286000"/>
            <a:ext cx="5120640" cy="1371600"/>
          </a:xfrm>
          <a:prstGeom prst="rect">
            <a:avLst/>
          </a:prstGeom>
          <a:noFill/>
        </p:spPr>
        <p:txBody>
          <a:bodyPr wrap="square" anchor="t" lIns="0" rIns="0" tIns="0" bIns="0">
            <a:spAutoFit/>
          </a:bodyPr>
          <a:lstStyle/>
          <a:p>
            <a:pPr algn="l">
              <a:lnSpc>
                <a:spcPct val="115000"/>
              </a:lnSpc>
              <a:spcAft>
                <a:spcPts val="200"/>
              </a:spcAft>
            </a:pPr>
            <a:r>
              <a:rPr sz="1600" b="0">
                <a:solidFill>
                  <a:srgbClr val="17161C"/>
                </a:solidFill>
                <a:latin typeface="Arial"/>
              </a:rPr>
              <a:t>•  Guest talks on research and innovation</a:t>
            </a:r>
          </a:p>
        </p:txBody>
      </p:sp>
      <p:pic>
        <p:nvPicPr>
          <p:cNvPr id="11" name="Picture 10" descr="tile-talk-1.png"/>
          <p:cNvPicPr>
            <a:picLocks noChangeAspect="1"/>
          </p:cNvPicPr>
          <p:nvPr/>
        </p:nvPicPr>
        <p:blipFill>
          <a:blip r:embed="rId4"/>
          <a:stretch>
            <a:fillRect/>
          </a:stretch>
        </p:blipFill>
        <p:spPr>
          <a:xfrm>
            <a:off x="10058400" y="502920"/>
            <a:ext cx="2578608" cy="1450467"/>
          </a:xfrm>
          <a:prstGeom prst="rect">
            <a:avLst/>
          </a:prstGeom>
        </p:spPr>
      </p:pic>
      <p:pic>
        <p:nvPicPr>
          <p:cNvPr id="12" name="Picture 11" descr="tile-talk-2.png"/>
          <p:cNvPicPr>
            <a:picLocks noChangeAspect="1"/>
          </p:cNvPicPr>
          <p:nvPr/>
        </p:nvPicPr>
        <p:blipFill>
          <a:blip r:embed="rId5"/>
          <a:stretch>
            <a:fillRect/>
          </a:stretch>
        </p:blipFill>
        <p:spPr>
          <a:xfrm>
            <a:off x="12801600" y="502920"/>
            <a:ext cx="2578608" cy="1289304"/>
          </a:xfrm>
          <a:prstGeom prst="rect">
            <a:avLst/>
          </a:prstGeom>
        </p:spPr>
      </p:pic>
      <p:pic>
        <p:nvPicPr>
          <p:cNvPr id="13" name="Picture 12" descr="tile-talk-3.jpeg"/>
          <p:cNvPicPr>
            <a:picLocks noChangeAspect="1"/>
          </p:cNvPicPr>
          <p:nvPr/>
        </p:nvPicPr>
        <p:blipFill>
          <a:blip r:embed="rId6"/>
          <a:stretch>
            <a:fillRect/>
          </a:stretch>
        </p:blipFill>
        <p:spPr>
          <a:xfrm>
            <a:off x="15544800" y="502920"/>
            <a:ext cx="2578608" cy="1289304"/>
          </a:xfrm>
          <a:prstGeom prst="rect">
            <a:avLst/>
          </a:prstGeom>
        </p:spPr>
      </p:pic>
      <p:sp>
        <p:nvSpPr>
          <p:cNvPr id="14" name="Rectangle 13"/>
          <p:cNvSpPr/>
          <p:nvPr/>
        </p:nvSpPr>
        <p:spPr>
          <a:xfrm>
            <a:off x="4864608" y="3794760"/>
            <a:ext cx="1600200" cy="1554480"/>
          </a:xfrm>
          <a:prstGeom prst="rect">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64608" y="3794760"/>
            <a:ext cx="1600200" cy="1554480"/>
          </a:xfrm>
          <a:prstGeom prst="rect">
            <a:avLst/>
          </a:prstGeom>
          <a:noFill/>
        </p:spPr>
        <p:txBody>
          <a:bodyPr wrap="square" anchor="ctr" lIns="0" rIns="0" tIns="0" bIns="0">
            <a:spAutoFit/>
          </a:bodyPr>
          <a:lstStyle/>
          <a:p>
            <a:pPr algn="ctr">
              <a:lnSpc>
                <a:spcPct val="100000"/>
              </a:lnSpc>
            </a:pPr>
            <a:r>
              <a:rPr sz="2100" b="1">
                <a:solidFill>
                  <a:srgbClr val="FFFFFF"/>
                </a:solidFill>
                <a:latin typeface="Arial"/>
              </a:rPr>
              <a:t>Work-</a:t>
            </a:r>
            <a:br/>
            <a:r>
              <a:rPr sz="2100" b="1">
                <a:solidFill>
                  <a:srgbClr val="FFFFFF"/>
                </a:solidFill>
                <a:latin typeface="Arial"/>
              </a:rPr>
              <a:t>shops</a:t>
            </a:r>
          </a:p>
        </p:txBody>
      </p:sp>
      <p:pic>
        <p:nvPicPr>
          <p:cNvPr id="16" name="Picture 15" descr="qr-workshops.png"/>
          <p:cNvPicPr>
            <a:picLocks noChangeAspect="1"/>
          </p:cNvPicPr>
          <p:nvPr/>
        </p:nvPicPr>
        <p:blipFill>
          <a:blip r:embed="rId7"/>
          <a:stretch>
            <a:fillRect/>
          </a:stretch>
        </p:blipFill>
        <p:spPr>
          <a:xfrm>
            <a:off x="8229600" y="3794760"/>
            <a:ext cx="1371600" cy="1371600"/>
          </a:xfrm>
          <a:prstGeom prst="rect">
            <a:avLst/>
          </a:prstGeom>
        </p:spPr>
      </p:pic>
      <p:sp>
        <p:nvSpPr>
          <p:cNvPr id="17" name="TextBox 16"/>
          <p:cNvSpPr txBox="1"/>
          <p:nvPr/>
        </p:nvSpPr>
        <p:spPr>
          <a:xfrm>
            <a:off x="6675120" y="5212080"/>
            <a:ext cx="3108960" cy="320040"/>
          </a:xfrm>
          <a:prstGeom prst="rect">
            <a:avLst/>
          </a:prstGeom>
          <a:noFill/>
        </p:spPr>
        <p:txBody>
          <a:bodyPr wrap="square" anchor="t" lIns="0" rIns="0" tIns="0" bIns="0">
            <a:spAutoFit/>
          </a:bodyPr>
          <a:lstStyle/>
          <a:p>
            <a:pPr algn="r">
              <a:lnSpc>
                <a:spcPct val="115000"/>
              </a:lnSpc>
            </a:pPr>
            <a:r>
              <a:rPr sz="1300" b="1">
                <a:solidFill>
                  <a:srgbClr val="DC640D"/>
                </a:solidFill>
                <a:latin typeface="Arial"/>
              </a:rPr>
              <a:t>aimaker.community</a:t>
            </a:r>
          </a:p>
        </p:txBody>
      </p:sp>
      <p:sp>
        <p:nvSpPr>
          <p:cNvPr id="18" name="TextBox 17"/>
          <p:cNvSpPr txBox="1"/>
          <p:nvPr/>
        </p:nvSpPr>
        <p:spPr>
          <a:xfrm>
            <a:off x="4864608" y="5577840"/>
            <a:ext cx="5120640" cy="1371600"/>
          </a:xfrm>
          <a:prstGeom prst="rect">
            <a:avLst/>
          </a:prstGeom>
          <a:noFill/>
        </p:spPr>
        <p:txBody>
          <a:bodyPr wrap="square" anchor="t" lIns="0" rIns="0" tIns="0" bIns="0">
            <a:spAutoFit/>
          </a:bodyPr>
          <a:lstStyle/>
          <a:p>
            <a:pPr algn="l">
              <a:lnSpc>
                <a:spcPct val="115000"/>
              </a:lnSpc>
              <a:spcAft>
                <a:spcPts val="200"/>
              </a:spcAft>
            </a:pPr>
            <a:r>
              <a:rPr sz="1600" b="0">
                <a:solidFill>
                  <a:srgbClr val="17161C"/>
                </a:solidFill>
                <a:latin typeface="Arial"/>
              </a:rPr>
              <a:t>•  Hands-on topics</a:t>
            </a:r>
          </a:p>
          <a:p>
            <a:pPr algn="l">
              <a:lnSpc>
                <a:spcPct val="115000"/>
              </a:lnSpc>
              <a:spcAft>
                <a:spcPts val="200"/>
              </a:spcAft>
            </a:pPr>
            <a:r>
              <a:rPr sz="1600" b="0">
                <a:solidFill>
                  <a:srgbClr val="17161C"/>
                </a:solidFill>
                <a:latin typeface="Arial"/>
              </a:rPr>
              <a:t>•  For example: speech2summary, Docker for ML, semantic search</a:t>
            </a:r>
          </a:p>
        </p:txBody>
      </p:sp>
      <p:pic>
        <p:nvPicPr>
          <p:cNvPr id="19" name="Picture 18" descr="tile-workshop-1.jpeg"/>
          <p:cNvPicPr>
            <a:picLocks noChangeAspect="1"/>
          </p:cNvPicPr>
          <p:nvPr/>
        </p:nvPicPr>
        <p:blipFill>
          <a:blip r:embed="rId8"/>
          <a:stretch>
            <a:fillRect/>
          </a:stretch>
        </p:blipFill>
        <p:spPr>
          <a:xfrm>
            <a:off x="10058400" y="3794760"/>
            <a:ext cx="2578608" cy="1289304"/>
          </a:xfrm>
          <a:prstGeom prst="rect">
            <a:avLst/>
          </a:prstGeom>
        </p:spPr>
      </p:pic>
      <p:pic>
        <p:nvPicPr>
          <p:cNvPr id="20" name="Picture 19" descr="tile-workshop-2.jpeg"/>
          <p:cNvPicPr>
            <a:picLocks noChangeAspect="1"/>
          </p:cNvPicPr>
          <p:nvPr/>
        </p:nvPicPr>
        <p:blipFill>
          <a:blip r:embed="rId9"/>
          <a:stretch>
            <a:fillRect/>
          </a:stretch>
        </p:blipFill>
        <p:spPr>
          <a:xfrm>
            <a:off x="12801600" y="3794760"/>
            <a:ext cx="2578608" cy="1450467"/>
          </a:xfrm>
          <a:prstGeom prst="rect">
            <a:avLst/>
          </a:prstGeom>
        </p:spPr>
      </p:pic>
      <p:pic>
        <p:nvPicPr>
          <p:cNvPr id="21" name="Picture 20" descr="tile-workshop-3.jpeg"/>
          <p:cNvPicPr>
            <a:picLocks noChangeAspect="1"/>
          </p:cNvPicPr>
          <p:nvPr/>
        </p:nvPicPr>
        <p:blipFill>
          <a:blip r:embed="rId10"/>
          <a:stretch>
            <a:fillRect/>
          </a:stretch>
        </p:blipFill>
        <p:spPr>
          <a:xfrm>
            <a:off x="15544800" y="3794760"/>
            <a:ext cx="2578608" cy="1289304"/>
          </a:xfrm>
          <a:prstGeom prst="rect">
            <a:avLst/>
          </a:prstGeom>
        </p:spPr>
      </p:pic>
      <p:sp>
        <p:nvSpPr>
          <p:cNvPr id="22" name="Rectangle 21"/>
          <p:cNvSpPr/>
          <p:nvPr/>
        </p:nvSpPr>
        <p:spPr>
          <a:xfrm>
            <a:off x="4864608" y="7086600"/>
            <a:ext cx="1600200" cy="1554480"/>
          </a:xfrm>
          <a:prstGeom prst="rect">
            <a:avLst/>
          </a:prstGeom>
          <a:solidFill>
            <a:srgbClr val="B10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64608" y="7086600"/>
            <a:ext cx="1600200" cy="1554480"/>
          </a:xfrm>
          <a:prstGeom prst="rect">
            <a:avLst/>
          </a:prstGeom>
          <a:noFill/>
        </p:spPr>
        <p:txBody>
          <a:bodyPr wrap="square" anchor="ctr" lIns="0" rIns="0" tIns="0" bIns="0">
            <a:spAutoFit/>
          </a:bodyPr>
          <a:lstStyle/>
          <a:p>
            <a:pPr algn="ctr">
              <a:lnSpc>
                <a:spcPct val="100000"/>
              </a:lnSpc>
            </a:pPr>
            <a:r>
              <a:rPr sz="2100" b="1">
                <a:solidFill>
                  <a:srgbClr val="FFFFFF"/>
                </a:solidFill>
                <a:latin typeface="Arial"/>
              </a:rPr>
              <a:t>MOOCs</a:t>
            </a:r>
          </a:p>
        </p:txBody>
      </p:sp>
      <p:pic>
        <p:nvPicPr>
          <p:cNvPr id="24" name="Picture 23" descr="qr-moocs.png"/>
          <p:cNvPicPr>
            <a:picLocks noChangeAspect="1"/>
          </p:cNvPicPr>
          <p:nvPr/>
        </p:nvPicPr>
        <p:blipFill>
          <a:blip r:embed="rId11"/>
          <a:stretch>
            <a:fillRect/>
          </a:stretch>
        </p:blipFill>
        <p:spPr>
          <a:xfrm>
            <a:off x="8229600" y="7086600"/>
            <a:ext cx="1371600" cy="1371600"/>
          </a:xfrm>
          <a:prstGeom prst="rect">
            <a:avLst/>
          </a:prstGeom>
        </p:spPr>
      </p:pic>
      <p:sp>
        <p:nvSpPr>
          <p:cNvPr id="25" name="TextBox 24"/>
          <p:cNvSpPr txBox="1"/>
          <p:nvPr/>
        </p:nvSpPr>
        <p:spPr>
          <a:xfrm>
            <a:off x="6675120" y="8503920"/>
            <a:ext cx="3108960" cy="320040"/>
          </a:xfrm>
          <a:prstGeom prst="rect">
            <a:avLst/>
          </a:prstGeom>
          <a:noFill/>
        </p:spPr>
        <p:txBody>
          <a:bodyPr wrap="square" anchor="t" lIns="0" rIns="0" tIns="0" bIns="0">
            <a:spAutoFit/>
          </a:bodyPr>
          <a:lstStyle/>
          <a:p>
            <a:pPr algn="r">
              <a:lnSpc>
                <a:spcPct val="115000"/>
              </a:lnSpc>
            </a:pPr>
            <a:r>
              <a:rPr sz="1300" b="1">
                <a:solidFill>
                  <a:srgbClr val="DC640D"/>
                </a:solidFill>
                <a:latin typeface="Arial"/>
              </a:rPr>
              <a:t>open.hpi.de/channels/ai-service-center</a:t>
            </a:r>
          </a:p>
        </p:txBody>
      </p:sp>
      <p:sp>
        <p:nvSpPr>
          <p:cNvPr id="26" name="TextBox 25"/>
          <p:cNvSpPr txBox="1"/>
          <p:nvPr/>
        </p:nvSpPr>
        <p:spPr>
          <a:xfrm>
            <a:off x="4864608" y="8869680"/>
            <a:ext cx="5120640" cy="1371600"/>
          </a:xfrm>
          <a:prstGeom prst="rect">
            <a:avLst/>
          </a:prstGeom>
          <a:noFill/>
        </p:spPr>
        <p:txBody>
          <a:bodyPr wrap="square" anchor="t" lIns="0" rIns="0" tIns="0" bIns="0">
            <a:spAutoFit/>
          </a:bodyPr>
          <a:lstStyle/>
          <a:p>
            <a:pPr algn="l">
              <a:lnSpc>
                <a:spcPct val="115000"/>
              </a:lnSpc>
              <a:spcAft>
                <a:spcPts val="200"/>
              </a:spcAft>
            </a:pPr>
            <a:r>
              <a:rPr sz="1600" b="0">
                <a:solidFill>
                  <a:srgbClr val="17161C"/>
                </a:solidFill>
                <a:latin typeface="Arial"/>
              </a:rPr>
              <a:t>•  ChatGPT: what does generative AI mean for society?</a:t>
            </a:r>
          </a:p>
          <a:p>
            <a:pPr algn="l">
              <a:lnSpc>
                <a:spcPct val="115000"/>
              </a:lnSpc>
              <a:spcAft>
                <a:spcPts val="200"/>
              </a:spcAft>
            </a:pPr>
            <a:r>
              <a:rPr sz="1600" b="0">
                <a:solidFill>
                  <a:srgbClr val="17161C"/>
                </a:solidFill>
                <a:latin typeface="Arial"/>
              </a:rPr>
              <a:t>•  Profitable AI</a:t>
            </a:r>
          </a:p>
          <a:p>
            <a:pPr algn="l">
              <a:lnSpc>
                <a:spcPct val="115000"/>
              </a:lnSpc>
              <a:spcAft>
                <a:spcPts val="200"/>
              </a:spcAft>
            </a:pPr>
            <a:r>
              <a:rPr sz="1600" b="0">
                <a:solidFill>
                  <a:srgbClr val="17161C"/>
                </a:solidFill>
                <a:latin typeface="Arial"/>
              </a:rPr>
              <a:t>•  Understanding and avoiding AI bias</a:t>
            </a:r>
          </a:p>
        </p:txBody>
      </p:sp>
      <p:pic>
        <p:nvPicPr>
          <p:cNvPr id="27" name="Picture 26" descr="tile-mooc-1.jpeg"/>
          <p:cNvPicPr>
            <a:picLocks noChangeAspect="1"/>
          </p:cNvPicPr>
          <p:nvPr/>
        </p:nvPicPr>
        <p:blipFill>
          <a:blip r:embed="rId12"/>
          <a:stretch>
            <a:fillRect/>
          </a:stretch>
        </p:blipFill>
        <p:spPr>
          <a:xfrm>
            <a:off x="10058400" y="7086600"/>
            <a:ext cx="2578608" cy="1289304"/>
          </a:xfrm>
          <a:prstGeom prst="rect">
            <a:avLst/>
          </a:prstGeom>
        </p:spPr>
      </p:pic>
      <p:pic>
        <p:nvPicPr>
          <p:cNvPr id="28" name="Picture 27" descr="tile-mooc-2.png"/>
          <p:cNvPicPr>
            <a:picLocks noChangeAspect="1"/>
          </p:cNvPicPr>
          <p:nvPr/>
        </p:nvPicPr>
        <p:blipFill>
          <a:blip r:embed="rId13"/>
          <a:stretch>
            <a:fillRect/>
          </a:stretch>
        </p:blipFill>
        <p:spPr>
          <a:xfrm>
            <a:off x="12801600" y="7086600"/>
            <a:ext cx="2578608" cy="1450467"/>
          </a:xfrm>
          <a:prstGeom prst="rect">
            <a:avLst/>
          </a:prstGeom>
        </p:spPr>
      </p:pic>
      <p:pic>
        <p:nvPicPr>
          <p:cNvPr id="29" name="Picture 28" descr="tile-mooc-3.jpeg"/>
          <p:cNvPicPr>
            <a:picLocks noChangeAspect="1"/>
          </p:cNvPicPr>
          <p:nvPr/>
        </p:nvPicPr>
        <p:blipFill>
          <a:blip r:embed="rId14"/>
          <a:stretch>
            <a:fillRect/>
          </a:stretch>
        </p:blipFill>
        <p:spPr>
          <a:xfrm>
            <a:off x="15544800" y="7086600"/>
            <a:ext cx="2578608" cy="1289304"/>
          </a:xfrm>
          <a:prstGeom prst="rect">
            <a:avLst/>
          </a:prstGeom>
        </p:spPr>
      </p:pic>
      <p:sp>
        <p:nvSpPr>
          <p:cNvPr id="30" name="TextBox 29"/>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30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INFRASTRUCTURE</a:t>
            </a:r>
          </a:p>
        </p:txBody>
      </p:sp>
      <p:pic>
        <p:nvPicPr>
          <p:cNvPr id="4" name="Picture 3" descr="logo-kisz.png"/>
          <p:cNvPicPr>
            <a:picLocks noChangeAspect="1"/>
          </p:cNvPicPr>
          <p:nvPr/>
        </p:nvPicPr>
        <p:blipFill>
          <a:blip r:embed="rId2"/>
          <a:stretch>
            <a:fillRect/>
          </a:stretch>
        </p:blipFill>
        <p:spPr>
          <a:xfrm>
            <a:off x="15334488" y="393192"/>
            <a:ext cx="2560320" cy="905528"/>
          </a:xfrm>
          <a:prstGeom prst="rect">
            <a:avLst/>
          </a:prstGeom>
        </p:spPr>
      </p:pic>
      <p:pic>
        <p:nvPicPr>
          <p:cNvPr id="5" name="Picture 4" descr="qr-aisc.png"/>
          <p:cNvPicPr>
            <a:picLocks noChangeAspect="1"/>
          </p:cNvPicPr>
          <p:nvPr/>
        </p:nvPicPr>
        <p:blipFill>
          <a:blip r:embed="rId3"/>
          <a:stretch>
            <a:fillRect/>
          </a:stretch>
        </p:blipFill>
        <p:spPr>
          <a:xfrm>
            <a:off x="1463040" y="2514600"/>
            <a:ext cx="2606040" cy="2606040"/>
          </a:xfrm>
          <a:prstGeom prst="rect">
            <a:avLst/>
          </a:prstGeom>
        </p:spPr>
      </p:pic>
      <p:sp>
        <p:nvSpPr>
          <p:cNvPr id="6" name="TextBox 5"/>
          <p:cNvSpPr txBox="1"/>
          <p:nvPr/>
        </p:nvSpPr>
        <p:spPr>
          <a:xfrm>
            <a:off x="1463040" y="5166360"/>
            <a:ext cx="2606040" cy="320040"/>
          </a:xfrm>
          <a:prstGeom prst="rect">
            <a:avLst/>
          </a:prstGeom>
          <a:noFill/>
        </p:spPr>
        <p:txBody>
          <a:bodyPr wrap="square" anchor="t" lIns="0" rIns="0" tIns="0" bIns="0">
            <a:spAutoFit/>
          </a:bodyPr>
          <a:lstStyle/>
          <a:p>
            <a:pPr algn="ctr">
              <a:lnSpc>
                <a:spcPct val="115000"/>
              </a:lnSpc>
            </a:pPr>
            <a:r>
              <a:rPr sz="1300" b="0">
                <a:solidFill>
                  <a:srgbClr val="5A6065"/>
                </a:solidFill>
                <a:latin typeface="Arial"/>
              </a:rPr>
              <a:t>aisc.hpi.de · request access</a:t>
            </a:r>
          </a:p>
        </p:txBody>
      </p:sp>
      <p:pic>
        <p:nvPicPr>
          <p:cNvPr id="7" name="Picture 6" descr="compute-banner.jpeg"/>
          <p:cNvPicPr>
            <a:picLocks noChangeAspect="1"/>
          </p:cNvPicPr>
          <p:nvPr/>
        </p:nvPicPr>
        <p:blipFill>
          <a:blip r:embed="rId4"/>
          <a:stretch>
            <a:fillRect/>
          </a:stretch>
        </p:blipFill>
        <p:spPr>
          <a:xfrm>
            <a:off x="4654296" y="1828800"/>
            <a:ext cx="6400800" cy="3600450"/>
          </a:xfrm>
          <a:prstGeom prst="rect">
            <a:avLst/>
          </a:prstGeom>
        </p:spPr>
      </p:pic>
      <p:pic>
        <p:nvPicPr>
          <p:cNvPr id="8" name="Picture 7" descr="compute-racks.jpeg"/>
          <p:cNvPicPr>
            <a:picLocks noChangeAspect="1"/>
          </p:cNvPicPr>
          <p:nvPr/>
        </p:nvPicPr>
        <p:blipFill>
          <a:blip r:embed="rId5"/>
          <a:stretch>
            <a:fillRect/>
          </a:stretch>
        </p:blipFill>
        <p:spPr>
          <a:xfrm>
            <a:off x="4654296" y="5440680"/>
            <a:ext cx="6400800" cy="4754880"/>
          </a:xfrm>
          <a:prstGeom prst="rect">
            <a:avLst/>
          </a:prstGeom>
        </p:spPr>
      </p:pic>
      <p:sp>
        <p:nvSpPr>
          <p:cNvPr id="9" name="TextBox 8"/>
          <p:cNvSpPr txBox="1"/>
          <p:nvPr/>
        </p:nvSpPr>
        <p:spPr>
          <a:xfrm>
            <a:off x="11521440" y="1783080"/>
            <a:ext cx="6583680" cy="3840480"/>
          </a:xfrm>
          <a:prstGeom prst="rect">
            <a:avLst/>
          </a:prstGeom>
          <a:noFill/>
        </p:spPr>
        <p:txBody>
          <a:bodyPr wrap="square" anchor="t" lIns="0" rIns="0" tIns="0" bIns="0">
            <a:spAutoFit/>
          </a:bodyPr>
          <a:lstStyle/>
          <a:p>
            <a:pPr algn="l">
              <a:lnSpc>
                <a:spcPct val="125000"/>
              </a:lnSpc>
            </a:pPr>
            <a:r>
              <a:rPr sz="1700" b="0">
                <a:solidFill>
                  <a:srgbClr val="17161C"/>
                </a:solidFill>
                <a:latin typeface="Arial"/>
              </a:rPr>
              <a:t>•  Access </a:t>
            </a:r>
            <a:r>
              <a:rPr sz="1700" b="0">
                <a:solidFill>
                  <a:srgbClr val="DD6108"/>
                </a:solidFill>
                <a:latin typeface="Arial"/>
              </a:rPr>
              <a:t>free of charge</a:t>
            </a:r>
          </a:p>
          <a:p>
            <a:pPr algn="l">
              <a:lnSpc>
                <a:spcPct val="125000"/>
              </a:lnSpc>
            </a:pPr>
            <a:r>
              <a:rPr sz="1700" b="0">
                <a:solidFill>
                  <a:srgbClr val="17161C"/>
                </a:solidFill>
                <a:latin typeface="Arial"/>
              </a:rPr>
              <a:t>•  No production use</a:t>
            </a:r>
          </a:p>
          <a:p>
            <a:pPr algn="l">
              <a:lnSpc>
                <a:spcPct val="125000"/>
              </a:lnSpc>
            </a:pPr>
            <a:r>
              <a:rPr sz="1700" b="0">
                <a:solidFill>
                  <a:srgbClr val="17161C"/>
                </a:solidFill>
                <a:latin typeface="Arial"/>
              </a:rPr>
              <a:t>      ◦  Data should be </a:t>
            </a:r>
            <a:r>
              <a:rPr sz="1700" b="0">
                <a:solidFill>
                  <a:srgbClr val="DD6108"/>
                </a:solidFill>
                <a:latin typeface="Arial"/>
              </a:rPr>
              <a:t>anonymised or synthetic</a:t>
            </a:r>
          </a:p>
          <a:p>
            <a:pPr algn="l">
              <a:lnSpc>
                <a:spcPct val="125000"/>
              </a:lnSpc>
            </a:pPr>
            <a:r>
              <a:rPr sz="1700" b="0">
                <a:solidFill>
                  <a:srgbClr val="17161C"/>
                </a:solidFill>
                <a:latin typeface="Arial"/>
              </a:rPr>
              <a:t>      ◦  No </a:t>
            </a:r>
            <a:r>
              <a:rPr sz="1700" b="0">
                <a:solidFill>
                  <a:srgbClr val="DD6108"/>
                </a:solidFill>
                <a:latin typeface="Arial"/>
              </a:rPr>
              <a:t>hosting of products</a:t>
            </a:r>
          </a:p>
          <a:p>
            <a:pPr algn="l">
              <a:lnSpc>
                <a:spcPct val="125000"/>
              </a:lnSpc>
            </a:pPr>
            <a:r>
              <a:rPr sz="1700" b="0">
                <a:solidFill>
                  <a:srgbClr val="17161C"/>
                </a:solidFill>
                <a:latin typeface="Arial"/>
              </a:rPr>
              <a:t>•  </a:t>
            </a:r>
            <a:r>
              <a:rPr sz="1700" b="0">
                <a:solidFill>
                  <a:srgbClr val="DD6108"/>
                </a:solidFill>
                <a:latin typeface="Arial"/>
              </a:rPr>
              <a:t>Reporting &amp; publication</a:t>
            </a:r>
            <a:r>
              <a:rPr sz="1700" b="0">
                <a:solidFill>
                  <a:srgbClr val="17161C"/>
                </a:solidFill>
                <a:latin typeface="Arial"/>
              </a:rPr>
              <a:t> by users</a:t>
            </a:r>
          </a:p>
          <a:p>
            <a:pPr algn="l">
              <a:lnSpc>
                <a:spcPct val="125000"/>
              </a:lnSpc>
            </a:pPr>
            <a:r>
              <a:rPr sz="1700" b="0">
                <a:solidFill>
                  <a:srgbClr val="17161C"/>
                </a:solidFill>
                <a:latin typeface="Arial"/>
              </a:rPr>
              <a:t>•  </a:t>
            </a:r>
            <a:r>
              <a:rPr sz="1700" b="0">
                <a:solidFill>
                  <a:srgbClr val="DD6108"/>
                </a:solidFill>
                <a:latin typeface="Arial"/>
              </a:rPr>
              <a:t>Existing rights</a:t>
            </a:r>
            <a:r>
              <a:rPr sz="1700" b="0">
                <a:solidFill>
                  <a:srgbClr val="17161C"/>
                </a:solidFill>
                <a:latin typeface="Arial"/>
              </a:rPr>
              <a:t> stay with users</a:t>
            </a:r>
          </a:p>
          <a:p>
            <a:pPr algn="l">
              <a:lnSpc>
                <a:spcPct val="125000"/>
              </a:lnSpc>
            </a:pPr>
            <a:r>
              <a:rPr sz="1700" b="0">
                <a:solidFill>
                  <a:srgbClr val="17161C"/>
                </a:solidFill>
                <a:latin typeface="Arial"/>
              </a:rPr>
              <a:t>•  </a:t>
            </a:r>
            <a:r>
              <a:rPr sz="1700" b="0">
                <a:solidFill>
                  <a:srgbClr val="DD6108"/>
                </a:solidFill>
                <a:latin typeface="Arial"/>
              </a:rPr>
              <a:t>New rights</a:t>
            </a:r>
            <a:r>
              <a:rPr sz="1700" b="0">
                <a:solidFill>
                  <a:srgbClr val="17161C"/>
                </a:solidFill>
                <a:latin typeface="Arial"/>
              </a:rPr>
              <a:t> stay with users</a:t>
            </a:r>
          </a:p>
          <a:p>
            <a:pPr algn="l">
              <a:lnSpc>
                <a:spcPct val="125000"/>
              </a:lnSpc>
            </a:pPr>
            <a:r>
              <a:rPr sz="1700" b="0">
                <a:solidFill>
                  <a:srgbClr val="17161C"/>
                </a:solidFill>
                <a:latin typeface="Arial"/>
              </a:rPr>
              <a:t>      ◦  Usage rights granted for research and teaching</a:t>
            </a:r>
          </a:p>
        </p:txBody>
      </p:sp>
      <p:sp>
        <p:nvSpPr>
          <p:cNvPr id="10" name="TextBox 9"/>
          <p:cNvSpPr txBox="1"/>
          <p:nvPr/>
        </p:nvSpPr>
        <p:spPr>
          <a:xfrm>
            <a:off x="11521440" y="5486400"/>
            <a:ext cx="3291840" cy="4480560"/>
          </a:xfrm>
          <a:prstGeom prst="rect">
            <a:avLst/>
          </a:prstGeom>
          <a:noFill/>
        </p:spPr>
        <p:txBody>
          <a:bodyPr wrap="square" anchor="t" lIns="0" rIns="0" tIns="0" bIns="0">
            <a:spAutoFit/>
          </a:bodyPr>
          <a:lstStyle/>
          <a:p>
            <a:pPr algn="l">
              <a:lnSpc>
                <a:spcPct val="110000"/>
              </a:lnSpc>
            </a:pPr>
            <a:r>
              <a:rPr sz="1600" b="1">
                <a:solidFill>
                  <a:srgbClr val="DD6108"/>
                </a:solidFill>
                <a:latin typeface="Arial"/>
              </a:rPr>
              <a:t>Training</a:t>
            </a:r>
          </a:p>
          <a:p>
            <a:pPr algn="l">
              <a:lnSpc>
                <a:spcPct val="110000"/>
              </a:lnSpc>
            </a:pPr>
            <a:r>
              <a:rPr sz="1600" b="0">
                <a:solidFill>
                  <a:srgbClr val="17161C"/>
                </a:solidFill>
                <a:latin typeface="Arial"/>
              </a:rPr>
              <a:t>•  64 NVIDIA H100 GPUs</a:t>
            </a:r>
          </a:p>
          <a:p>
            <a:pPr algn="l">
              <a:lnSpc>
                <a:spcPct val="110000"/>
              </a:lnSpc>
            </a:pPr>
            <a:r>
              <a:rPr sz="600" b="0">
                <a:solidFill>
                  <a:srgbClr val="17161C"/>
                </a:solidFill>
                <a:latin typeface="Arial"/>
              </a:rPr>
              <a:t> </a:t>
            </a:r>
          </a:p>
          <a:p>
            <a:pPr algn="l">
              <a:lnSpc>
                <a:spcPct val="110000"/>
              </a:lnSpc>
            </a:pPr>
            <a:r>
              <a:rPr sz="1600" b="1">
                <a:solidFill>
                  <a:srgbClr val="DD6108"/>
                </a:solidFill>
                <a:latin typeface="Arial"/>
              </a:rPr>
              <a:t>Inference</a:t>
            </a:r>
          </a:p>
          <a:p>
            <a:pPr algn="l">
              <a:lnSpc>
                <a:spcPct val="110000"/>
              </a:lnSpc>
            </a:pPr>
            <a:r>
              <a:rPr sz="1600" b="0">
                <a:solidFill>
                  <a:srgbClr val="17161C"/>
                </a:solidFill>
                <a:latin typeface="Arial"/>
              </a:rPr>
              <a:t>•  40 NVIDIA A30 GPUs</a:t>
            </a:r>
          </a:p>
          <a:p>
            <a:pPr algn="l">
              <a:lnSpc>
                <a:spcPct val="110000"/>
              </a:lnSpc>
            </a:pPr>
            <a:r>
              <a:rPr sz="600" b="0">
                <a:solidFill>
                  <a:srgbClr val="17161C"/>
                </a:solidFill>
                <a:latin typeface="Arial"/>
              </a:rPr>
              <a:t> </a:t>
            </a:r>
          </a:p>
          <a:p>
            <a:pPr algn="l">
              <a:lnSpc>
                <a:spcPct val="110000"/>
              </a:lnSpc>
            </a:pPr>
            <a:r>
              <a:rPr sz="1600" b="1">
                <a:solidFill>
                  <a:srgbClr val="DD6108"/>
                </a:solidFill>
                <a:latin typeface="Arial"/>
              </a:rPr>
              <a:t>ARM server</a:t>
            </a:r>
          </a:p>
          <a:p>
            <a:pPr algn="l">
              <a:lnSpc>
                <a:spcPct val="110000"/>
              </a:lnSpc>
            </a:pPr>
            <a:r>
              <a:rPr sz="1600" b="0">
                <a:solidFill>
                  <a:srgbClr val="17161C"/>
                </a:solidFill>
                <a:latin typeface="Arial"/>
              </a:rPr>
              <a:t>•  Ampere Altra Max M128-30 CPU</a:t>
            </a:r>
          </a:p>
          <a:p>
            <a:pPr algn="l">
              <a:lnSpc>
                <a:spcPct val="110000"/>
              </a:lnSpc>
            </a:pPr>
            <a:r>
              <a:rPr sz="1600" b="0">
                <a:solidFill>
                  <a:srgbClr val="17161C"/>
                </a:solidFill>
                <a:latin typeface="Arial"/>
              </a:rPr>
              <a:t>•  2× NVIDIA L40 GPUs</a:t>
            </a:r>
          </a:p>
          <a:p>
            <a:pPr algn="l">
              <a:lnSpc>
                <a:spcPct val="110000"/>
              </a:lnSpc>
            </a:pPr>
            <a:r>
              <a:rPr sz="600" b="0">
                <a:solidFill>
                  <a:srgbClr val="17161C"/>
                </a:solidFill>
                <a:latin typeface="Arial"/>
              </a:rPr>
              <a:t> </a:t>
            </a:r>
          </a:p>
          <a:p>
            <a:pPr algn="l">
              <a:lnSpc>
                <a:spcPct val="110000"/>
              </a:lnSpc>
            </a:pPr>
            <a:r>
              <a:rPr sz="1600" b="1">
                <a:solidFill>
                  <a:srgbClr val="DD6108"/>
                </a:solidFill>
                <a:latin typeface="Arial"/>
              </a:rPr>
              <a:t>GPU server</a:t>
            </a:r>
          </a:p>
          <a:p>
            <a:pPr algn="l">
              <a:lnSpc>
                <a:spcPct val="110000"/>
              </a:lnSpc>
            </a:pPr>
            <a:r>
              <a:rPr sz="1600" b="0">
                <a:solidFill>
                  <a:srgbClr val="17161C"/>
                </a:solidFill>
                <a:latin typeface="Arial"/>
              </a:rPr>
              <a:t>•  AMD Epyc CPU</a:t>
            </a:r>
          </a:p>
          <a:p>
            <a:pPr algn="l">
              <a:lnSpc>
                <a:spcPct val="110000"/>
              </a:lnSpc>
            </a:pPr>
            <a:r>
              <a:rPr sz="1600" b="0">
                <a:solidFill>
                  <a:srgbClr val="17161C"/>
                </a:solidFill>
                <a:latin typeface="Arial"/>
              </a:rPr>
              <a:t>•  8× NVIDIA L40S GPUs</a:t>
            </a:r>
          </a:p>
          <a:p>
            <a:pPr algn="l">
              <a:lnSpc>
                <a:spcPct val="110000"/>
              </a:lnSpc>
            </a:pPr>
            <a:r>
              <a:rPr sz="600" b="0">
                <a:solidFill>
                  <a:srgbClr val="17161C"/>
                </a:solidFill>
                <a:latin typeface="Arial"/>
              </a:rPr>
              <a:t> </a:t>
            </a:r>
          </a:p>
        </p:txBody>
      </p:sp>
      <p:sp>
        <p:nvSpPr>
          <p:cNvPr id="11" name="TextBox 10"/>
          <p:cNvSpPr txBox="1"/>
          <p:nvPr/>
        </p:nvSpPr>
        <p:spPr>
          <a:xfrm>
            <a:off x="14904720" y="5486400"/>
            <a:ext cx="3291840" cy="4480560"/>
          </a:xfrm>
          <a:prstGeom prst="rect">
            <a:avLst/>
          </a:prstGeom>
          <a:noFill/>
        </p:spPr>
        <p:txBody>
          <a:bodyPr wrap="square" anchor="t" lIns="0" rIns="0" tIns="0" bIns="0">
            <a:spAutoFit/>
          </a:bodyPr>
          <a:lstStyle/>
          <a:p>
            <a:pPr algn="l">
              <a:lnSpc>
                <a:spcPct val="110000"/>
              </a:lnSpc>
            </a:pPr>
            <a:r>
              <a:rPr sz="1600" b="1">
                <a:solidFill>
                  <a:srgbClr val="DD6108"/>
                </a:solidFill>
                <a:latin typeface="Arial"/>
              </a:rPr>
              <a:t>Edge</a:t>
            </a:r>
          </a:p>
          <a:p>
            <a:pPr algn="l">
              <a:lnSpc>
                <a:spcPct val="110000"/>
              </a:lnSpc>
            </a:pPr>
            <a:r>
              <a:rPr sz="1600" b="0">
                <a:solidFill>
                  <a:srgbClr val="17161C"/>
                </a:solidFill>
                <a:latin typeface="Arial"/>
              </a:rPr>
              <a:t>•  ARMv8 CPU</a:t>
            </a:r>
          </a:p>
          <a:p>
            <a:pPr algn="l">
              <a:lnSpc>
                <a:spcPct val="110000"/>
              </a:lnSpc>
            </a:pPr>
            <a:r>
              <a:rPr sz="1600" b="0">
                <a:solidFill>
                  <a:srgbClr val="17161C"/>
                </a:solidFill>
                <a:latin typeface="Arial"/>
              </a:rPr>
              <a:t>•  NVIDIA Jetson AGX modules</a:t>
            </a:r>
          </a:p>
          <a:p>
            <a:pPr algn="l">
              <a:lnSpc>
                <a:spcPct val="110000"/>
              </a:lnSpc>
            </a:pPr>
            <a:r>
              <a:rPr sz="600" b="0">
                <a:solidFill>
                  <a:srgbClr val="17161C"/>
                </a:solidFill>
                <a:latin typeface="Arial"/>
              </a:rPr>
              <a:t> </a:t>
            </a:r>
          </a:p>
          <a:p>
            <a:pPr algn="l">
              <a:lnSpc>
                <a:spcPct val="110000"/>
              </a:lnSpc>
            </a:pPr>
            <a:r>
              <a:rPr sz="1600" b="1">
                <a:solidFill>
                  <a:srgbClr val="DD6108"/>
                </a:solidFill>
                <a:latin typeface="Arial"/>
              </a:rPr>
              <a:t>Neuromorphic</a:t>
            </a:r>
          </a:p>
          <a:p>
            <a:pPr algn="l">
              <a:lnSpc>
                <a:spcPct val="110000"/>
              </a:lnSpc>
            </a:pPr>
            <a:r>
              <a:rPr sz="1600" b="0">
                <a:solidFill>
                  <a:srgbClr val="17161C"/>
                </a:solidFill>
                <a:latin typeface="Arial"/>
              </a:rPr>
              <a:t>•  288 SpiNNaker2 chips</a:t>
            </a:r>
          </a:p>
          <a:p>
            <a:pPr algn="l">
              <a:lnSpc>
                <a:spcPct val="110000"/>
              </a:lnSpc>
            </a:pPr>
            <a:r>
              <a:rPr sz="600" b="0">
                <a:solidFill>
                  <a:srgbClr val="17161C"/>
                </a:solidFill>
                <a:latin typeface="Arial"/>
              </a:rPr>
              <a:t> </a:t>
            </a:r>
          </a:p>
          <a:p>
            <a:pPr algn="l">
              <a:lnSpc>
                <a:spcPct val="110000"/>
              </a:lnSpc>
            </a:pPr>
            <a:r>
              <a:rPr sz="1600" b="1">
                <a:solidFill>
                  <a:srgbClr val="DD6108"/>
                </a:solidFill>
                <a:latin typeface="Arial"/>
              </a:rPr>
              <a:t>Storage</a:t>
            </a:r>
          </a:p>
          <a:p>
            <a:pPr algn="l">
              <a:lnSpc>
                <a:spcPct val="110000"/>
              </a:lnSpc>
            </a:pPr>
            <a:r>
              <a:rPr sz="1600" b="0">
                <a:solidFill>
                  <a:srgbClr val="17161C"/>
                </a:solidFill>
                <a:latin typeface="Arial"/>
              </a:rPr>
              <a:t>•  1.5 PB NVRAM</a:t>
            </a:r>
          </a:p>
          <a:p>
            <a:pPr algn="l">
              <a:lnSpc>
                <a:spcPct val="110000"/>
              </a:lnSpc>
            </a:pPr>
            <a:r>
              <a:rPr sz="600" b="0">
                <a:solidFill>
                  <a:srgbClr val="17161C"/>
                </a:solidFill>
                <a:latin typeface="Arial"/>
              </a:rPr>
              <a:t> </a:t>
            </a:r>
          </a:p>
          <a:p>
            <a:pPr algn="l">
              <a:lnSpc>
                <a:spcPct val="110000"/>
              </a:lnSpc>
            </a:pPr>
            <a:r>
              <a:rPr sz="1600" b="1">
                <a:solidFill>
                  <a:srgbClr val="DD6108"/>
                </a:solidFill>
                <a:latin typeface="Arial"/>
              </a:rPr>
              <a:t>Network</a:t>
            </a:r>
          </a:p>
          <a:p>
            <a:pPr algn="l">
              <a:lnSpc>
                <a:spcPct val="110000"/>
              </a:lnSpc>
            </a:pPr>
            <a:r>
              <a:rPr sz="1600" b="0">
                <a:solidFill>
                  <a:srgbClr val="17161C"/>
                </a:solidFill>
                <a:latin typeface="Arial"/>
              </a:rPr>
              <a:t>•  400 Gb/s InfiniBand</a:t>
            </a:r>
          </a:p>
          <a:p>
            <a:pPr algn="l">
              <a:lnSpc>
                <a:spcPct val="110000"/>
              </a:lnSpc>
            </a:pPr>
            <a:r>
              <a:rPr sz="1600" b="0">
                <a:solidFill>
                  <a:srgbClr val="17161C"/>
                </a:solidFill>
                <a:latin typeface="Arial"/>
              </a:rPr>
              <a:t>•  200 Gb/s Ethernet</a:t>
            </a:r>
          </a:p>
          <a:p>
            <a:pPr algn="l">
              <a:lnSpc>
                <a:spcPct val="110000"/>
              </a:lnSpc>
            </a:pPr>
            <a:r>
              <a:rPr sz="600" b="0">
                <a:solidFill>
                  <a:srgbClr val="17161C"/>
                </a:solidFill>
                <a:latin typeface="Arial"/>
              </a:rPr>
              <a:t> </a:t>
            </a:r>
          </a:p>
        </p:txBody>
      </p:sp>
      <p:sp>
        <p:nvSpPr>
          <p:cNvPr id="12" name="TextBox 11"/>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CONSULTING</a:t>
            </a:r>
          </a:p>
        </p:txBody>
      </p:sp>
      <p:pic>
        <p:nvPicPr>
          <p:cNvPr id="4" name="Picture 3" descr="qr-office-hours.png"/>
          <p:cNvPicPr>
            <a:picLocks noChangeAspect="1"/>
          </p:cNvPicPr>
          <p:nvPr/>
        </p:nvPicPr>
        <p:blipFill>
          <a:blip r:embed="rId2"/>
          <a:stretch>
            <a:fillRect/>
          </a:stretch>
        </p:blipFill>
        <p:spPr>
          <a:xfrm>
            <a:off x="1060704" y="2331720"/>
            <a:ext cx="2697480" cy="2697480"/>
          </a:xfrm>
          <a:prstGeom prst="rect">
            <a:avLst/>
          </a:prstGeom>
        </p:spPr>
      </p:pic>
      <p:sp>
        <p:nvSpPr>
          <p:cNvPr id="5" name="TextBox 4"/>
          <p:cNvSpPr txBox="1"/>
          <p:nvPr/>
        </p:nvSpPr>
        <p:spPr>
          <a:xfrm>
            <a:off x="1060704" y="5074920"/>
            <a:ext cx="2697480" cy="320040"/>
          </a:xfrm>
          <a:prstGeom prst="rect">
            <a:avLst/>
          </a:prstGeom>
          <a:noFill/>
        </p:spPr>
        <p:txBody>
          <a:bodyPr wrap="square" anchor="t" lIns="0" rIns="0" tIns="0" bIns="0">
            <a:spAutoFit/>
          </a:bodyPr>
          <a:lstStyle/>
          <a:p>
            <a:pPr algn="ctr">
              <a:lnSpc>
                <a:spcPct val="115000"/>
              </a:lnSpc>
            </a:pPr>
            <a:r>
              <a:rPr sz="1300" b="1">
                <a:solidFill>
                  <a:srgbClr val="5A6065"/>
                </a:solidFill>
                <a:latin typeface="Arial"/>
              </a:rPr>
              <a:t>Book office hours</a:t>
            </a:r>
          </a:p>
        </p:txBody>
      </p:sp>
      <p:sp>
        <p:nvSpPr>
          <p:cNvPr id="6" name="TextBox 5"/>
          <p:cNvSpPr txBox="1"/>
          <p:nvPr/>
        </p:nvSpPr>
        <p:spPr>
          <a:xfrm>
            <a:off x="4480560" y="2011680"/>
            <a:ext cx="7132320" cy="8046720"/>
          </a:xfrm>
          <a:prstGeom prst="rect">
            <a:avLst/>
          </a:prstGeom>
          <a:noFill/>
        </p:spPr>
        <p:txBody>
          <a:bodyPr wrap="square" anchor="t" lIns="0" rIns="0" tIns="0" bIns="0">
            <a:spAutoFit/>
          </a:bodyPr>
          <a:lstStyle/>
          <a:p>
            <a:pPr algn="l">
              <a:lnSpc>
                <a:spcPct val="110000"/>
              </a:lnSpc>
            </a:pPr>
            <a:r>
              <a:rPr sz="2100" b="1">
                <a:solidFill>
                  <a:srgbClr val="B1063A"/>
                </a:solidFill>
                <a:latin typeface="Arial"/>
              </a:rPr>
              <a:t>AI office hours</a:t>
            </a:r>
          </a:p>
          <a:p>
            <a:pPr algn="l">
              <a:lnSpc>
                <a:spcPct val="110000"/>
              </a:lnSpc>
            </a:pPr>
            <a:r>
              <a:rPr sz="1800" b="0">
                <a:solidFill>
                  <a:srgbClr val="17161C"/>
                </a:solidFill>
                <a:latin typeface="Arial"/>
              </a:rPr>
              <a:t>•  AI infrastructure</a:t>
            </a:r>
          </a:p>
          <a:p>
            <a:pPr algn="l">
              <a:lnSpc>
                <a:spcPct val="110000"/>
              </a:lnSpc>
            </a:pPr>
            <a:r>
              <a:rPr sz="1800" b="0">
                <a:solidFill>
                  <a:srgbClr val="17161C"/>
                </a:solidFill>
                <a:latin typeface="Arial"/>
              </a:rPr>
              <a:t>•  AI models &amp; frameworks</a:t>
            </a:r>
          </a:p>
          <a:p>
            <a:pPr algn="l">
              <a:lnSpc>
                <a:spcPct val="110000"/>
              </a:lnSpc>
            </a:pPr>
            <a:r>
              <a:rPr sz="1800" b="0">
                <a:solidFill>
                  <a:srgbClr val="17161C"/>
                </a:solidFill>
                <a:latin typeface="Arial"/>
              </a:rPr>
              <a:t>•  AI use cases</a:t>
            </a:r>
          </a:p>
          <a:p>
            <a:pPr algn="l">
              <a:lnSpc>
                <a:spcPct val="110000"/>
              </a:lnSpc>
            </a:pPr>
            <a:r>
              <a:rPr sz="800" b="0">
                <a:solidFill>
                  <a:srgbClr val="17161C"/>
                </a:solidFill>
                <a:latin typeface="Arial"/>
              </a:rPr>
              <a:t> </a:t>
            </a:r>
          </a:p>
          <a:p>
            <a:pPr algn="l">
              <a:lnSpc>
                <a:spcPct val="110000"/>
              </a:lnSpc>
            </a:pPr>
            <a:r>
              <a:rPr sz="2100" b="1">
                <a:solidFill>
                  <a:srgbClr val="DD6108"/>
                </a:solidFill>
                <a:latin typeface="Arial"/>
              </a:rPr>
              <a:t>AI pilot projects</a:t>
            </a:r>
          </a:p>
          <a:p>
            <a:pPr algn="l">
              <a:lnSpc>
                <a:spcPct val="110000"/>
              </a:lnSpc>
            </a:pPr>
            <a:r>
              <a:rPr sz="1800" b="0">
                <a:solidFill>
                  <a:srgbClr val="17161C"/>
                </a:solidFill>
                <a:latin typeface="Arial"/>
              </a:rPr>
              <a:t>•  Co-developing a prototype</a:t>
            </a:r>
          </a:p>
          <a:p>
            <a:pPr algn="l">
              <a:lnSpc>
                <a:spcPct val="110000"/>
              </a:lnSpc>
            </a:pPr>
            <a:r>
              <a:rPr sz="1800" b="0">
                <a:solidFill>
                  <a:srgbClr val="17161C"/>
                </a:solidFill>
                <a:latin typeface="Arial"/>
              </a:rPr>
              <a:t>•  Applications every three months</a:t>
            </a:r>
          </a:p>
          <a:p>
            <a:pPr algn="l">
              <a:lnSpc>
                <a:spcPct val="110000"/>
              </a:lnSpc>
            </a:pPr>
            <a:r>
              <a:rPr sz="1800" b="0">
                <a:solidFill>
                  <a:srgbClr val="17161C"/>
                </a:solidFill>
                <a:latin typeface="Arial"/>
              </a:rPr>
              <a:t>•  Selection criteria such as AI maturity and public benefit</a:t>
            </a:r>
          </a:p>
          <a:p>
            <a:pPr algn="l">
              <a:lnSpc>
                <a:spcPct val="110000"/>
              </a:lnSpc>
            </a:pPr>
            <a:r>
              <a:rPr sz="1800" b="0">
                <a:solidFill>
                  <a:srgbClr val="17161C"/>
                </a:solidFill>
                <a:latin typeface="Arial"/>
              </a:rPr>
              <a:t>•  Results are published</a:t>
            </a:r>
          </a:p>
          <a:p>
            <a:pPr algn="l">
              <a:lnSpc>
                <a:spcPct val="110000"/>
              </a:lnSpc>
            </a:pPr>
            <a:r>
              <a:rPr sz="800" b="0">
                <a:solidFill>
                  <a:srgbClr val="17161C"/>
                </a:solidFill>
                <a:latin typeface="Arial"/>
              </a:rPr>
              <a:t> </a:t>
            </a:r>
          </a:p>
          <a:p>
            <a:pPr algn="l">
              <a:lnSpc>
                <a:spcPct val="110000"/>
              </a:lnSpc>
            </a:pPr>
            <a:r>
              <a:rPr sz="2100" b="1">
                <a:solidFill>
                  <a:srgbClr val="F6A800"/>
                </a:solidFill>
                <a:latin typeface="Arial"/>
              </a:rPr>
              <a:t>Collaborations</a:t>
            </a:r>
          </a:p>
          <a:p>
            <a:pPr algn="l">
              <a:lnSpc>
                <a:spcPct val="110000"/>
              </a:lnSpc>
            </a:pPr>
            <a:r>
              <a:rPr sz="1800" b="0">
                <a:solidFill>
                  <a:srgbClr val="17161C"/>
                </a:solidFill>
                <a:latin typeface="Arial"/>
              </a:rPr>
              <a:t>•  Jointly organised network meetings</a:t>
            </a:r>
          </a:p>
          <a:p>
            <a:pPr algn="l">
              <a:lnSpc>
                <a:spcPct val="110000"/>
              </a:lnSpc>
            </a:pPr>
            <a:r>
              <a:rPr sz="800" b="0">
                <a:solidFill>
                  <a:srgbClr val="17161C"/>
                </a:solidFill>
                <a:latin typeface="Arial"/>
              </a:rPr>
              <a:t> </a:t>
            </a:r>
          </a:p>
          <a:p>
            <a:pPr algn="l">
              <a:lnSpc>
                <a:spcPct val="110000"/>
              </a:lnSpc>
            </a:pPr>
            <a:r>
              <a:rPr sz="2100" b="1">
                <a:solidFill>
                  <a:srgbClr val="17161C"/>
                </a:solidFill>
                <a:latin typeface="Arial"/>
              </a:rPr>
              <a:t>Past AI pilot projects</a:t>
            </a:r>
          </a:p>
          <a:p>
            <a:pPr algn="l">
              <a:lnSpc>
                <a:spcPct val="110000"/>
              </a:lnSpc>
            </a:pPr>
            <a:r>
              <a:rPr sz="1800" b="0">
                <a:solidFill>
                  <a:srgbClr val="17161C"/>
                </a:solidFill>
                <a:latin typeface="Arial"/>
              </a:rPr>
              <a:t>•  Generating maths problems</a:t>
            </a:r>
          </a:p>
          <a:p>
            <a:pPr algn="l">
              <a:lnSpc>
                <a:spcPct val="110000"/>
              </a:lnSpc>
            </a:pPr>
            <a:r>
              <a:rPr sz="1800" b="0">
                <a:solidFill>
                  <a:srgbClr val="17161C"/>
                </a:solidFill>
                <a:latin typeface="Arial"/>
              </a:rPr>
              <a:t>•  Generating plain language</a:t>
            </a:r>
          </a:p>
          <a:p>
            <a:pPr algn="l">
              <a:lnSpc>
                <a:spcPct val="110000"/>
              </a:lnSpc>
            </a:pPr>
            <a:r>
              <a:rPr sz="1800" b="0">
                <a:solidFill>
                  <a:srgbClr val="17161C"/>
                </a:solidFill>
                <a:latin typeface="Arial"/>
              </a:rPr>
              <a:t>•  Generating upcycling ideas</a:t>
            </a:r>
          </a:p>
          <a:p>
            <a:pPr algn="l">
              <a:lnSpc>
                <a:spcPct val="110000"/>
              </a:lnSpc>
            </a:pPr>
            <a:r>
              <a:rPr sz="1800" b="0">
                <a:solidFill>
                  <a:srgbClr val="17161C"/>
                </a:solidFill>
                <a:latin typeface="Arial"/>
              </a:rPr>
              <a:t>•  Reducing food waste</a:t>
            </a:r>
          </a:p>
          <a:p>
            <a:pPr algn="l">
              <a:lnSpc>
                <a:spcPct val="110000"/>
              </a:lnSpc>
            </a:pPr>
            <a:r>
              <a:rPr sz="1800" b="0">
                <a:solidFill>
                  <a:srgbClr val="17161C"/>
                </a:solidFill>
                <a:latin typeface="Arial"/>
              </a:rPr>
              <a:t>•  Dating documents by handwriting</a:t>
            </a:r>
          </a:p>
          <a:p>
            <a:pPr algn="l">
              <a:lnSpc>
                <a:spcPct val="110000"/>
              </a:lnSpc>
            </a:pPr>
            <a:r>
              <a:rPr sz="800" b="0">
                <a:solidFill>
                  <a:srgbClr val="17161C"/>
                </a:solidFill>
                <a:latin typeface="Arial"/>
              </a:rPr>
              <a:t> </a:t>
            </a:r>
          </a:p>
        </p:txBody>
      </p:sp>
      <p:pic>
        <p:nvPicPr>
          <p:cNvPr id="7" name="Picture 6" descr="consulting.jpeg"/>
          <p:cNvPicPr>
            <a:picLocks noChangeAspect="1"/>
          </p:cNvPicPr>
          <p:nvPr/>
        </p:nvPicPr>
        <p:blipFill>
          <a:blip r:embed="rId3"/>
          <a:stretch>
            <a:fillRect/>
          </a:stretch>
        </p:blipFill>
        <p:spPr>
          <a:xfrm>
            <a:off x="11841480" y="274320"/>
            <a:ext cx="6035040" cy="4526280"/>
          </a:xfrm>
          <a:prstGeom prst="rect">
            <a:avLst/>
          </a:prstGeom>
        </p:spPr>
      </p:pic>
      <p:pic>
        <p:nvPicPr>
          <p:cNvPr id="8" name="Picture 7" descr="qr-apply.png"/>
          <p:cNvPicPr>
            <a:picLocks noChangeAspect="1"/>
          </p:cNvPicPr>
          <p:nvPr/>
        </p:nvPicPr>
        <p:blipFill>
          <a:blip r:embed="rId4"/>
          <a:stretch>
            <a:fillRect/>
          </a:stretch>
        </p:blipFill>
        <p:spPr>
          <a:xfrm>
            <a:off x="14767559" y="6400800"/>
            <a:ext cx="2697480" cy="2697480"/>
          </a:xfrm>
          <a:prstGeom prst="rect">
            <a:avLst/>
          </a:prstGeom>
        </p:spPr>
      </p:pic>
      <p:sp>
        <p:nvSpPr>
          <p:cNvPr id="9" name="TextBox 8"/>
          <p:cNvSpPr txBox="1"/>
          <p:nvPr/>
        </p:nvSpPr>
        <p:spPr>
          <a:xfrm>
            <a:off x="14767559" y="9144000"/>
            <a:ext cx="2697480" cy="320040"/>
          </a:xfrm>
          <a:prstGeom prst="rect">
            <a:avLst/>
          </a:prstGeom>
          <a:noFill/>
        </p:spPr>
        <p:txBody>
          <a:bodyPr wrap="square" anchor="t" lIns="0" rIns="0" tIns="0" bIns="0">
            <a:spAutoFit/>
          </a:bodyPr>
          <a:lstStyle/>
          <a:p>
            <a:pPr algn="ctr">
              <a:lnSpc>
                <a:spcPct val="115000"/>
              </a:lnSpc>
            </a:pPr>
            <a:r>
              <a:rPr sz="1300" b="1">
                <a:solidFill>
                  <a:srgbClr val="DC640D"/>
                </a:solidFill>
                <a:latin typeface="Arial"/>
              </a:rPr>
              <a:t>Apply now!</a:t>
            </a:r>
          </a:p>
        </p:txBody>
      </p:sp>
      <p:sp>
        <p:nvSpPr>
          <p:cNvPr id="10" name="TextBox 9"/>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8B90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BY 1:45 YOU HAVE</a:t>
            </a:r>
          </a:p>
        </p:txBody>
      </p:sp>
      <p:pic>
        <p:nvPicPr>
          <p:cNvPr id="4" name="Picture 3"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5" name="Picture 4" descr="logo-kisz.png"/>
          <p:cNvPicPr>
            <a:picLocks noChangeAspect="1"/>
          </p:cNvPicPr>
          <p:nvPr/>
        </p:nvPicPr>
        <p:blipFill>
          <a:blip r:embed="rId3"/>
          <a:stretch>
            <a:fillRect/>
          </a:stretch>
        </p:blipFill>
        <p:spPr>
          <a:xfrm>
            <a:off x="15334488" y="393192"/>
            <a:ext cx="2560320" cy="905528"/>
          </a:xfrm>
          <a:prstGeom prst="rect">
            <a:avLst/>
          </a:prstGeom>
        </p:spPr>
      </p:pic>
      <p:sp>
        <p:nvSpPr>
          <p:cNvPr id="6" name="Rectangle 5"/>
          <p:cNvSpPr/>
          <p:nvPr/>
        </p:nvSpPr>
        <p:spPr>
          <a:xfrm>
            <a:off x="1060704" y="2103120"/>
            <a:ext cx="502920" cy="50292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 y="2103120"/>
            <a:ext cx="502920" cy="502920"/>
          </a:xfrm>
          <a:prstGeom prst="rect">
            <a:avLst/>
          </a:prstGeom>
          <a:noFill/>
        </p:spPr>
        <p:txBody>
          <a:bodyPr wrap="square" anchor="ctr" lIns="0" rIns="0" tIns="0" bIns="0">
            <a:spAutoFit/>
          </a:bodyPr>
          <a:lstStyle/>
          <a:p>
            <a:pPr algn="ctr">
              <a:lnSpc>
                <a:spcPct val="115000"/>
              </a:lnSpc>
            </a:pPr>
            <a:r>
              <a:rPr sz="2000" b="1">
                <a:solidFill>
                  <a:srgbClr val="17161C"/>
                </a:solidFill>
                <a:latin typeface="Arial"/>
              </a:rPr>
              <a:t>1</a:t>
            </a:r>
          </a:p>
        </p:txBody>
      </p:sp>
      <p:sp>
        <p:nvSpPr>
          <p:cNvPr id="8" name="TextBox 7"/>
          <p:cNvSpPr txBox="1"/>
          <p:nvPr/>
        </p:nvSpPr>
        <p:spPr>
          <a:xfrm>
            <a:off x="1828800" y="2103120"/>
            <a:ext cx="15087600" cy="822960"/>
          </a:xfrm>
          <a:prstGeom prst="rect">
            <a:avLst/>
          </a:prstGeom>
          <a:noFill/>
        </p:spPr>
        <p:txBody>
          <a:bodyPr wrap="square" anchor="ctr" lIns="0" rIns="0" tIns="0" bIns="0">
            <a:spAutoFit/>
          </a:bodyPr>
          <a:lstStyle/>
          <a:p>
            <a:pPr algn="l">
              <a:lnSpc>
                <a:spcPct val="115000"/>
              </a:lnSpc>
            </a:pPr>
            <a:r>
              <a:rPr sz="2600" b="0">
                <a:solidFill>
                  <a:srgbClr val="17161C"/>
                </a:solidFill>
                <a:latin typeface="Arial"/>
              </a:rPr>
              <a:t>A chatbot on your laptop that answers from your own PDF.</a:t>
            </a:r>
          </a:p>
        </p:txBody>
      </p:sp>
      <p:sp>
        <p:nvSpPr>
          <p:cNvPr id="9" name="Rectangle 8"/>
          <p:cNvSpPr/>
          <p:nvPr/>
        </p:nvSpPr>
        <p:spPr>
          <a:xfrm>
            <a:off x="1060704" y="3246120"/>
            <a:ext cx="502920" cy="50292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3246120"/>
            <a:ext cx="502920" cy="502920"/>
          </a:xfrm>
          <a:prstGeom prst="rect">
            <a:avLst/>
          </a:prstGeom>
          <a:noFill/>
        </p:spPr>
        <p:txBody>
          <a:bodyPr wrap="square" anchor="ctr" lIns="0" rIns="0" tIns="0" bIns="0">
            <a:spAutoFit/>
          </a:bodyPr>
          <a:lstStyle/>
          <a:p>
            <a:pPr algn="ctr">
              <a:lnSpc>
                <a:spcPct val="115000"/>
              </a:lnSpc>
            </a:pPr>
            <a:r>
              <a:rPr sz="2000" b="1">
                <a:solidFill>
                  <a:srgbClr val="17161C"/>
                </a:solidFill>
                <a:latin typeface="Arial"/>
              </a:rPr>
              <a:t>2</a:t>
            </a:r>
          </a:p>
        </p:txBody>
      </p:sp>
      <p:sp>
        <p:nvSpPr>
          <p:cNvPr id="11" name="TextBox 10"/>
          <p:cNvSpPr txBox="1"/>
          <p:nvPr/>
        </p:nvSpPr>
        <p:spPr>
          <a:xfrm>
            <a:off x="1828800" y="3246120"/>
            <a:ext cx="15087600" cy="822960"/>
          </a:xfrm>
          <a:prstGeom prst="rect">
            <a:avLst/>
          </a:prstGeom>
          <a:noFill/>
        </p:spPr>
        <p:txBody>
          <a:bodyPr wrap="square" anchor="ctr" lIns="0" rIns="0" tIns="0" bIns="0">
            <a:spAutoFit/>
          </a:bodyPr>
          <a:lstStyle/>
          <a:p>
            <a:pPr algn="l">
              <a:lnSpc>
                <a:spcPct val="115000"/>
              </a:lnSpc>
            </a:pPr>
            <a:r>
              <a:rPr sz="2600" b="0">
                <a:solidFill>
                  <a:srgbClr val="17161C"/>
                </a:solidFill>
                <a:latin typeface="Arial"/>
              </a:rPr>
              <a:t>Every claim links to the page it came from, with a score that says how well it is backed.</a:t>
            </a:r>
          </a:p>
        </p:txBody>
      </p:sp>
      <p:sp>
        <p:nvSpPr>
          <p:cNvPr id="12" name="Rectangle 11"/>
          <p:cNvSpPr/>
          <p:nvPr/>
        </p:nvSpPr>
        <p:spPr>
          <a:xfrm>
            <a:off x="1060704" y="4389120"/>
            <a:ext cx="502920" cy="50292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4389120"/>
            <a:ext cx="502920" cy="502920"/>
          </a:xfrm>
          <a:prstGeom prst="rect">
            <a:avLst/>
          </a:prstGeom>
          <a:noFill/>
        </p:spPr>
        <p:txBody>
          <a:bodyPr wrap="square" anchor="ctr" lIns="0" rIns="0" tIns="0" bIns="0">
            <a:spAutoFit/>
          </a:bodyPr>
          <a:lstStyle/>
          <a:p>
            <a:pPr algn="ctr">
              <a:lnSpc>
                <a:spcPct val="115000"/>
              </a:lnSpc>
            </a:pPr>
            <a:r>
              <a:rPr sz="2000" b="1">
                <a:solidFill>
                  <a:srgbClr val="17161C"/>
                </a:solidFill>
                <a:latin typeface="Arial"/>
              </a:rPr>
              <a:t>3</a:t>
            </a:r>
          </a:p>
        </p:txBody>
      </p:sp>
      <p:sp>
        <p:nvSpPr>
          <p:cNvPr id="14" name="TextBox 13"/>
          <p:cNvSpPr txBox="1"/>
          <p:nvPr/>
        </p:nvSpPr>
        <p:spPr>
          <a:xfrm>
            <a:off x="1828800" y="4389120"/>
            <a:ext cx="15087600" cy="822960"/>
          </a:xfrm>
          <a:prstGeom prst="rect">
            <a:avLst/>
          </a:prstGeom>
          <a:noFill/>
        </p:spPr>
        <p:txBody>
          <a:bodyPr wrap="square" anchor="ctr" lIns="0" rIns="0" tIns="0" bIns="0">
            <a:spAutoFit/>
          </a:bodyPr>
          <a:lstStyle/>
          <a:p>
            <a:pPr algn="l">
              <a:lnSpc>
                <a:spcPct val="115000"/>
              </a:lnSpc>
            </a:pPr>
            <a:r>
              <a:rPr sz="2600" b="0">
                <a:solidFill>
                  <a:srgbClr val="17161C"/>
                </a:solidFill>
                <a:latin typeface="Arial"/>
              </a:rPr>
              <a:t>A list of what to check before you trust it.</a:t>
            </a:r>
          </a:p>
        </p:txBody>
      </p:sp>
      <p:sp>
        <p:nvSpPr>
          <p:cNvPr id="15" name="TextBox 14"/>
          <p:cNvSpPr txBox="1"/>
          <p:nvPr/>
        </p:nvSpPr>
        <p:spPr>
          <a:xfrm>
            <a:off x="1060704" y="5943600"/>
            <a:ext cx="82296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AGENDA</a:t>
            </a:r>
          </a:p>
        </p:txBody>
      </p:sp>
      <p:sp>
        <p:nvSpPr>
          <p:cNvPr id="16" name="Rectangle 15"/>
          <p:cNvSpPr/>
          <p:nvPr/>
        </p:nvSpPr>
        <p:spPr>
          <a:xfrm>
            <a:off x="1060704" y="6903720"/>
            <a:ext cx="3345397" cy="914400"/>
          </a:xfrm>
          <a:prstGeom prst="rect">
            <a:avLst/>
          </a:prstGeom>
          <a:solidFill>
            <a:srgbClr val="B10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70431" y="6903720"/>
            <a:ext cx="3162517" cy="914400"/>
          </a:xfrm>
          <a:prstGeom prst="rect">
            <a:avLst/>
          </a:prstGeom>
          <a:noFill/>
        </p:spPr>
        <p:txBody>
          <a:bodyPr wrap="square" anchor="ctr" lIns="0" rIns="0" tIns="0" bIns="0">
            <a:spAutoFit/>
          </a:bodyPr>
          <a:lstStyle/>
          <a:p>
            <a:pPr algn="l">
              <a:lnSpc>
                <a:spcPct val="115000"/>
              </a:lnSpc>
            </a:pPr>
            <a:r>
              <a:rPr sz="1500" b="1">
                <a:solidFill>
                  <a:srgbClr val="FFFFFF"/>
                </a:solidFill>
                <a:latin typeface="Arial"/>
              </a:rPr>
              <a:t>Welcome · AISC · setup</a:t>
            </a:r>
          </a:p>
        </p:txBody>
      </p:sp>
      <p:sp>
        <p:nvSpPr>
          <p:cNvPr id="18" name="TextBox 17"/>
          <p:cNvSpPr txBox="1"/>
          <p:nvPr/>
        </p:nvSpPr>
        <p:spPr>
          <a:xfrm>
            <a:off x="1060704" y="6446520"/>
            <a:ext cx="3345397" cy="365760"/>
          </a:xfrm>
          <a:prstGeom prst="rect">
            <a:avLst/>
          </a:prstGeom>
          <a:noFill/>
        </p:spPr>
        <p:txBody>
          <a:bodyPr wrap="square" anchor="t" lIns="0" rIns="0" tIns="0" bIns="0">
            <a:spAutoFit/>
          </a:bodyPr>
          <a:lstStyle/>
          <a:p>
            <a:pPr algn="l">
              <a:lnSpc>
                <a:spcPct val="115000"/>
              </a:lnSpc>
            </a:pPr>
            <a:r>
              <a:rPr sz="1500" b="1">
                <a:solidFill>
                  <a:srgbClr val="5A6065"/>
                </a:solidFill>
                <a:latin typeface="Arial"/>
              </a:rPr>
              <a:t>0:00</a:t>
            </a:r>
          </a:p>
        </p:txBody>
      </p:sp>
      <p:sp>
        <p:nvSpPr>
          <p:cNvPr id="19" name="Rectangle 18"/>
          <p:cNvSpPr/>
          <p:nvPr/>
        </p:nvSpPr>
        <p:spPr>
          <a:xfrm>
            <a:off x="4451821" y="6903720"/>
            <a:ext cx="1958122" cy="9144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61549" y="6903720"/>
            <a:ext cx="1775242" cy="914400"/>
          </a:xfrm>
          <a:prstGeom prst="rect">
            <a:avLst/>
          </a:prstGeom>
          <a:noFill/>
        </p:spPr>
        <p:txBody>
          <a:bodyPr wrap="square" anchor="ctr" lIns="0" rIns="0" tIns="0" bIns="0">
            <a:spAutoFit/>
          </a:bodyPr>
          <a:lstStyle/>
          <a:p>
            <a:pPr algn="l">
              <a:lnSpc>
                <a:spcPct val="115000"/>
              </a:lnSpc>
            </a:pPr>
            <a:r>
              <a:rPr sz="1500" b="1">
                <a:solidFill>
                  <a:srgbClr val="17161C"/>
                </a:solidFill>
                <a:latin typeface="Arial"/>
              </a:rPr>
              <a:t>1 · Chat</a:t>
            </a:r>
          </a:p>
        </p:txBody>
      </p:sp>
      <p:sp>
        <p:nvSpPr>
          <p:cNvPr id="21" name="TextBox 20"/>
          <p:cNvSpPr txBox="1"/>
          <p:nvPr/>
        </p:nvSpPr>
        <p:spPr>
          <a:xfrm>
            <a:off x="4451821" y="6446520"/>
            <a:ext cx="1958122" cy="365760"/>
          </a:xfrm>
          <a:prstGeom prst="rect">
            <a:avLst/>
          </a:prstGeom>
          <a:noFill/>
        </p:spPr>
        <p:txBody>
          <a:bodyPr wrap="square" anchor="t" lIns="0" rIns="0" tIns="0" bIns="0">
            <a:spAutoFit/>
          </a:bodyPr>
          <a:lstStyle/>
          <a:p>
            <a:pPr algn="l">
              <a:lnSpc>
                <a:spcPct val="115000"/>
              </a:lnSpc>
            </a:pPr>
            <a:r>
              <a:rPr sz="1500" b="1">
                <a:solidFill>
                  <a:srgbClr val="5A6065"/>
                </a:solidFill>
                <a:latin typeface="Arial"/>
              </a:rPr>
              <a:t>0:22</a:t>
            </a:r>
          </a:p>
        </p:txBody>
      </p:sp>
      <p:sp>
        <p:nvSpPr>
          <p:cNvPr id="22" name="Rectangle 21"/>
          <p:cNvSpPr/>
          <p:nvPr/>
        </p:nvSpPr>
        <p:spPr>
          <a:xfrm>
            <a:off x="6455664" y="6903720"/>
            <a:ext cx="1958122" cy="9144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6903720"/>
            <a:ext cx="1775242" cy="914400"/>
          </a:xfrm>
          <a:prstGeom prst="rect">
            <a:avLst/>
          </a:prstGeom>
          <a:noFill/>
        </p:spPr>
        <p:txBody>
          <a:bodyPr wrap="square" anchor="ctr" lIns="0" rIns="0" tIns="0" bIns="0">
            <a:spAutoFit/>
          </a:bodyPr>
          <a:lstStyle/>
          <a:p>
            <a:pPr algn="l">
              <a:lnSpc>
                <a:spcPct val="115000"/>
              </a:lnSpc>
            </a:pPr>
            <a:r>
              <a:rPr sz="1500" b="1">
                <a:solidFill>
                  <a:srgbClr val="17161C"/>
                </a:solidFill>
                <a:latin typeface="Arial"/>
              </a:rPr>
              <a:t>2 · Documents</a:t>
            </a:r>
          </a:p>
        </p:txBody>
      </p:sp>
      <p:sp>
        <p:nvSpPr>
          <p:cNvPr id="24" name="TextBox 23"/>
          <p:cNvSpPr txBox="1"/>
          <p:nvPr/>
        </p:nvSpPr>
        <p:spPr>
          <a:xfrm>
            <a:off x="6455664" y="6446520"/>
            <a:ext cx="1958122" cy="365760"/>
          </a:xfrm>
          <a:prstGeom prst="rect">
            <a:avLst/>
          </a:prstGeom>
          <a:noFill/>
        </p:spPr>
        <p:txBody>
          <a:bodyPr wrap="square" anchor="t" lIns="0" rIns="0" tIns="0" bIns="0">
            <a:spAutoFit/>
          </a:bodyPr>
          <a:lstStyle/>
          <a:p>
            <a:pPr algn="l">
              <a:lnSpc>
                <a:spcPct val="115000"/>
              </a:lnSpc>
            </a:pPr>
            <a:r>
              <a:rPr sz="1500" b="1">
                <a:solidFill>
                  <a:srgbClr val="5A6065"/>
                </a:solidFill>
                <a:latin typeface="Arial"/>
              </a:rPr>
              <a:t>0:35</a:t>
            </a:r>
          </a:p>
        </p:txBody>
      </p:sp>
      <p:sp>
        <p:nvSpPr>
          <p:cNvPr id="25" name="Rectangle 24"/>
          <p:cNvSpPr/>
          <p:nvPr/>
        </p:nvSpPr>
        <p:spPr>
          <a:xfrm>
            <a:off x="8459506" y="6903720"/>
            <a:ext cx="1958122" cy="9144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69234" y="6903720"/>
            <a:ext cx="1775242" cy="914400"/>
          </a:xfrm>
          <a:prstGeom prst="rect">
            <a:avLst/>
          </a:prstGeom>
          <a:noFill/>
        </p:spPr>
        <p:txBody>
          <a:bodyPr wrap="square" anchor="ctr" lIns="0" rIns="0" tIns="0" bIns="0">
            <a:spAutoFit/>
          </a:bodyPr>
          <a:lstStyle/>
          <a:p>
            <a:pPr algn="l">
              <a:lnSpc>
                <a:spcPct val="115000"/>
              </a:lnSpc>
            </a:pPr>
            <a:r>
              <a:rPr sz="1500" b="1">
                <a:solidFill>
                  <a:srgbClr val="17161C"/>
                </a:solidFill>
                <a:latin typeface="Arial"/>
              </a:rPr>
              <a:t>3 · Search</a:t>
            </a:r>
          </a:p>
        </p:txBody>
      </p:sp>
      <p:sp>
        <p:nvSpPr>
          <p:cNvPr id="27" name="TextBox 26"/>
          <p:cNvSpPr txBox="1"/>
          <p:nvPr/>
        </p:nvSpPr>
        <p:spPr>
          <a:xfrm>
            <a:off x="8459506" y="6446520"/>
            <a:ext cx="1958122" cy="365760"/>
          </a:xfrm>
          <a:prstGeom prst="rect">
            <a:avLst/>
          </a:prstGeom>
          <a:noFill/>
        </p:spPr>
        <p:txBody>
          <a:bodyPr wrap="square" anchor="t" lIns="0" rIns="0" tIns="0" bIns="0">
            <a:spAutoFit/>
          </a:bodyPr>
          <a:lstStyle/>
          <a:p>
            <a:pPr algn="l">
              <a:lnSpc>
                <a:spcPct val="115000"/>
              </a:lnSpc>
            </a:pPr>
            <a:r>
              <a:rPr sz="1500" b="1">
                <a:solidFill>
                  <a:srgbClr val="5A6065"/>
                </a:solidFill>
                <a:latin typeface="Arial"/>
              </a:rPr>
              <a:t>0:48</a:t>
            </a:r>
          </a:p>
        </p:txBody>
      </p:sp>
      <p:sp>
        <p:nvSpPr>
          <p:cNvPr id="28" name="Rectangle 27"/>
          <p:cNvSpPr/>
          <p:nvPr/>
        </p:nvSpPr>
        <p:spPr>
          <a:xfrm>
            <a:off x="10463348" y="6903720"/>
            <a:ext cx="724988" cy="9144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73076" y="6903720"/>
            <a:ext cx="542108" cy="914400"/>
          </a:xfrm>
          <a:prstGeom prst="rect">
            <a:avLst/>
          </a:prstGeom>
          <a:noFill/>
        </p:spPr>
        <p:txBody>
          <a:bodyPr wrap="square" anchor="ctr" lIns="0" rIns="0" tIns="0" bIns="0">
            <a:spAutoFit/>
          </a:bodyPr>
          <a:lstStyle/>
          <a:p>
            <a:pPr algn="l">
              <a:lnSpc>
                <a:spcPct val="115000"/>
              </a:lnSpc>
            </a:pPr>
            <a:r>
              <a:rPr sz="1500" b="1">
                <a:solidFill>
                  <a:srgbClr val="17161C"/>
                </a:solidFill>
                <a:latin typeface="Arial"/>
              </a:rPr>
              <a:t>Break</a:t>
            </a:r>
          </a:p>
        </p:txBody>
      </p:sp>
      <p:sp>
        <p:nvSpPr>
          <p:cNvPr id="30" name="TextBox 29"/>
          <p:cNvSpPr txBox="1"/>
          <p:nvPr/>
        </p:nvSpPr>
        <p:spPr>
          <a:xfrm>
            <a:off x="10463348" y="6446520"/>
            <a:ext cx="724988" cy="365760"/>
          </a:xfrm>
          <a:prstGeom prst="rect">
            <a:avLst/>
          </a:prstGeom>
          <a:noFill/>
        </p:spPr>
        <p:txBody>
          <a:bodyPr wrap="square" anchor="t" lIns="0" rIns="0" tIns="0" bIns="0">
            <a:spAutoFit/>
          </a:bodyPr>
          <a:lstStyle/>
          <a:p>
            <a:pPr algn="l">
              <a:lnSpc>
                <a:spcPct val="115000"/>
              </a:lnSpc>
            </a:pPr>
            <a:r>
              <a:rPr sz="1500" b="1">
                <a:solidFill>
                  <a:srgbClr val="5A6065"/>
                </a:solidFill>
                <a:latin typeface="Arial"/>
              </a:rPr>
              <a:t>1:01</a:t>
            </a:r>
          </a:p>
        </p:txBody>
      </p:sp>
      <p:sp>
        <p:nvSpPr>
          <p:cNvPr id="31" name="Rectangle 30"/>
          <p:cNvSpPr/>
          <p:nvPr/>
        </p:nvSpPr>
        <p:spPr>
          <a:xfrm>
            <a:off x="11234057" y="6903720"/>
            <a:ext cx="2420547" cy="9144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343785" y="6903720"/>
            <a:ext cx="2237667" cy="914400"/>
          </a:xfrm>
          <a:prstGeom prst="rect">
            <a:avLst/>
          </a:prstGeom>
          <a:noFill/>
        </p:spPr>
        <p:txBody>
          <a:bodyPr wrap="square" anchor="ctr" lIns="0" rIns="0" tIns="0" bIns="0">
            <a:spAutoFit/>
          </a:bodyPr>
          <a:lstStyle/>
          <a:p>
            <a:pPr algn="l">
              <a:lnSpc>
                <a:spcPct val="115000"/>
              </a:lnSpc>
            </a:pPr>
            <a:r>
              <a:rPr sz="1500" b="1">
                <a:solidFill>
                  <a:srgbClr val="17161C"/>
                </a:solidFill>
                <a:latin typeface="Arial"/>
              </a:rPr>
              <a:t>4 · RAG + score</a:t>
            </a:r>
          </a:p>
        </p:txBody>
      </p:sp>
      <p:sp>
        <p:nvSpPr>
          <p:cNvPr id="33" name="TextBox 32"/>
          <p:cNvSpPr txBox="1"/>
          <p:nvPr/>
        </p:nvSpPr>
        <p:spPr>
          <a:xfrm>
            <a:off x="11234057" y="6446520"/>
            <a:ext cx="2420547" cy="365760"/>
          </a:xfrm>
          <a:prstGeom prst="rect">
            <a:avLst/>
          </a:prstGeom>
          <a:noFill/>
        </p:spPr>
        <p:txBody>
          <a:bodyPr wrap="square" anchor="t" lIns="0" rIns="0" tIns="0" bIns="0">
            <a:spAutoFit/>
          </a:bodyPr>
          <a:lstStyle/>
          <a:p>
            <a:pPr algn="l">
              <a:lnSpc>
                <a:spcPct val="115000"/>
              </a:lnSpc>
            </a:pPr>
            <a:r>
              <a:rPr sz="1500" b="1">
                <a:solidFill>
                  <a:srgbClr val="5A6065"/>
                </a:solidFill>
                <a:latin typeface="Arial"/>
              </a:rPr>
              <a:t>1:06</a:t>
            </a:r>
          </a:p>
        </p:txBody>
      </p:sp>
      <p:sp>
        <p:nvSpPr>
          <p:cNvPr id="34" name="Rectangle 33"/>
          <p:cNvSpPr/>
          <p:nvPr/>
        </p:nvSpPr>
        <p:spPr>
          <a:xfrm>
            <a:off x="13700324" y="6903720"/>
            <a:ext cx="2728830" cy="9144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810052" y="6903720"/>
            <a:ext cx="2545950" cy="914400"/>
          </a:xfrm>
          <a:prstGeom prst="rect">
            <a:avLst/>
          </a:prstGeom>
          <a:noFill/>
        </p:spPr>
        <p:txBody>
          <a:bodyPr wrap="square" anchor="ctr" lIns="0" rIns="0" tIns="0" bIns="0">
            <a:spAutoFit/>
          </a:bodyPr>
          <a:lstStyle/>
          <a:p>
            <a:pPr algn="l">
              <a:lnSpc>
                <a:spcPct val="115000"/>
              </a:lnSpc>
            </a:pPr>
            <a:r>
              <a:rPr sz="1500" b="1">
                <a:solidFill>
                  <a:srgbClr val="17161C"/>
                </a:solidFill>
                <a:latin typeface="Arial"/>
              </a:rPr>
              <a:t>5 · Your PDF · transfer</a:t>
            </a:r>
          </a:p>
        </p:txBody>
      </p:sp>
      <p:sp>
        <p:nvSpPr>
          <p:cNvPr id="36" name="TextBox 35"/>
          <p:cNvSpPr txBox="1"/>
          <p:nvPr/>
        </p:nvSpPr>
        <p:spPr>
          <a:xfrm>
            <a:off x="13700324" y="6446520"/>
            <a:ext cx="2728830" cy="365760"/>
          </a:xfrm>
          <a:prstGeom prst="rect">
            <a:avLst/>
          </a:prstGeom>
          <a:noFill/>
        </p:spPr>
        <p:txBody>
          <a:bodyPr wrap="square" anchor="t" lIns="0" rIns="0" tIns="0" bIns="0">
            <a:spAutoFit/>
          </a:bodyPr>
          <a:lstStyle/>
          <a:p>
            <a:pPr algn="l">
              <a:lnSpc>
                <a:spcPct val="115000"/>
              </a:lnSpc>
            </a:pPr>
            <a:r>
              <a:rPr sz="1500" b="1">
                <a:solidFill>
                  <a:srgbClr val="5A6065"/>
                </a:solidFill>
                <a:latin typeface="Arial"/>
              </a:rPr>
              <a:t>1:22</a:t>
            </a:r>
          </a:p>
        </p:txBody>
      </p:sp>
      <p:sp>
        <p:nvSpPr>
          <p:cNvPr id="37" name="Rectangle 36"/>
          <p:cNvSpPr/>
          <p:nvPr/>
        </p:nvSpPr>
        <p:spPr>
          <a:xfrm>
            <a:off x="16474875" y="6903720"/>
            <a:ext cx="724988" cy="9144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6584603" y="6903720"/>
            <a:ext cx="542108" cy="914400"/>
          </a:xfrm>
          <a:prstGeom prst="rect">
            <a:avLst/>
          </a:prstGeom>
          <a:noFill/>
        </p:spPr>
        <p:txBody>
          <a:bodyPr wrap="square" anchor="ctr" lIns="0" rIns="0" tIns="0" bIns="0">
            <a:spAutoFit/>
          </a:bodyPr>
          <a:lstStyle/>
          <a:p>
            <a:pPr algn="l">
              <a:lnSpc>
                <a:spcPct val="115000"/>
              </a:lnSpc>
            </a:pPr>
            <a:r>
              <a:rPr sz="1500" b="1">
                <a:solidFill>
                  <a:srgbClr val="17161C"/>
                </a:solidFill>
                <a:latin typeface="Arial"/>
              </a:rPr>
              <a:t>Q&amp;A</a:t>
            </a:r>
          </a:p>
        </p:txBody>
      </p:sp>
      <p:sp>
        <p:nvSpPr>
          <p:cNvPr id="39" name="TextBox 38"/>
          <p:cNvSpPr txBox="1"/>
          <p:nvPr/>
        </p:nvSpPr>
        <p:spPr>
          <a:xfrm>
            <a:off x="16474875" y="6446520"/>
            <a:ext cx="724988" cy="365760"/>
          </a:xfrm>
          <a:prstGeom prst="rect">
            <a:avLst/>
          </a:prstGeom>
          <a:noFill/>
        </p:spPr>
        <p:txBody>
          <a:bodyPr wrap="square" anchor="t" lIns="0" rIns="0" tIns="0" bIns="0">
            <a:spAutoFit/>
          </a:bodyPr>
          <a:lstStyle/>
          <a:p>
            <a:pPr algn="l">
              <a:lnSpc>
                <a:spcPct val="115000"/>
              </a:lnSpc>
            </a:pPr>
            <a:r>
              <a:rPr sz="1500" b="1">
                <a:solidFill>
                  <a:srgbClr val="5A6065"/>
                </a:solidFill>
                <a:latin typeface="Arial"/>
              </a:rPr>
              <a:t>1:40</a:t>
            </a:r>
          </a:p>
        </p:txBody>
      </p:sp>
      <p:sp>
        <p:nvSpPr>
          <p:cNvPr id="40" name="TextBox 39"/>
          <p:cNvSpPr txBox="1"/>
          <p:nvPr/>
        </p:nvSpPr>
        <p:spPr>
          <a:xfrm>
            <a:off x="1060704" y="8092440"/>
            <a:ext cx="16184880" cy="457200"/>
          </a:xfrm>
          <a:prstGeom prst="rect">
            <a:avLst/>
          </a:prstGeom>
          <a:noFill/>
        </p:spPr>
        <p:txBody>
          <a:bodyPr wrap="square" anchor="t" lIns="0" rIns="0" tIns="0" bIns="0">
            <a:spAutoFit/>
          </a:bodyPr>
          <a:lstStyle/>
          <a:p>
            <a:pPr algn="l">
              <a:lnSpc>
                <a:spcPct val="115000"/>
              </a:lnSpc>
            </a:pPr>
            <a:r>
              <a:rPr sz="1700" b="0">
                <a:solidFill>
                  <a:srgbClr val="5A6065"/>
                </a:solidFill>
                <a:latin typeface="Arial"/>
              </a:rPr>
              <a:t>Every notebook block: a minute of slides, then the notebook (time-boxed), then a quick check.</a:t>
            </a:r>
          </a:p>
        </p:txBody>
      </p:sp>
      <p:sp>
        <p:nvSpPr>
          <p:cNvPr id="41" name="TextBox 40"/>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832104" y="5321808"/>
            <a:ext cx="2523744"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BASICS</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ARCHITECTURE</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Rectangle 6"/>
          <p:cNvSpPr/>
          <p:nvPr/>
        </p:nvSpPr>
        <p:spPr>
          <a:xfrm>
            <a:off x="1207008" y="2011680"/>
            <a:ext cx="3703320" cy="5577840"/>
          </a:xfrm>
          <a:prstGeom prst="rect">
            <a:avLst/>
          </a:prstGeom>
          <a:solidFill>
            <a:srgbClr val="EAF4F8"/>
          </a:solidFill>
          <a:ln w="19050">
            <a:solidFill>
              <a:srgbClr val="9CCB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47488" y="2011680"/>
            <a:ext cx="8805672" cy="5577840"/>
          </a:xfrm>
          <a:prstGeom prst="rect">
            <a:avLst/>
          </a:prstGeom>
          <a:solidFill>
            <a:srgbClr val="FDF1E9"/>
          </a:solidFill>
          <a:ln w="19050">
            <a:solidFill>
              <a:srgbClr val="F2B9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17320" y="2212848"/>
            <a:ext cx="384048" cy="384048"/>
          </a:xfrm>
          <a:prstGeom prst="rect">
            <a:avLst/>
          </a:pr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7320" y="2212848"/>
            <a:ext cx="384048" cy="384048"/>
          </a:xfrm>
          <a:prstGeom prst="rect">
            <a:avLst/>
          </a:prstGeom>
          <a:noFill/>
        </p:spPr>
        <p:txBody>
          <a:bodyPr wrap="square" anchor="ctr" lIns="0" rIns="0" tIns="0" bIns="0">
            <a:spAutoFit/>
          </a:bodyPr>
          <a:lstStyle/>
          <a:p>
            <a:pPr algn="ctr">
              <a:lnSpc>
                <a:spcPct val="115000"/>
              </a:lnSpc>
            </a:pPr>
            <a:r>
              <a:rPr sz="1600" b="1">
                <a:solidFill>
                  <a:srgbClr val="FFFFFF"/>
                </a:solidFill>
                <a:latin typeface="Arial"/>
              </a:rPr>
              <a:t>1</a:t>
            </a:r>
          </a:p>
        </p:txBody>
      </p:sp>
      <p:sp>
        <p:nvSpPr>
          <p:cNvPr id="11" name="TextBox 10"/>
          <p:cNvSpPr txBox="1"/>
          <p:nvPr/>
        </p:nvSpPr>
        <p:spPr>
          <a:xfrm>
            <a:off x="1965960" y="2176272"/>
            <a:ext cx="5486400" cy="411480"/>
          </a:xfrm>
          <a:prstGeom prst="rect">
            <a:avLst/>
          </a:prstGeom>
          <a:noFill/>
        </p:spPr>
        <p:txBody>
          <a:bodyPr wrap="square" anchor="t" lIns="0" rIns="0" tIns="0" bIns="0">
            <a:spAutoFit/>
          </a:bodyPr>
          <a:lstStyle/>
          <a:p>
            <a:pPr algn="l">
              <a:lnSpc>
                <a:spcPct val="115000"/>
              </a:lnSpc>
            </a:pPr>
            <a:r>
              <a:rPr sz="1900" b="1" spc="300">
                <a:solidFill>
                  <a:srgbClr val="5A6065"/>
                </a:solidFill>
                <a:latin typeface="Arial"/>
              </a:rPr>
              <a:t>INGESTION</a:t>
            </a:r>
          </a:p>
        </p:txBody>
      </p:sp>
      <p:sp>
        <p:nvSpPr>
          <p:cNvPr id="12" name="TextBox 11"/>
          <p:cNvSpPr txBox="1"/>
          <p:nvPr/>
        </p:nvSpPr>
        <p:spPr>
          <a:xfrm>
            <a:off x="1965960" y="2578608"/>
            <a:ext cx="6400800" cy="365760"/>
          </a:xfrm>
          <a:prstGeom prst="rect">
            <a:avLst/>
          </a:prstGeom>
          <a:noFill/>
        </p:spPr>
        <p:txBody>
          <a:bodyPr wrap="square" anchor="t" lIns="0" rIns="0" tIns="0" bIns="0">
            <a:spAutoFit/>
          </a:bodyPr>
          <a:lstStyle/>
          <a:p>
            <a:pPr algn="l">
              <a:lnSpc>
                <a:spcPct val="115000"/>
              </a:lnSpc>
            </a:pPr>
            <a:r>
              <a:rPr sz="1500" b="0">
                <a:solidFill>
                  <a:srgbClr val="8B9094"/>
                </a:solidFill>
                <a:latin typeface="Arial"/>
              </a:rPr>
              <a:t>once · notebooks 2 + 3</a:t>
            </a:r>
          </a:p>
        </p:txBody>
      </p:sp>
      <p:sp>
        <p:nvSpPr>
          <p:cNvPr id="13" name="Rectangle 12"/>
          <p:cNvSpPr/>
          <p:nvPr/>
        </p:nvSpPr>
        <p:spPr>
          <a:xfrm>
            <a:off x="5257800" y="2212848"/>
            <a:ext cx="384048" cy="384048"/>
          </a:xfrm>
          <a:prstGeom prst="rect">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2212848"/>
            <a:ext cx="384048" cy="384048"/>
          </a:xfrm>
          <a:prstGeom prst="rect">
            <a:avLst/>
          </a:prstGeom>
          <a:noFill/>
        </p:spPr>
        <p:txBody>
          <a:bodyPr wrap="square" anchor="ctr" lIns="0" rIns="0" tIns="0" bIns="0">
            <a:spAutoFit/>
          </a:bodyPr>
          <a:lstStyle/>
          <a:p>
            <a:pPr algn="ctr">
              <a:lnSpc>
                <a:spcPct val="115000"/>
              </a:lnSpc>
            </a:pPr>
            <a:r>
              <a:rPr sz="1600" b="1">
                <a:solidFill>
                  <a:srgbClr val="FFFFFF"/>
                </a:solidFill>
                <a:latin typeface="Arial"/>
              </a:rPr>
              <a:t>2</a:t>
            </a:r>
          </a:p>
        </p:txBody>
      </p:sp>
      <p:sp>
        <p:nvSpPr>
          <p:cNvPr id="15" name="TextBox 14"/>
          <p:cNvSpPr txBox="1"/>
          <p:nvPr/>
        </p:nvSpPr>
        <p:spPr>
          <a:xfrm>
            <a:off x="5806440" y="2176272"/>
            <a:ext cx="5486400" cy="411480"/>
          </a:xfrm>
          <a:prstGeom prst="rect">
            <a:avLst/>
          </a:prstGeom>
          <a:noFill/>
        </p:spPr>
        <p:txBody>
          <a:bodyPr wrap="square" anchor="t" lIns="0" rIns="0" tIns="0" bIns="0">
            <a:spAutoFit/>
          </a:bodyPr>
          <a:lstStyle/>
          <a:p>
            <a:pPr algn="l">
              <a:lnSpc>
                <a:spcPct val="115000"/>
              </a:lnSpc>
            </a:pPr>
            <a:r>
              <a:rPr sz="1900" b="1" spc="300">
                <a:solidFill>
                  <a:srgbClr val="5A6065"/>
                </a:solidFill>
                <a:latin typeface="Arial"/>
              </a:rPr>
              <a:t>INFERENCE</a:t>
            </a:r>
          </a:p>
        </p:txBody>
      </p:sp>
      <p:sp>
        <p:nvSpPr>
          <p:cNvPr id="16" name="TextBox 15"/>
          <p:cNvSpPr txBox="1"/>
          <p:nvPr/>
        </p:nvSpPr>
        <p:spPr>
          <a:xfrm>
            <a:off x="5806440" y="2578608"/>
            <a:ext cx="6400800" cy="365760"/>
          </a:xfrm>
          <a:prstGeom prst="rect">
            <a:avLst/>
          </a:prstGeom>
          <a:noFill/>
        </p:spPr>
        <p:txBody>
          <a:bodyPr wrap="square" anchor="t" lIns="0" rIns="0" tIns="0" bIns="0">
            <a:spAutoFit/>
          </a:bodyPr>
          <a:lstStyle/>
          <a:p>
            <a:pPr algn="l">
              <a:lnSpc>
                <a:spcPct val="115000"/>
              </a:lnSpc>
            </a:pPr>
            <a:r>
              <a:rPr sz="1500" b="0">
                <a:solidFill>
                  <a:srgbClr val="8B9094"/>
                </a:solidFill>
                <a:latin typeface="Arial"/>
              </a:rPr>
              <a:t>every question · notebooks 3 + 4</a:t>
            </a:r>
          </a:p>
        </p:txBody>
      </p:sp>
      <p:sp>
        <p:nvSpPr>
          <p:cNvPr id="17" name="Rectangle 16"/>
          <p:cNvSpPr/>
          <p:nvPr/>
        </p:nvSpPr>
        <p:spPr>
          <a:xfrm>
            <a:off x="1828800" y="3072384"/>
            <a:ext cx="2880360" cy="1179576"/>
          </a:xfrm>
          <a:prstGeom prst="rect">
            <a:avLst/>
          </a:prstGeom>
          <a:solidFill>
            <a:srgbClr val="E7E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75688" y="3273552"/>
            <a:ext cx="2514600" cy="411480"/>
          </a:xfrm>
          <a:prstGeom prst="rect">
            <a:avLst/>
          </a:prstGeom>
          <a:noFill/>
        </p:spPr>
        <p:txBody>
          <a:bodyPr wrap="square" anchor="t" lIns="0" rIns="0" tIns="0" bIns="0">
            <a:spAutoFit/>
          </a:bodyPr>
          <a:lstStyle/>
          <a:p>
            <a:pPr algn="l">
              <a:lnSpc>
                <a:spcPct val="115000"/>
              </a:lnSpc>
            </a:pPr>
            <a:r>
              <a:rPr sz="2000" b="1">
                <a:solidFill>
                  <a:srgbClr val="17161C"/>
                </a:solidFill>
                <a:latin typeface="Arial"/>
              </a:rPr>
              <a:t>Documents</a:t>
            </a:r>
          </a:p>
        </p:txBody>
      </p:sp>
      <p:sp>
        <p:nvSpPr>
          <p:cNvPr id="19" name="TextBox 18"/>
          <p:cNvSpPr txBox="1"/>
          <p:nvPr/>
        </p:nvSpPr>
        <p:spPr>
          <a:xfrm>
            <a:off x="2075688" y="3712463"/>
            <a:ext cx="2514600" cy="365760"/>
          </a:xfrm>
          <a:prstGeom prst="rect">
            <a:avLst/>
          </a:prstGeom>
          <a:noFill/>
        </p:spPr>
        <p:txBody>
          <a:bodyPr wrap="square" anchor="t" lIns="0" rIns="0" tIns="0" bIns="0">
            <a:spAutoFit/>
          </a:bodyPr>
          <a:lstStyle/>
          <a:p>
            <a:pPr algn="l">
              <a:lnSpc>
                <a:spcPct val="115000"/>
              </a:lnSpc>
            </a:pPr>
            <a:r>
              <a:rPr sz="1600" b="0">
                <a:solidFill>
                  <a:srgbClr val="17161C"/>
                </a:solidFill>
                <a:latin typeface="Arial"/>
              </a:rPr>
              <a:t>PDFs</a:t>
            </a:r>
          </a:p>
        </p:txBody>
      </p:sp>
      <p:sp>
        <p:nvSpPr>
          <p:cNvPr id="20" name="Rectangle 19"/>
          <p:cNvSpPr/>
          <p:nvPr/>
        </p:nvSpPr>
        <p:spPr>
          <a:xfrm>
            <a:off x="1828800" y="4617720"/>
            <a:ext cx="4937760" cy="1179576"/>
          </a:xfrm>
          <a:prstGeom prst="rect">
            <a:avLst/>
          </a:prstGeom>
          <a:solidFill>
            <a:srgbClr val="E7E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75688" y="4818888"/>
            <a:ext cx="4572000" cy="411480"/>
          </a:xfrm>
          <a:prstGeom prst="rect">
            <a:avLst/>
          </a:prstGeom>
          <a:noFill/>
        </p:spPr>
        <p:txBody>
          <a:bodyPr wrap="square" anchor="t" lIns="0" rIns="0" tIns="0" bIns="0">
            <a:spAutoFit/>
          </a:bodyPr>
          <a:lstStyle/>
          <a:p>
            <a:pPr algn="l">
              <a:lnSpc>
                <a:spcPct val="115000"/>
              </a:lnSpc>
            </a:pPr>
            <a:r>
              <a:rPr sz="2000" b="1">
                <a:solidFill>
                  <a:srgbClr val="17161C"/>
                </a:solidFill>
                <a:latin typeface="Arial"/>
              </a:rPr>
              <a:t>Embedding model</a:t>
            </a:r>
          </a:p>
        </p:txBody>
      </p:sp>
      <p:sp>
        <p:nvSpPr>
          <p:cNvPr id="22" name="TextBox 21"/>
          <p:cNvSpPr txBox="1"/>
          <p:nvPr/>
        </p:nvSpPr>
        <p:spPr>
          <a:xfrm>
            <a:off x="2075688" y="5257800"/>
            <a:ext cx="4572000" cy="365760"/>
          </a:xfrm>
          <a:prstGeom prst="rect">
            <a:avLst/>
          </a:prstGeom>
          <a:noFill/>
        </p:spPr>
        <p:txBody>
          <a:bodyPr wrap="square" anchor="t" lIns="0" rIns="0" tIns="0" bIns="0">
            <a:spAutoFit/>
          </a:bodyPr>
          <a:lstStyle/>
          <a:p>
            <a:pPr algn="l">
              <a:lnSpc>
                <a:spcPct val="115000"/>
              </a:lnSpc>
            </a:pPr>
            <a:r>
              <a:rPr sz="1600" b="0">
                <a:solidFill>
                  <a:srgbClr val="17161C"/>
                </a:solidFill>
                <a:latin typeface="Arial"/>
              </a:rPr>
              <a:t>Text in, vector out</a:t>
            </a:r>
          </a:p>
        </p:txBody>
      </p:sp>
      <p:sp>
        <p:nvSpPr>
          <p:cNvPr id="23" name="Rectangle 22"/>
          <p:cNvSpPr/>
          <p:nvPr/>
        </p:nvSpPr>
        <p:spPr>
          <a:xfrm>
            <a:off x="1828800" y="6144768"/>
            <a:ext cx="4937760" cy="1179576"/>
          </a:xfrm>
          <a:prstGeom prst="rect">
            <a:avLst/>
          </a:pr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75688" y="6345936"/>
            <a:ext cx="4572000" cy="411480"/>
          </a:xfrm>
          <a:prstGeom prst="rect">
            <a:avLst/>
          </a:prstGeom>
          <a:noFill/>
        </p:spPr>
        <p:txBody>
          <a:bodyPr wrap="square" anchor="t" lIns="0" rIns="0" tIns="0" bIns="0">
            <a:spAutoFit/>
          </a:bodyPr>
          <a:lstStyle/>
          <a:p>
            <a:pPr algn="l">
              <a:lnSpc>
                <a:spcPct val="115000"/>
              </a:lnSpc>
            </a:pPr>
            <a:r>
              <a:rPr sz="2000" b="1">
                <a:solidFill>
                  <a:srgbClr val="FFFFFF"/>
                </a:solidFill>
                <a:latin typeface="Arial"/>
              </a:rPr>
              <a:t>Vector database</a:t>
            </a:r>
          </a:p>
        </p:txBody>
      </p:sp>
      <p:sp>
        <p:nvSpPr>
          <p:cNvPr id="25" name="TextBox 24"/>
          <p:cNvSpPr txBox="1"/>
          <p:nvPr/>
        </p:nvSpPr>
        <p:spPr>
          <a:xfrm>
            <a:off x="2075688" y="6784848"/>
            <a:ext cx="4572000" cy="365760"/>
          </a:xfrm>
          <a:prstGeom prst="rect">
            <a:avLst/>
          </a:prstGeom>
          <a:noFill/>
        </p:spPr>
        <p:txBody>
          <a:bodyPr wrap="square" anchor="t" lIns="0" rIns="0" tIns="0" bIns="0">
            <a:spAutoFit/>
          </a:bodyPr>
          <a:lstStyle/>
          <a:p>
            <a:pPr algn="l">
              <a:lnSpc>
                <a:spcPct val="115000"/>
              </a:lnSpc>
            </a:pPr>
            <a:r>
              <a:rPr sz="1600" b="0">
                <a:solidFill>
                  <a:srgbClr val="FFFFFF"/>
                </a:solidFill>
                <a:latin typeface="Arial"/>
              </a:rPr>
              <a:t>Index for similarity search</a:t>
            </a:r>
          </a:p>
        </p:txBody>
      </p:sp>
      <p:sp>
        <p:nvSpPr>
          <p:cNvPr id="26" name="Rectangle 25"/>
          <p:cNvSpPr/>
          <p:nvPr/>
        </p:nvSpPr>
        <p:spPr>
          <a:xfrm>
            <a:off x="7525512" y="3072384"/>
            <a:ext cx="2898648" cy="1179576"/>
          </a:xfrm>
          <a:prstGeom prst="rect">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0" y="3273552"/>
            <a:ext cx="2532888" cy="411480"/>
          </a:xfrm>
          <a:prstGeom prst="rect">
            <a:avLst/>
          </a:prstGeom>
          <a:noFill/>
        </p:spPr>
        <p:txBody>
          <a:bodyPr wrap="square" anchor="t" lIns="0" rIns="0" tIns="0" bIns="0">
            <a:spAutoFit/>
          </a:bodyPr>
          <a:lstStyle/>
          <a:p>
            <a:pPr algn="l">
              <a:lnSpc>
                <a:spcPct val="115000"/>
              </a:lnSpc>
            </a:pPr>
            <a:r>
              <a:rPr sz="2000" b="1">
                <a:solidFill>
                  <a:srgbClr val="FFFFFF"/>
                </a:solidFill>
                <a:latin typeface="Arial"/>
              </a:rPr>
              <a:t>Question</a:t>
            </a:r>
          </a:p>
        </p:txBody>
      </p:sp>
      <p:sp>
        <p:nvSpPr>
          <p:cNvPr id="28" name="TextBox 27"/>
          <p:cNvSpPr txBox="1"/>
          <p:nvPr/>
        </p:nvSpPr>
        <p:spPr>
          <a:xfrm>
            <a:off x="7772400" y="3712463"/>
            <a:ext cx="2532888" cy="365760"/>
          </a:xfrm>
          <a:prstGeom prst="rect">
            <a:avLst/>
          </a:prstGeom>
          <a:noFill/>
        </p:spPr>
        <p:txBody>
          <a:bodyPr wrap="square" anchor="t" lIns="0" rIns="0" tIns="0" bIns="0">
            <a:spAutoFit/>
          </a:bodyPr>
          <a:lstStyle/>
          <a:p>
            <a:pPr algn="l">
              <a:lnSpc>
                <a:spcPct val="115000"/>
              </a:lnSpc>
            </a:pPr>
            <a:r>
              <a:rPr sz="1600" b="0">
                <a:solidFill>
                  <a:srgbClr val="FFFFFF"/>
                </a:solidFill>
                <a:latin typeface="Arial"/>
              </a:rPr>
              <a:t>asked by the user</a:t>
            </a:r>
          </a:p>
        </p:txBody>
      </p:sp>
      <p:sp>
        <p:nvSpPr>
          <p:cNvPr id="29" name="Rectangle 28"/>
          <p:cNvSpPr/>
          <p:nvPr/>
        </p:nvSpPr>
        <p:spPr>
          <a:xfrm>
            <a:off x="7525512" y="6144768"/>
            <a:ext cx="2898648" cy="1179576"/>
          </a:xfrm>
          <a:prstGeom prst="rect">
            <a:avLst/>
          </a:prstGeom>
          <a:solidFill>
            <a:srgbClr val="E7E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0" y="6345936"/>
            <a:ext cx="2532888" cy="411480"/>
          </a:xfrm>
          <a:prstGeom prst="rect">
            <a:avLst/>
          </a:prstGeom>
          <a:noFill/>
        </p:spPr>
        <p:txBody>
          <a:bodyPr wrap="square" anchor="t" lIns="0" rIns="0" tIns="0" bIns="0">
            <a:spAutoFit/>
          </a:bodyPr>
          <a:lstStyle/>
          <a:p>
            <a:pPr algn="l">
              <a:lnSpc>
                <a:spcPct val="115000"/>
              </a:lnSpc>
            </a:pPr>
            <a:r>
              <a:rPr sz="2000" b="1">
                <a:solidFill>
                  <a:srgbClr val="17161C"/>
                </a:solidFill>
                <a:latin typeface="Arial"/>
              </a:rPr>
              <a:t>Relevant passages</a:t>
            </a:r>
          </a:p>
        </p:txBody>
      </p:sp>
      <p:sp>
        <p:nvSpPr>
          <p:cNvPr id="31" name="TextBox 30"/>
          <p:cNvSpPr txBox="1"/>
          <p:nvPr/>
        </p:nvSpPr>
        <p:spPr>
          <a:xfrm>
            <a:off x="7772400" y="6784848"/>
            <a:ext cx="2532888" cy="365760"/>
          </a:xfrm>
          <a:prstGeom prst="rect">
            <a:avLst/>
          </a:prstGeom>
          <a:noFill/>
        </p:spPr>
        <p:txBody>
          <a:bodyPr wrap="square" anchor="t" lIns="0" rIns="0" tIns="0" bIns="0">
            <a:spAutoFit/>
          </a:bodyPr>
          <a:lstStyle/>
          <a:p>
            <a:pPr algn="l">
              <a:lnSpc>
                <a:spcPct val="115000"/>
              </a:lnSpc>
            </a:pPr>
            <a:r>
              <a:rPr sz="1600" b="0">
                <a:solidFill>
                  <a:srgbClr val="17161C"/>
                </a:solidFill>
                <a:latin typeface="Arial"/>
              </a:rPr>
              <a:t>go into the prompt</a:t>
            </a:r>
          </a:p>
        </p:txBody>
      </p:sp>
      <p:sp>
        <p:nvSpPr>
          <p:cNvPr id="32" name="Rectangle 31"/>
          <p:cNvSpPr/>
          <p:nvPr/>
        </p:nvSpPr>
        <p:spPr>
          <a:xfrm>
            <a:off x="10954512" y="4617720"/>
            <a:ext cx="2862072" cy="1179576"/>
          </a:xfrm>
          <a:prstGeom prst="rect">
            <a:avLst/>
          </a:prstGeom>
          <a:solidFill>
            <a:srgbClr val="E7E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201400" y="4818888"/>
            <a:ext cx="2496312" cy="411480"/>
          </a:xfrm>
          <a:prstGeom prst="rect">
            <a:avLst/>
          </a:prstGeom>
          <a:noFill/>
        </p:spPr>
        <p:txBody>
          <a:bodyPr wrap="square" anchor="t" lIns="0" rIns="0" tIns="0" bIns="0">
            <a:spAutoFit/>
          </a:bodyPr>
          <a:lstStyle/>
          <a:p>
            <a:pPr algn="l">
              <a:lnSpc>
                <a:spcPct val="115000"/>
              </a:lnSpc>
            </a:pPr>
            <a:r>
              <a:rPr sz="2000" b="1">
                <a:solidFill>
                  <a:srgbClr val="17161C"/>
                </a:solidFill>
                <a:latin typeface="Arial"/>
              </a:rPr>
              <a:t>LLM</a:t>
            </a:r>
          </a:p>
        </p:txBody>
      </p:sp>
      <p:sp>
        <p:nvSpPr>
          <p:cNvPr id="34" name="TextBox 33"/>
          <p:cNvSpPr txBox="1"/>
          <p:nvPr/>
        </p:nvSpPr>
        <p:spPr>
          <a:xfrm>
            <a:off x="11201400" y="5257800"/>
            <a:ext cx="2496312" cy="365760"/>
          </a:xfrm>
          <a:prstGeom prst="rect">
            <a:avLst/>
          </a:prstGeom>
          <a:noFill/>
        </p:spPr>
        <p:txBody>
          <a:bodyPr wrap="square" anchor="t" lIns="0" rIns="0" tIns="0" bIns="0">
            <a:spAutoFit/>
          </a:bodyPr>
          <a:lstStyle/>
          <a:p>
            <a:pPr algn="l">
              <a:lnSpc>
                <a:spcPct val="115000"/>
              </a:lnSpc>
            </a:pPr>
            <a:r>
              <a:rPr sz="1600" b="0">
                <a:solidFill>
                  <a:srgbClr val="17161C"/>
                </a:solidFill>
                <a:latin typeface="Arial"/>
              </a:rPr>
              <a:t>language model</a:t>
            </a:r>
          </a:p>
        </p:txBody>
      </p:sp>
      <p:sp>
        <p:nvSpPr>
          <p:cNvPr id="35" name="Rectangle 34"/>
          <p:cNvSpPr/>
          <p:nvPr/>
        </p:nvSpPr>
        <p:spPr>
          <a:xfrm>
            <a:off x="14346936" y="4617720"/>
            <a:ext cx="2898648" cy="1179576"/>
          </a:xfrm>
          <a:prstGeom prst="rect">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4593824" y="4818888"/>
            <a:ext cx="2532888" cy="411480"/>
          </a:xfrm>
          <a:prstGeom prst="rect">
            <a:avLst/>
          </a:prstGeom>
          <a:noFill/>
        </p:spPr>
        <p:txBody>
          <a:bodyPr wrap="square" anchor="t" lIns="0" rIns="0" tIns="0" bIns="0">
            <a:spAutoFit/>
          </a:bodyPr>
          <a:lstStyle/>
          <a:p>
            <a:pPr algn="l">
              <a:lnSpc>
                <a:spcPct val="115000"/>
              </a:lnSpc>
            </a:pPr>
            <a:r>
              <a:rPr sz="2000" b="1">
                <a:solidFill>
                  <a:srgbClr val="FFFFFF"/>
                </a:solidFill>
                <a:latin typeface="Arial"/>
              </a:rPr>
              <a:t>Answer</a:t>
            </a:r>
          </a:p>
        </p:txBody>
      </p:sp>
      <p:sp>
        <p:nvSpPr>
          <p:cNvPr id="37" name="TextBox 36"/>
          <p:cNvSpPr txBox="1"/>
          <p:nvPr/>
        </p:nvSpPr>
        <p:spPr>
          <a:xfrm>
            <a:off x="14593824" y="5257800"/>
            <a:ext cx="2532888" cy="365760"/>
          </a:xfrm>
          <a:prstGeom prst="rect">
            <a:avLst/>
          </a:prstGeom>
          <a:noFill/>
        </p:spPr>
        <p:txBody>
          <a:bodyPr wrap="square" anchor="t" lIns="0" rIns="0" tIns="0" bIns="0">
            <a:spAutoFit/>
          </a:bodyPr>
          <a:lstStyle/>
          <a:p>
            <a:pPr algn="l">
              <a:lnSpc>
                <a:spcPct val="115000"/>
              </a:lnSpc>
            </a:pPr>
            <a:r>
              <a:rPr sz="1600" b="0">
                <a:solidFill>
                  <a:srgbClr val="FFFFFF"/>
                </a:solidFill>
                <a:latin typeface="Arial"/>
              </a:rPr>
              <a:t>with sources</a:t>
            </a:r>
          </a:p>
        </p:txBody>
      </p:sp>
      <p:cxnSp>
        <p:nvCxnSpPr>
          <p:cNvPr id="38" name="Connector 37"/>
          <p:cNvCxnSpPr/>
          <p:nvPr/>
        </p:nvCxnSpPr>
        <p:spPr>
          <a:xfrm>
            <a:off x="3264408" y="4251960"/>
            <a:ext cx="0" cy="320040"/>
          </a:xfrm>
          <a:prstGeom prst="line">
            <a:avLst/>
          </a:prstGeom>
          <a:ln w="38100">
            <a:solidFill>
              <a:srgbClr val="007A9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264408" y="5797296"/>
            <a:ext cx="0" cy="301752"/>
          </a:xfrm>
          <a:prstGeom prst="line">
            <a:avLst/>
          </a:prstGeom>
          <a:ln w="38100">
            <a:solidFill>
              <a:srgbClr val="007A9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6858000" y="4361688"/>
            <a:ext cx="777240" cy="777240"/>
          </a:xfrm>
          <a:prstGeom prst="line">
            <a:avLst/>
          </a:prstGeom>
          <a:ln w="38100">
            <a:solidFill>
              <a:srgbClr val="DD610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522976" y="5797296"/>
            <a:ext cx="0" cy="301752"/>
          </a:xfrm>
          <a:prstGeom prst="line">
            <a:avLst/>
          </a:prstGeom>
          <a:ln w="38100">
            <a:solidFill>
              <a:srgbClr val="DD610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766560" y="6729984"/>
            <a:ext cx="713232" cy="0"/>
          </a:xfrm>
          <a:prstGeom prst="line">
            <a:avLst/>
          </a:prstGeom>
          <a:ln w="38100">
            <a:solidFill>
              <a:srgbClr val="DD610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287000" y="4361688"/>
            <a:ext cx="612648" cy="640080"/>
          </a:xfrm>
          <a:prstGeom prst="line">
            <a:avLst/>
          </a:prstGeom>
          <a:ln w="38100">
            <a:solidFill>
              <a:srgbClr val="DD610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287000" y="5458968"/>
            <a:ext cx="612648" cy="640080"/>
          </a:xfrm>
          <a:prstGeom prst="line">
            <a:avLst/>
          </a:prstGeom>
          <a:ln w="38100">
            <a:solidFill>
              <a:srgbClr val="DD610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3844016" y="5212080"/>
            <a:ext cx="457200" cy="0"/>
          </a:xfrm>
          <a:prstGeom prst="line">
            <a:avLst/>
          </a:prstGeom>
          <a:ln w="38100">
            <a:solidFill>
              <a:srgbClr val="DD610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060704" y="8092440"/>
            <a:ext cx="7680960" cy="1828800"/>
          </a:xfrm>
          <a:prstGeom prst="rect">
            <a:avLst/>
          </a:prstGeom>
          <a:noFill/>
        </p:spPr>
        <p:txBody>
          <a:bodyPr wrap="square" anchor="t" lIns="0" rIns="0" tIns="0" bIns="0">
            <a:spAutoFit/>
          </a:bodyPr>
          <a:lstStyle/>
          <a:p>
            <a:pPr algn="l">
              <a:lnSpc>
                <a:spcPct val="125000"/>
              </a:lnSpc>
            </a:pPr>
            <a:r>
              <a:rPr sz="1700" b="1">
                <a:solidFill>
                  <a:srgbClr val="007A9E"/>
                </a:solidFill>
                <a:latin typeface="Arial"/>
              </a:rPr>
              <a:t>Once, ahead of time, </a:t>
            </a:r>
            <a:r>
              <a:rPr sz="1700" b="0">
                <a:solidFill>
                  <a:srgbClr val="17161C"/>
                </a:solidFill>
                <a:latin typeface="Arial"/>
              </a:rPr>
              <a:t>the documents are read and cut into chunks. The embedding model turns every chunk into a vector, a list of numbers that captures its meaning. The vectors go into the vector database.</a:t>
            </a:r>
          </a:p>
        </p:txBody>
      </p:sp>
      <p:sp>
        <p:nvSpPr>
          <p:cNvPr id="47" name="TextBox 46"/>
          <p:cNvSpPr txBox="1"/>
          <p:nvPr/>
        </p:nvSpPr>
        <p:spPr>
          <a:xfrm>
            <a:off x="9418320" y="8092440"/>
            <a:ext cx="7863840" cy="1828800"/>
          </a:xfrm>
          <a:prstGeom prst="rect">
            <a:avLst/>
          </a:prstGeom>
          <a:noFill/>
        </p:spPr>
        <p:txBody>
          <a:bodyPr wrap="square" anchor="t" lIns="0" rIns="0" tIns="0" bIns="0">
            <a:spAutoFit/>
          </a:bodyPr>
          <a:lstStyle/>
          <a:p>
            <a:pPr algn="l">
              <a:lnSpc>
                <a:spcPct val="125000"/>
              </a:lnSpc>
            </a:pPr>
            <a:r>
              <a:rPr sz="1700" b="1">
                <a:solidFill>
                  <a:srgbClr val="DD6108"/>
                </a:solidFill>
                <a:latin typeface="Arial"/>
              </a:rPr>
              <a:t>For every question, </a:t>
            </a:r>
            <a:r>
              <a:rPr sz="1700" b="0">
                <a:solidFill>
                  <a:srgbClr val="17161C"/>
                </a:solidFill>
                <a:latin typeface="Arial"/>
              </a:rPr>
              <a:t>the same model turns the question into a vector and searches the same database. The closest chunks go to the language model with the question, and it answers with sources.</a:t>
            </a:r>
          </a:p>
        </p:txBody>
      </p:sp>
      <p:sp>
        <p:nvSpPr>
          <p:cNvPr id="48" name="TextBox 47"/>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161288" y="5321808"/>
            <a:ext cx="3182112"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HANDS-ON</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SETUP</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Rectangle 6"/>
          <p:cNvSpPr/>
          <p:nvPr/>
        </p:nvSpPr>
        <p:spPr>
          <a:xfrm>
            <a:off x="1060704" y="1965960"/>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96596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1</a:t>
            </a:r>
          </a:p>
        </p:txBody>
      </p:sp>
      <p:sp>
        <p:nvSpPr>
          <p:cNvPr id="9" name="TextBox 8"/>
          <p:cNvSpPr txBox="1"/>
          <p:nvPr/>
        </p:nvSpPr>
        <p:spPr>
          <a:xfrm>
            <a:off x="1691640" y="1947672"/>
            <a:ext cx="8229600" cy="411480"/>
          </a:xfrm>
          <a:prstGeom prst="rect">
            <a:avLst/>
          </a:prstGeom>
          <a:noFill/>
        </p:spPr>
        <p:txBody>
          <a:bodyPr wrap="square" anchor="t" lIns="0" rIns="0" tIns="0" bIns="0">
            <a:spAutoFit/>
          </a:bodyPr>
          <a:lstStyle/>
          <a:p>
            <a:pPr algn="l">
              <a:lnSpc>
                <a:spcPct val="115000"/>
              </a:lnSpc>
            </a:pPr>
            <a:r>
              <a:rPr sz="1900" b="1">
                <a:solidFill>
                  <a:srgbClr val="17161C"/>
                </a:solidFill>
                <a:latin typeface="Arial"/>
              </a:rPr>
              <a:t>Install (started on slide 2)</a:t>
            </a:r>
          </a:p>
        </p:txBody>
      </p:sp>
      <p:sp>
        <p:nvSpPr>
          <p:cNvPr id="10" name="TextBox 9"/>
          <p:cNvSpPr txBox="1"/>
          <p:nvPr/>
        </p:nvSpPr>
        <p:spPr>
          <a:xfrm>
            <a:off x="1691640" y="2377440"/>
            <a:ext cx="8961120" cy="1097280"/>
          </a:xfrm>
          <a:prstGeom prst="rect">
            <a:avLst/>
          </a:prstGeom>
          <a:noFill/>
        </p:spPr>
        <p:txBody>
          <a:bodyPr wrap="square" anchor="t" lIns="0" rIns="0" tIns="0" bIns="0">
            <a:spAutoFit/>
          </a:bodyPr>
          <a:lstStyle/>
          <a:p>
            <a:pPr algn="l">
              <a:lnSpc>
                <a:spcPct val="120000"/>
              </a:lnSpc>
            </a:pPr>
            <a:r>
              <a:rPr sz="1500" b="0">
                <a:solidFill>
                  <a:srgbClr val="5A6065"/>
                </a:solidFill>
                <a:latin typeface="Courier New"/>
              </a:rPr>
              <a:t>git clone https://github.com/aihpi/workshop-rag-basics.git</a:t>
            </a:r>
            <a:br/>
            <a:r>
              <a:rPr sz="1500" b="0">
                <a:solidFill>
                  <a:srgbClr val="5A6065"/>
                </a:solidFill>
                <a:latin typeface="Courier New"/>
              </a:rPr>
              <a:t>cd workshop-rag-basics</a:t>
            </a:r>
            <a:br/>
            <a:r>
              <a:rPr sz="1500" b="0">
                <a:solidFill>
                  <a:srgbClr val="5A6065"/>
                </a:solidFill>
                <a:latin typeface="Courier New"/>
              </a:rPr>
              <a:t>uv sync</a:t>
            </a:r>
          </a:p>
        </p:txBody>
      </p:sp>
      <p:sp>
        <p:nvSpPr>
          <p:cNvPr id="11" name="Rectangle 10"/>
          <p:cNvSpPr/>
          <p:nvPr/>
        </p:nvSpPr>
        <p:spPr>
          <a:xfrm>
            <a:off x="1060704" y="3648456"/>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3648456"/>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2</a:t>
            </a:r>
          </a:p>
        </p:txBody>
      </p:sp>
      <p:sp>
        <p:nvSpPr>
          <p:cNvPr id="13" name="TextBox 12"/>
          <p:cNvSpPr txBox="1"/>
          <p:nvPr/>
        </p:nvSpPr>
        <p:spPr>
          <a:xfrm>
            <a:off x="1691640" y="3630168"/>
            <a:ext cx="8229600" cy="411480"/>
          </a:xfrm>
          <a:prstGeom prst="rect">
            <a:avLst/>
          </a:prstGeom>
          <a:noFill/>
        </p:spPr>
        <p:txBody>
          <a:bodyPr wrap="square" anchor="t" lIns="0" rIns="0" tIns="0" bIns="0">
            <a:spAutoFit/>
          </a:bodyPr>
          <a:lstStyle/>
          <a:p>
            <a:pPr algn="l">
              <a:lnSpc>
                <a:spcPct val="115000"/>
              </a:lnSpc>
            </a:pPr>
            <a:r>
              <a:rPr sz="1900" b="1">
                <a:solidFill>
                  <a:srgbClr val="17161C"/>
                </a:solidFill>
                <a:latin typeface="Arial"/>
              </a:rPr>
              <a:t>Add the key</a:t>
            </a:r>
          </a:p>
        </p:txBody>
      </p:sp>
      <p:sp>
        <p:nvSpPr>
          <p:cNvPr id="14" name="TextBox 13"/>
          <p:cNvSpPr txBox="1"/>
          <p:nvPr/>
        </p:nvSpPr>
        <p:spPr>
          <a:xfrm>
            <a:off x="1691640" y="4059936"/>
            <a:ext cx="8961120" cy="1097280"/>
          </a:xfrm>
          <a:prstGeom prst="rect">
            <a:avLst/>
          </a:prstGeom>
          <a:noFill/>
        </p:spPr>
        <p:txBody>
          <a:bodyPr wrap="square" anchor="t" lIns="0" rIns="0" tIns="0" bIns="0">
            <a:spAutoFit/>
          </a:bodyPr>
          <a:lstStyle/>
          <a:p>
            <a:pPr algn="l">
              <a:lnSpc>
                <a:spcPct val="120000"/>
              </a:lnSpc>
            </a:pPr>
            <a:r>
              <a:rPr sz="1500" b="0">
                <a:solidFill>
                  <a:srgbClr val="5A6065"/>
                </a:solidFill>
                <a:latin typeface="Courier New"/>
              </a:rPr>
              <a:t>cp .env.example .env</a:t>
            </a:r>
            <a:br/>
            <a:r>
              <a:rPr sz="1500" b="0">
                <a:solidFill>
                  <a:srgbClr val="5A6065"/>
                </a:solidFill>
                <a:latin typeface="Courier New"/>
              </a:rPr>
              <a:t>open -e .env    # Windows: notepad .env</a:t>
            </a:r>
            <a:br/>
            <a:r>
              <a:rPr sz="1500" b="0">
                <a:solidFill>
                  <a:srgbClr val="5A6065"/>
                </a:solidFill>
                <a:latin typeface="Courier New"/>
              </a:rPr>
              <a:t># paste the key from the whiteboard after LLM_API_KEY=</a:t>
            </a:r>
          </a:p>
        </p:txBody>
      </p:sp>
      <p:sp>
        <p:nvSpPr>
          <p:cNvPr id="15" name="Rectangle 14"/>
          <p:cNvSpPr/>
          <p:nvPr/>
        </p:nvSpPr>
        <p:spPr>
          <a:xfrm>
            <a:off x="1060704" y="5330952"/>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0704" y="5330952"/>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3</a:t>
            </a:r>
          </a:p>
        </p:txBody>
      </p:sp>
      <p:sp>
        <p:nvSpPr>
          <p:cNvPr id="17" name="TextBox 16"/>
          <p:cNvSpPr txBox="1"/>
          <p:nvPr/>
        </p:nvSpPr>
        <p:spPr>
          <a:xfrm>
            <a:off x="1691640" y="5312664"/>
            <a:ext cx="8229600" cy="411480"/>
          </a:xfrm>
          <a:prstGeom prst="rect">
            <a:avLst/>
          </a:prstGeom>
          <a:noFill/>
        </p:spPr>
        <p:txBody>
          <a:bodyPr wrap="square" anchor="t" lIns="0" rIns="0" tIns="0" bIns="0">
            <a:spAutoFit/>
          </a:bodyPr>
          <a:lstStyle/>
          <a:p>
            <a:pPr algn="l">
              <a:lnSpc>
                <a:spcPct val="115000"/>
              </a:lnSpc>
            </a:pPr>
            <a:r>
              <a:rPr sz="1900" b="1">
                <a:solidFill>
                  <a:srgbClr val="17161C"/>
                </a:solidFill>
                <a:latin typeface="Arial"/>
              </a:rPr>
              <a:t>Check, and fetch Docling's models</a:t>
            </a:r>
          </a:p>
        </p:txBody>
      </p:sp>
      <p:sp>
        <p:nvSpPr>
          <p:cNvPr id="18" name="TextBox 17"/>
          <p:cNvSpPr txBox="1"/>
          <p:nvPr/>
        </p:nvSpPr>
        <p:spPr>
          <a:xfrm>
            <a:off x="1691640" y="5742432"/>
            <a:ext cx="8961120" cy="1097280"/>
          </a:xfrm>
          <a:prstGeom prst="rect">
            <a:avLst/>
          </a:prstGeom>
          <a:noFill/>
        </p:spPr>
        <p:txBody>
          <a:bodyPr wrap="square" anchor="t" lIns="0" rIns="0" tIns="0" bIns="0">
            <a:spAutoFit/>
          </a:bodyPr>
          <a:lstStyle/>
          <a:p>
            <a:pPr algn="l">
              <a:lnSpc>
                <a:spcPct val="120000"/>
              </a:lnSpc>
            </a:pPr>
            <a:r>
              <a:rPr sz="1500" b="0">
                <a:solidFill>
                  <a:srgbClr val="5A6065"/>
                </a:solidFill>
                <a:latin typeface="Courier New"/>
              </a:rPr>
              <a:t>uv run python check_setup.py</a:t>
            </a:r>
          </a:p>
        </p:txBody>
      </p:sp>
      <p:sp>
        <p:nvSpPr>
          <p:cNvPr id="19" name="Rectangle 18"/>
          <p:cNvSpPr/>
          <p:nvPr/>
        </p:nvSpPr>
        <p:spPr>
          <a:xfrm>
            <a:off x="1060704" y="6519672"/>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0704" y="6519672"/>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4</a:t>
            </a:r>
          </a:p>
        </p:txBody>
      </p:sp>
      <p:sp>
        <p:nvSpPr>
          <p:cNvPr id="21" name="TextBox 20"/>
          <p:cNvSpPr txBox="1"/>
          <p:nvPr/>
        </p:nvSpPr>
        <p:spPr>
          <a:xfrm>
            <a:off x="1691640" y="6501384"/>
            <a:ext cx="8229600" cy="411480"/>
          </a:xfrm>
          <a:prstGeom prst="rect">
            <a:avLst/>
          </a:prstGeom>
          <a:noFill/>
        </p:spPr>
        <p:txBody>
          <a:bodyPr wrap="square" anchor="t" lIns="0" rIns="0" tIns="0" bIns="0">
            <a:spAutoFit/>
          </a:bodyPr>
          <a:lstStyle/>
          <a:p>
            <a:pPr algn="l">
              <a:lnSpc>
                <a:spcPct val="115000"/>
              </a:lnSpc>
            </a:pPr>
            <a:r>
              <a:rPr sz="1900" b="1">
                <a:solidFill>
                  <a:srgbClr val="17161C"/>
                </a:solidFill>
                <a:latin typeface="Arial"/>
              </a:rPr>
              <a:t>Start</a:t>
            </a:r>
          </a:p>
        </p:txBody>
      </p:sp>
      <p:sp>
        <p:nvSpPr>
          <p:cNvPr id="22" name="TextBox 21"/>
          <p:cNvSpPr txBox="1"/>
          <p:nvPr/>
        </p:nvSpPr>
        <p:spPr>
          <a:xfrm>
            <a:off x="1691640" y="6931152"/>
            <a:ext cx="8961120" cy="1097280"/>
          </a:xfrm>
          <a:prstGeom prst="rect">
            <a:avLst/>
          </a:prstGeom>
          <a:noFill/>
        </p:spPr>
        <p:txBody>
          <a:bodyPr wrap="square" anchor="t" lIns="0" rIns="0" tIns="0" bIns="0">
            <a:spAutoFit/>
          </a:bodyPr>
          <a:lstStyle/>
          <a:p>
            <a:pPr algn="l">
              <a:lnSpc>
                <a:spcPct val="120000"/>
              </a:lnSpc>
            </a:pPr>
            <a:r>
              <a:rPr sz="1500" b="0">
                <a:solidFill>
                  <a:srgbClr val="5A6065"/>
                </a:solidFill>
                <a:latin typeface="Courier New"/>
              </a:rPr>
              <a:t>uv run jupyter lab</a:t>
            </a:r>
          </a:p>
        </p:txBody>
      </p:sp>
      <p:sp>
        <p:nvSpPr>
          <p:cNvPr id="23" name="TextBox 22"/>
          <p:cNvSpPr txBox="1"/>
          <p:nvPr/>
        </p:nvSpPr>
        <p:spPr>
          <a:xfrm>
            <a:off x="1060704" y="7891271"/>
            <a:ext cx="9144000" cy="73152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Done when check_setup.py prints </a:t>
            </a:r>
            <a:r>
              <a:rPr sz="1800" b="1">
                <a:solidFill>
                  <a:srgbClr val="17161C"/>
                </a:solidFill>
                <a:latin typeface="Arial"/>
              </a:rPr>
              <a:t>You're ready for the workshop.</a:t>
            </a:r>
          </a:p>
        </p:txBody>
      </p:sp>
      <p:pic>
        <p:nvPicPr>
          <p:cNvPr id="24" name="Picture 23" descr="live-reload.png"/>
          <p:cNvPicPr>
            <a:picLocks noChangeAspect="1"/>
          </p:cNvPicPr>
          <p:nvPr/>
        </p:nvPicPr>
        <p:blipFill>
          <a:blip r:embed="rId4"/>
          <a:stretch>
            <a:fillRect/>
          </a:stretch>
        </p:blipFill>
        <p:spPr>
          <a:xfrm>
            <a:off x="10972800" y="2011680"/>
            <a:ext cx="6949440" cy="1230786"/>
          </a:xfrm>
          <a:prstGeom prst="rect">
            <a:avLst/>
          </a:prstGeom>
        </p:spPr>
      </p:pic>
      <p:sp>
        <p:nvSpPr>
          <p:cNvPr id="25" name="TextBox 24"/>
          <p:cNvSpPr txBox="1"/>
          <p:nvPr/>
        </p:nvSpPr>
        <p:spPr>
          <a:xfrm>
            <a:off x="10972800" y="3931920"/>
            <a:ext cx="6766560" cy="1645920"/>
          </a:xfrm>
          <a:prstGeom prst="rect">
            <a:avLst/>
          </a:prstGeom>
          <a:noFill/>
        </p:spPr>
        <p:txBody>
          <a:bodyPr wrap="square" anchor="t" lIns="0" rIns="0" tIns="0" bIns="0">
            <a:spAutoFit/>
          </a:bodyPr>
          <a:lstStyle/>
          <a:p>
            <a:pPr algn="l">
              <a:lnSpc>
                <a:spcPct val="125000"/>
              </a:lnSpc>
            </a:pPr>
            <a:r>
              <a:rPr sz="1800" b="0">
                <a:solidFill>
                  <a:srgbClr val="17161C"/>
                </a:solidFill>
                <a:latin typeface="Arial"/>
              </a:rPr>
              <a:t>Cells that start with %%writefile app.py write the chatbot. Chainlit notices the change and reloads it in your browser at localhost:8000.</a:t>
            </a:r>
          </a:p>
        </p:txBody>
      </p:sp>
      <p:sp>
        <p:nvSpPr>
          <p:cNvPr id="26" name="TextBox 25"/>
          <p:cNvSpPr txBox="1"/>
          <p:nvPr/>
        </p:nvSpPr>
        <p:spPr>
          <a:xfrm>
            <a:off x="10972800" y="5989320"/>
            <a:ext cx="64008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CHAT MODEL</a:t>
            </a:r>
          </a:p>
        </p:txBody>
      </p:sp>
      <p:sp>
        <p:nvSpPr>
          <p:cNvPr id="27" name="TextBox 26"/>
          <p:cNvSpPr txBox="1"/>
          <p:nvPr/>
        </p:nvSpPr>
        <p:spPr>
          <a:xfrm>
            <a:off x="10972800" y="6355080"/>
            <a:ext cx="6766560" cy="411480"/>
          </a:xfrm>
          <a:prstGeom prst="rect">
            <a:avLst/>
          </a:prstGeom>
          <a:noFill/>
        </p:spPr>
        <p:txBody>
          <a:bodyPr wrap="square" anchor="t" lIns="0" rIns="0" tIns="0" bIns="0">
            <a:spAutoFit/>
          </a:bodyPr>
          <a:lstStyle/>
          <a:p>
            <a:pPr algn="l">
              <a:lnSpc>
                <a:spcPct val="115000"/>
              </a:lnSpc>
            </a:pPr>
            <a:r>
              <a:rPr sz="1900" b="0">
                <a:solidFill>
                  <a:srgbClr val="17161C"/>
                </a:solidFill>
                <a:latin typeface="Courier New"/>
              </a:rPr>
              <a:t>gemma-4-31b</a:t>
            </a:r>
          </a:p>
        </p:txBody>
      </p:sp>
      <p:sp>
        <p:nvSpPr>
          <p:cNvPr id="28" name="TextBox 27"/>
          <p:cNvSpPr txBox="1"/>
          <p:nvPr/>
        </p:nvSpPr>
        <p:spPr>
          <a:xfrm>
            <a:off x="10972800" y="7040879"/>
            <a:ext cx="64008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EMBEDDING MODEL</a:t>
            </a:r>
          </a:p>
        </p:txBody>
      </p:sp>
      <p:sp>
        <p:nvSpPr>
          <p:cNvPr id="29" name="TextBox 28"/>
          <p:cNvSpPr txBox="1"/>
          <p:nvPr/>
        </p:nvSpPr>
        <p:spPr>
          <a:xfrm>
            <a:off x="10972800" y="7406640"/>
            <a:ext cx="6766560" cy="411480"/>
          </a:xfrm>
          <a:prstGeom prst="rect">
            <a:avLst/>
          </a:prstGeom>
          <a:noFill/>
        </p:spPr>
        <p:txBody>
          <a:bodyPr wrap="square" anchor="t" lIns="0" rIns="0" tIns="0" bIns="0">
            <a:spAutoFit/>
          </a:bodyPr>
          <a:lstStyle/>
          <a:p>
            <a:pPr algn="l">
              <a:lnSpc>
                <a:spcPct val="115000"/>
              </a:lnSpc>
            </a:pPr>
            <a:r>
              <a:rPr sz="1900" b="0">
                <a:solidFill>
                  <a:srgbClr val="17161C"/>
                </a:solidFill>
                <a:latin typeface="Courier New"/>
              </a:rPr>
              <a:t>octen-embedding-8b</a:t>
            </a:r>
          </a:p>
        </p:txBody>
      </p:sp>
      <p:sp>
        <p:nvSpPr>
          <p:cNvPr id="30" name="TextBox 29"/>
          <p:cNvSpPr txBox="1"/>
          <p:nvPr/>
        </p:nvSpPr>
        <p:spPr>
          <a:xfrm>
            <a:off x="10972800" y="8092440"/>
            <a:ext cx="64008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RUNS ON</a:t>
            </a:r>
          </a:p>
        </p:txBody>
      </p:sp>
      <p:sp>
        <p:nvSpPr>
          <p:cNvPr id="31" name="TextBox 30"/>
          <p:cNvSpPr txBox="1"/>
          <p:nvPr/>
        </p:nvSpPr>
        <p:spPr>
          <a:xfrm>
            <a:off x="10972800" y="8458200"/>
            <a:ext cx="6766560" cy="411480"/>
          </a:xfrm>
          <a:prstGeom prst="rect">
            <a:avLst/>
          </a:prstGeom>
          <a:noFill/>
        </p:spPr>
        <p:txBody>
          <a:bodyPr wrap="square" anchor="t" lIns="0" rIns="0" tIns="0" bIns="0">
            <a:spAutoFit/>
          </a:bodyPr>
          <a:lstStyle/>
          <a:p>
            <a:pPr algn="l">
              <a:lnSpc>
                <a:spcPct val="115000"/>
              </a:lnSpc>
            </a:pPr>
            <a:r>
              <a:rPr sz="1900" b="0">
                <a:solidFill>
                  <a:srgbClr val="17161C"/>
                </a:solidFill>
                <a:latin typeface="Arial"/>
              </a:rPr>
              <a:t>our own infrastructure in Potsdam</a:t>
            </a:r>
          </a:p>
        </p:txBody>
      </p:sp>
      <p:sp>
        <p:nvSpPr>
          <p:cNvPr id="32" name="TextBox 31"/>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161288" y="5321808"/>
            <a:ext cx="3182112"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HANDS-ON</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TALKING TO AN LLM</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TextBox 6"/>
          <p:cNvSpPr txBox="1"/>
          <p:nvPr/>
        </p:nvSpPr>
        <p:spPr>
          <a:xfrm>
            <a:off x="1060704" y="1691640"/>
            <a:ext cx="8229600" cy="365760"/>
          </a:xfrm>
          <a:prstGeom prst="rect">
            <a:avLst/>
          </a:prstGeom>
          <a:noFill/>
        </p:spPr>
        <p:txBody>
          <a:bodyPr wrap="square" anchor="t" lIns="0" rIns="0" tIns="0" bIns="0">
            <a:spAutoFit/>
          </a:bodyPr>
          <a:lstStyle/>
          <a:p>
            <a:pPr algn="l">
              <a:lnSpc>
                <a:spcPct val="115000"/>
              </a:lnSpc>
            </a:pPr>
            <a:r>
              <a:rPr sz="1500" b="1" spc="300">
                <a:solidFill>
                  <a:srgbClr val="DD6108"/>
                </a:solidFill>
                <a:latin typeface="Arial"/>
              </a:rPr>
              <a:t>NOTEBOOK 1 · 6 MIN</a:t>
            </a:r>
          </a:p>
        </p:txBody>
      </p:sp>
      <p:sp>
        <p:nvSpPr>
          <p:cNvPr id="8" name="TextBox 7"/>
          <p:cNvSpPr txBox="1"/>
          <p:nvPr/>
        </p:nvSpPr>
        <p:spPr>
          <a:xfrm>
            <a:off x="1060704" y="2423160"/>
            <a:ext cx="82296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IN THIS NOTEBOOK</a:t>
            </a:r>
          </a:p>
        </p:txBody>
      </p:sp>
      <p:sp>
        <p:nvSpPr>
          <p:cNvPr id="9" name="TextBox 8"/>
          <p:cNvSpPr txBox="1"/>
          <p:nvPr/>
        </p:nvSpPr>
        <p:spPr>
          <a:xfrm>
            <a:off x="1060704" y="2880360"/>
            <a:ext cx="8595360" cy="2194560"/>
          </a:xfrm>
          <a:prstGeom prst="rect">
            <a:avLst/>
          </a:prstGeom>
          <a:noFill/>
        </p:spPr>
        <p:txBody>
          <a:bodyPr wrap="square" anchor="t" lIns="0" rIns="0" tIns="0" bIns="0">
            <a:spAutoFit/>
          </a:bodyPr>
          <a:lstStyle/>
          <a:p>
            <a:pPr algn="l">
              <a:lnSpc>
                <a:spcPct val="115000"/>
              </a:lnSpc>
              <a:spcAft>
                <a:spcPts val="800"/>
              </a:spcAft>
            </a:pPr>
            <a:r>
              <a:rPr sz="1900" b="0">
                <a:solidFill>
                  <a:srgbClr val="17161C"/>
                </a:solidFill>
                <a:latin typeface="Arial"/>
              </a:rPr>
              <a:t>•  Connect to the model through the gateway</a:t>
            </a:r>
          </a:p>
          <a:p>
            <a:pPr algn="l">
              <a:lnSpc>
                <a:spcPct val="115000"/>
              </a:lnSpc>
              <a:spcAft>
                <a:spcPts val="800"/>
              </a:spcAft>
            </a:pPr>
            <a:r>
              <a:rPr sz="1900" b="0">
                <a:solidFill>
                  <a:srgbClr val="17161C"/>
                </a:solidFill>
                <a:latin typeface="Arial"/>
              </a:rPr>
              <a:t>•  Ask about a detail from one of our papers</a:t>
            </a:r>
          </a:p>
          <a:p>
            <a:pPr algn="l">
              <a:lnSpc>
                <a:spcPct val="115000"/>
              </a:lnSpc>
              <a:spcAft>
                <a:spcPts val="800"/>
              </a:spcAft>
            </a:pPr>
            <a:r>
              <a:rPr sz="1900" b="0">
                <a:solidFill>
                  <a:srgbClr val="17161C"/>
                </a:solidFill>
                <a:latin typeface="Arial"/>
              </a:rPr>
              <a:t>•  Build a chatbot that remembers and streams</a:t>
            </a:r>
          </a:p>
        </p:txBody>
      </p:sp>
      <p:sp>
        <p:nvSpPr>
          <p:cNvPr id="10" name="TextBox 9"/>
          <p:cNvSpPr txBox="1"/>
          <p:nvPr/>
        </p:nvSpPr>
        <p:spPr>
          <a:xfrm>
            <a:off x="1060704" y="5074920"/>
            <a:ext cx="82296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YOUR TURN · IN THE CHATBOT · + ONLY IF TIME</a:t>
            </a:r>
          </a:p>
        </p:txBody>
      </p:sp>
      <p:sp>
        <p:nvSpPr>
          <p:cNvPr id="11" name="Rectangle 10"/>
          <p:cNvSpPr/>
          <p:nvPr/>
        </p:nvSpPr>
        <p:spPr>
          <a:xfrm>
            <a:off x="1060704" y="5532120"/>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553212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1</a:t>
            </a:r>
          </a:p>
        </p:txBody>
      </p:sp>
      <p:sp>
        <p:nvSpPr>
          <p:cNvPr id="13" name="TextBox 12"/>
          <p:cNvSpPr txBox="1"/>
          <p:nvPr/>
        </p:nvSpPr>
        <p:spPr>
          <a:xfrm>
            <a:off x="1655064" y="5559552"/>
            <a:ext cx="8001000" cy="68580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Personality: change the system prompt</a:t>
            </a:r>
          </a:p>
        </p:txBody>
      </p:sp>
      <p:sp>
        <p:nvSpPr>
          <p:cNvPr id="14" name="Rectangle 13"/>
          <p:cNvSpPr/>
          <p:nvPr/>
        </p:nvSpPr>
        <p:spPr>
          <a:xfrm>
            <a:off x="1060704" y="6217920"/>
            <a:ext cx="384048" cy="384048"/>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0704" y="621792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a:t>
            </a:r>
          </a:p>
        </p:txBody>
      </p:sp>
      <p:sp>
        <p:nvSpPr>
          <p:cNvPr id="16" name="TextBox 15"/>
          <p:cNvSpPr txBox="1"/>
          <p:nvPr/>
        </p:nvSpPr>
        <p:spPr>
          <a:xfrm>
            <a:off x="1655064" y="6245352"/>
            <a:ext cx="8001000" cy="68580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Bonus: show how long each answer took</a:t>
            </a:r>
          </a:p>
        </p:txBody>
      </p:sp>
      <p:sp>
        <p:nvSpPr>
          <p:cNvPr id="17" name="TextBox 16"/>
          <p:cNvSpPr txBox="1"/>
          <p:nvPr/>
        </p:nvSpPr>
        <p:spPr>
          <a:xfrm>
            <a:off x="1060704" y="7040880"/>
            <a:ext cx="8595360" cy="365760"/>
          </a:xfrm>
          <a:prstGeom prst="rect">
            <a:avLst/>
          </a:prstGeom>
          <a:noFill/>
        </p:spPr>
        <p:txBody>
          <a:bodyPr wrap="square" anchor="t" lIns="0" rIns="0" tIns="0" bIns="0">
            <a:spAutoFit/>
          </a:bodyPr>
          <a:lstStyle/>
          <a:p>
            <a:pPr algn="l">
              <a:lnSpc>
                <a:spcPct val="115000"/>
              </a:lnSpc>
            </a:pPr>
            <a:r>
              <a:rPr sz="1500" b="0">
                <a:solidFill>
                  <a:srgbClr val="8B9094"/>
                </a:solidFill>
                <a:latin typeface="Arial"/>
              </a:rPr>
              <a:t>Solutions are folded away under each exercise.</a:t>
            </a:r>
          </a:p>
        </p:txBody>
      </p:sp>
      <p:sp>
        <p:nvSpPr>
          <p:cNvPr id="18" name="Rounded Rectangle 17"/>
          <p:cNvSpPr/>
          <p:nvPr/>
        </p:nvSpPr>
        <p:spPr>
          <a:xfrm>
            <a:off x="10241280" y="2103120"/>
            <a:ext cx="7589520" cy="3063240"/>
          </a:xfrm>
          <a:prstGeom prst="roundRect">
            <a:avLst>
              <a:gd name="adj" fmla="val 4000"/>
            </a:avLst>
          </a:prstGeom>
          <a:solidFill>
            <a:srgbClr val="F4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61319" y="2331720"/>
            <a:ext cx="6949440" cy="320040"/>
          </a:xfrm>
          <a:prstGeom prst="rect">
            <a:avLst/>
          </a:prstGeom>
          <a:noFill/>
        </p:spPr>
        <p:txBody>
          <a:bodyPr wrap="square" anchor="t" lIns="0" rIns="0" tIns="0" bIns="0">
            <a:spAutoFit/>
          </a:bodyPr>
          <a:lstStyle/>
          <a:p>
            <a:pPr algn="l">
              <a:lnSpc>
                <a:spcPct val="115000"/>
              </a:lnSpc>
            </a:pPr>
            <a:r>
              <a:rPr sz="1300" b="0">
                <a:solidFill>
                  <a:srgbClr val="8B9094"/>
                </a:solidFill>
                <a:latin typeface="Courier New"/>
              </a:rPr>
              <a:t>localhost:8000</a:t>
            </a:r>
          </a:p>
        </p:txBody>
      </p:sp>
      <p:sp>
        <p:nvSpPr>
          <p:cNvPr id="20" name="Rounded Rectangle 19"/>
          <p:cNvSpPr/>
          <p:nvPr/>
        </p:nvSpPr>
        <p:spPr>
          <a:xfrm>
            <a:off x="11384279" y="2880360"/>
            <a:ext cx="6126480" cy="1188720"/>
          </a:xfrm>
          <a:prstGeom prst="roundRect">
            <a:avLst/>
          </a:prstGeom>
          <a:solidFill>
            <a:srgbClr val="E2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521440" y="2990088"/>
            <a:ext cx="5852160" cy="1005840"/>
          </a:xfrm>
          <a:prstGeom prst="rect">
            <a:avLst/>
          </a:prstGeom>
          <a:noFill/>
        </p:spPr>
        <p:txBody>
          <a:bodyPr wrap="square" anchor="t" lIns="0" rIns="0" tIns="0" bIns="0">
            <a:spAutoFit/>
          </a:bodyPr>
          <a:lstStyle/>
          <a:p>
            <a:pPr algn="l">
              <a:lnSpc>
                <a:spcPct val="115000"/>
              </a:lnSpc>
            </a:pPr>
            <a:r>
              <a:rPr sz="1500" b="0">
                <a:solidFill>
                  <a:srgbClr val="17161C"/>
                </a:solidFill>
                <a:latin typeface="Arial"/>
              </a:rPr>
              <a:t>In Kage et al. (2018), what were the lifetime-encoded beads loaded with, and which lifetimes did they have?</a:t>
            </a:r>
          </a:p>
        </p:txBody>
      </p:sp>
      <p:sp>
        <p:nvSpPr>
          <p:cNvPr id="22" name="TextBox 21"/>
          <p:cNvSpPr txBox="1"/>
          <p:nvPr/>
        </p:nvSpPr>
        <p:spPr>
          <a:xfrm>
            <a:off x="10561319" y="4297680"/>
            <a:ext cx="6949440" cy="411480"/>
          </a:xfrm>
          <a:prstGeom prst="rect">
            <a:avLst/>
          </a:prstGeom>
          <a:noFill/>
        </p:spPr>
        <p:txBody>
          <a:bodyPr wrap="square" anchor="t" lIns="0" rIns="0" tIns="0" bIns="0">
            <a:spAutoFit/>
          </a:bodyPr>
          <a:lstStyle/>
          <a:p>
            <a:pPr algn="l">
              <a:lnSpc>
                <a:spcPct val="115000"/>
              </a:lnSpc>
            </a:pPr>
            <a:r>
              <a:rPr sz="1500" b="1">
                <a:solidFill>
                  <a:srgbClr val="DD6108"/>
                </a:solidFill>
                <a:latin typeface="Arial"/>
              </a:rPr>
              <a:t>✓ </a:t>
            </a:r>
            <a:r>
              <a:rPr sz="1500" b="0">
                <a:solidFill>
                  <a:srgbClr val="5A6065"/>
                </a:solidFill>
                <a:latin typeface="Arial"/>
              </a:rPr>
              <a:t>The model answers. Would you rely on it?</a:t>
            </a:r>
          </a:p>
        </p:txBody>
      </p:sp>
      <p:sp>
        <p:nvSpPr>
          <p:cNvPr id="23" name="TextBox 22"/>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5A6065"/>
        </a:solidFill>
        <a:effectLst/>
      </p:bgPr>
    </p:bg>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490471" y="5321808"/>
            <a:ext cx="3840479"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CHECKPOINT</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FFFFFF"/>
                </a:solidFill>
                <a:latin typeface="Arial"/>
              </a:rPr>
              <a:t>WOULD YOU RELY ON IT?</a:t>
            </a:r>
          </a:p>
        </p:txBody>
      </p:sp>
      <p:sp>
        <p:nvSpPr>
          <p:cNvPr id="5" name="Rectangle 4"/>
          <p:cNvSpPr/>
          <p:nvPr/>
        </p:nvSpPr>
        <p:spPr>
          <a:xfrm>
            <a:off x="11887200" y="777240"/>
            <a:ext cx="4480560" cy="100584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115800" y="777240"/>
            <a:ext cx="4114800" cy="1005840"/>
          </a:xfrm>
          <a:prstGeom prst="rect">
            <a:avLst/>
          </a:prstGeom>
          <a:noFill/>
        </p:spPr>
        <p:txBody>
          <a:bodyPr wrap="square" anchor="ctr" lIns="0" rIns="0" tIns="0" bIns="0">
            <a:spAutoFit/>
          </a:bodyPr>
          <a:lstStyle/>
          <a:p>
            <a:pPr algn="l">
              <a:lnSpc>
                <a:spcPct val="115000"/>
              </a:lnSpc>
            </a:pPr>
            <a:r>
              <a:rPr sz="1700" b="0">
                <a:solidFill>
                  <a:srgbClr val="17161C"/>
                </a:solidFill>
                <a:latin typeface="Arial"/>
              </a:rPr>
              <a:t>Hands up.</a:t>
            </a:r>
            <a:br/>
            <a:r>
              <a:rPr sz="1700" b="0">
                <a:solidFill>
                  <a:srgbClr val="17161C"/>
                </a:solidFill>
                <a:latin typeface="Arial"/>
              </a:rPr>
              <a:t>Remember your letter.</a:t>
            </a:r>
          </a:p>
        </p:txBody>
      </p:sp>
      <p:sp>
        <p:nvSpPr>
          <p:cNvPr id="7" name="Rectangle 6"/>
          <p:cNvSpPr/>
          <p:nvPr/>
        </p:nvSpPr>
        <p:spPr>
          <a:xfrm>
            <a:off x="1060704" y="2286000"/>
            <a:ext cx="15636239" cy="73152"/>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2606040"/>
            <a:ext cx="15636239" cy="365760"/>
          </a:xfrm>
          <a:prstGeom prst="rect">
            <a:avLst/>
          </a:prstGeom>
          <a:noFill/>
        </p:spPr>
        <p:txBody>
          <a:bodyPr wrap="square" anchor="t" lIns="0" rIns="0" tIns="0" bIns="0">
            <a:spAutoFit/>
          </a:bodyPr>
          <a:lstStyle/>
          <a:p>
            <a:pPr algn="l">
              <a:lnSpc>
                <a:spcPct val="115000"/>
              </a:lnSpc>
            </a:pPr>
            <a:r>
              <a:rPr sz="1500" b="1" spc="300">
                <a:solidFill>
                  <a:srgbClr val="D0D3D6"/>
                </a:solidFill>
                <a:latin typeface="Arial"/>
              </a:rPr>
              <a:t>NOTEBOOK 1</a:t>
            </a:r>
          </a:p>
        </p:txBody>
      </p:sp>
      <p:sp>
        <p:nvSpPr>
          <p:cNvPr id="9" name="TextBox 8"/>
          <p:cNvSpPr txBox="1"/>
          <p:nvPr/>
        </p:nvSpPr>
        <p:spPr>
          <a:xfrm>
            <a:off x="1060704" y="3063240"/>
            <a:ext cx="15544800" cy="1280160"/>
          </a:xfrm>
          <a:prstGeom prst="rect">
            <a:avLst/>
          </a:prstGeom>
          <a:noFill/>
        </p:spPr>
        <p:txBody>
          <a:bodyPr wrap="square" anchor="t" lIns="0" rIns="0" tIns="0" bIns="0">
            <a:spAutoFit/>
          </a:bodyPr>
          <a:lstStyle/>
          <a:p>
            <a:pPr algn="l">
              <a:lnSpc>
                <a:spcPct val="105000"/>
              </a:lnSpc>
            </a:pPr>
            <a:r>
              <a:rPr sz="2600" b="1">
                <a:solidFill>
                  <a:srgbClr val="FFFFFF"/>
                </a:solidFill>
                <a:latin typeface="Arial"/>
              </a:rPr>
              <a:t>The model answered the Kage question. Would you rely on this answer?</a:t>
            </a:r>
          </a:p>
        </p:txBody>
      </p:sp>
      <p:sp>
        <p:nvSpPr>
          <p:cNvPr id="10" name="TextBox 9"/>
          <p:cNvSpPr txBox="1"/>
          <p:nvPr/>
        </p:nvSpPr>
        <p:spPr>
          <a:xfrm>
            <a:off x="1060704" y="4572000"/>
            <a:ext cx="15544800" cy="3657600"/>
          </a:xfrm>
          <a:prstGeom prst="rect">
            <a:avLst/>
          </a:prstGeom>
          <a:noFill/>
        </p:spPr>
        <p:txBody>
          <a:bodyPr wrap="square" anchor="t" lIns="0" rIns="0" tIns="0" bIns="0">
            <a:spAutoFit/>
          </a:bodyPr>
          <a:lstStyle/>
          <a:p>
            <a:pPr algn="l">
              <a:lnSpc>
                <a:spcPct val="120000"/>
              </a:lnSpc>
              <a:spcAft>
                <a:spcPts val="1200"/>
              </a:spcAft>
            </a:pPr>
            <a:r>
              <a:rPr sz="2100" b="0">
                <a:solidFill>
                  <a:srgbClr val="FFFFFF"/>
                </a:solidFill>
                <a:latin typeface="Arial"/>
              </a:rPr>
              <a:t>A   yes, as it is</a:t>
            </a:r>
          </a:p>
          <a:p>
            <a:pPr algn="l">
              <a:lnSpc>
                <a:spcPct val="120000"/>
              </a:lnSpc>
              <a:spcAft>
                <a:spcPts val="1200"/>
              </a:spcAft>
            </a:pPr>
            <a:r>
              <a:rPr sz="2100" b="0">
                <a:solidFill>
                  <a:srgbClr val="FFFFFF"/>
                </a:solidFill>
                <a:latin typeface="Arial"/>
              </a:rPr>
              <a:t>B   yes, after a quick check</a:t>
            </a:r>
          </a:p>
          <a:p>
            <a:pPr algn="l">
              <a:lnSpc>
                <a:spcPct val="120000"/>
              </a:lnSpc>
              <a:spcAft>
                <a:spcPts val="1200"/>
              </a:spcAft>
            </a:pPr>
            <a:r>
              <a:rPr sz="2100" b="0">
                <a:solidFill>
                  <a:srgbClr val="FFFFFF"/>
                </a:solidFill>
                <a:latin typeface="Arial"/>
              </a:rPr>
              <a:t>C   no</a:t>
            </a:r>
          </a:p>
        </p:txBody>
      </p:sp>
      <p:sp>
        <p:nvSpPr>
          <p:cNvPr id="11" name="TextBox 10"/>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B10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490471" y="5321808"/>
            <a:ext cx="3840479"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MOTIVATION</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HALF RIGHT, AND YOU CAN'T</a:t>
            </a:r>
            <a:br/>
            <a:r>
              <a:rPr sz="3900" b="1">
                <a:solidFill>
                  <a:srgbClr val="5A6065"/>
                </a:solidFill>
                <a:latin typeface="Arial"/>
              </a:rPr>
              <a:t>TELL WHICH HALF</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Rectangle 6"/>
          <p:cNvSpPr/>
          <p:nvPr/>
        </p:nvSpPr>
        <p:spPr>
          <a:xfrm>
            <a:off x="1060704" y="2286000"/>
            <a:ext cx="4992624" cy="73152"/>
          </a:xfrm>
          <a:prstGeom prst="rect">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2606040"/>
            <a:ext cx="5029200" cy="365760"/>
          </a:xfrm>
          <a:prstGeom prst="rect">
            <a:avLst/>
          </a:prstGeom>
          <a:noFill/>
        </p:spPr>
        <p:txBody>
          <a:bodyPr wrap="square" anchor="t" lIns="0" rIns="0" tIns="0" bIns="0">
            <a:spAutoFit/>
          </a:bodyPr>
          <a:lstStyle/>
          <a:p>
            <a:pPr algn="l">
              <a:lnSpc>
                <a:spcPct val="115000"/>
              </a:lnSpc>
            </a:pPr>
            <a:r>
              <a:rPr sz="1900" b="1" spc="300">
                <a:solidFill>
                  <a:srgbClr val="8B9094"/>
                </a:solidFill>
                <a:latin typeface="Arial"/>
              </a:rPr>
              <a:t>01</a:t>
            </a:r>
          </a:p>
        </p:txBody>
      </p:sp>
      <p:sp>
        <p:nvSpPr>
          <p:cNvPr id="9" name="TextBox 8"/>
          <p:cNvSpPr txBox="1"/>
          <p:nvPr/>
        </p:nvSpPr>
        <p:spPr>
          <a:xfrm>
            <a:off x="1060704" y="3063240"/>
            <a:ext cx="5029200" cy="1097280"/>
          </a:xfrm>
          <a:prstGeom prst="rect">
            <a:avLst/>
          </a:prstGeom>
          <a:noFill/>
        </p:spPr>
        <p:txBody>
          <a:bodyPr wrap="square" anchor="t" lIns="0" rIns="0" tIns="0" bIns="0">
            <a:spAutoFit/>
          </a:bodyPr>
          <a:lstStyle/>
          <a:p>
            <a:pPr algn="l">
              <a:lnSpc>
                <a:spcPct val="105000"/>
              </a:lnSpc>
            </a:pPr>
            <a:r>
              <a:rPr sz="2800" b="1">
                <a:solidFill>
                  <a:srgbClr val="17161C"/>
                </a:solidFill>
                <a:latin typeface="Arial"/>
              </a:rPr>
              <a:t>No access to</a:t>
            </a:r>
            <a:br/>
            <a:r>
              <a:rPr sz="2800" b="1">
                <a:solidFill>
                  <a:srgbClr val="17161C"/>
                </a:solidFill>
                <a:latin typeface="Arial"/>
              </a:rPr>
              <a:t>your documents</a:t>
            </a:r>
          </a:p>
        </p:txBody>
      </p:sp>
      <p:sp>
        <p:nvSpPr>
          <p:cNvPr id="10" name="TextBox 9"/>
          <p:cNvSpPr txBox="1"/>
          <p:nvPr/>
        </p:nvSpPr>
        <p:spPr>
          <a:xfrm>
            <a:off x="1060704" y="4343400"/>
            <a:ext cx="4846320" cy="4114800"/>
          </a:xfrm>
          <a:prstGeom prst="rect">
            <a:avLst/>
          </a:prstGeom>
          <a:noFill/>
        </p:spPr>
        <p:txBody>
          <a:bodyPr wrap="square" anchor="t" lIns="0" rIns="0" tIns="0" bIns="0">
            <a:spAutoFit/>
          </a:bodyPr>
          <a:lstStyle/>
          <a:p>
            <a:pPr algn="l">
              <a:lnSpc>
                <a:spcPct val="130000"/>
              </a:lnSpc>
            </a:pPr>
            <a:r>
              <a:rPr sz="2200" b="0">
                <a:solidFill>
                  <a:srgbClr val="17161C"/>
                </a:solidFill>
                <a:latin typeface="Arial"/>
              </a:rPr>
              <a:t>Language models are trained mostly on public data. Your lab reports and paywalled papers are unknown to them.</a:t>
            </a:r>
          </a:p>
        </p:txBody>
      </p:sp>
      <p:sp>
        <p:nvSpPr>
          <p:cNvPr id="11" name="Rectangle 10"/>
          <p:cNvSpPr/>
          <p:nvPr/>
        </p:nvSpPr>
        <p:spPr>
          <a:xfrm>
            <a:off x="6656832" y="2286000"/>
            <a:ext cx="4992624" cy="73152"/>
          </a:xfrm>
          <a:prstGeom prst="rect">
            <a:avLst/>
          </a:prstGeom>
          <a:solidFill>
            <a:srgbClr val="B10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56832" y="2606040"/>
            <a:ext cx="5029200" cy="365760"/>
          </a:xfrm>
          <a:prstGeom prst="rect">
            <a:avLst/>
          </a:prstGeom>
          <a:noFill/>
        </p:spPr>
        <p:txBody>
          <a:bodyPr wrap="square" anchor="t" lIns="0" rIns="0" tIns="0" bIns="0">
            <a:spAutoFit/>
          </a:bodyPr>
          <a:lstStyle/>
          <a:p>
            <a:pPr algn="l">
              <a:lnSpc>
                <a:spcPct val="115000"/>
              </a:lnSpc>
            </a:pPr>
            <a:r>
              <a:rPr sz="1900" b="1" spc="300">
                <a:solidFill>
                  <a:srgbClr val="8B9094"/>
                </a:solidFill>
                <a:latin typeface="Arial"/>
              </a:rPr>
              <a:t>02</a:t>
            </a:r>
          </a:p>
        </p:txBody>
      </p:sp>
      <p:sp>
        <p:nvSpPr>
          <p:cNvPr id="13" name="TextBox 12"/>
          <p:cNvSpPr txBox="1"/>
          <p:nvPr/>
        </p:nvSpPr>
        <p:spPr>
          <a:xfrm>
            <a:off x="6656832" y="3063240"/>
            <a:ext cx="5029200" cy="1097280"/>
          </a:xfrm>
          <a:prstGeom prst="rect">
            <a:avLst/>
          </a:prstGeom>
          <a:noFill/>
        </p:spPr>
        <p:txBody>
          <a:bodyPr wrap="square" anchor="t" lIns="0" rIns="0" tIns="0" bIns="0">
            <a:spAutoFit/>
          </a:bodyPr>
          <a:lstStyle/>
          <a:p>
            <a:pPr algn="l">
              <a:lnSpc>
                <a:spcPct val="105000"/>
              </a:lnSpc>
            </a:pPr>
            <a:r>
              <a:rPr sz="2800" b="1">
                <a:solidFill>
                  <a:srgbClr val="17161C"/>
                </a:solidFill>
                <a:latin typeface="Arial"/>
              </a:rPr>
              <a:t>Similar instead</a:t>
            </a:r>
            <a:br/>
            <a:r>
              <a:rPr sz="2800" b="1">
                <a:solidFill>
                  <a:srgbClr val="17161C"/>
                </a:solidFill>
                <a:latin typeface="Arial"/>
              </a:rPr>
              <a:t>of right</a:t>
            </a:r>
          </a:p>
        </p:txBody>
      </p:sp>
      <p:sp>
        <p:nvSpPr>
          <p:cNvPr id="14" name="TextBox 13"/>
          <p:cNvSpPr txBox="1"/>
          <p:nvPr/>
        </p:nvSpPr>
        <p:spPr>
          <a:xfrm>
            <a:off x="6656832" y="4343400"/>
            <a:ext cx="4846320" cy="4114800"/>
          </a:xfrm>
          <a:prstGeom prst="rect">
            <a:avLst/>
          </a:prstGeom>
          <a:noFill/>
        </p:spPr>
        <p:txBody>
          <a:bodyPr wrap="square" anchor="t" lIns="0" rIns="0" tIns="0" bIns="0">
            <a:spAutoFit/>
          </a:bodyPr>
          <a:lstStyle/>
          <a:p>
            <a:pPr algn="l">
              <a:lnSpc>
                <a:spcPct val="130000"/>
              </a:lnSpc>
            </a:pPr>
            <a:r>
              <a:rPr sz="2200" b="0">
                <a:solidFill>
                  <a:srgbClr val="17161C"/>
                </a:solidFill>
                <a:latin typeface="Arial"/>
              </a:rPr>
              <a:t>When the right information is missing, the model falls back on related material: values from similar papers end up in the answer about yours.</a:t>
            </a:r>
          </a:p>
        </p:txBody>
      </p:sp>
      <p:sp>
        <p:nvSpPr>
          <p:cNvPr id="15" name="Rectangle 14"/>
          <p:cNvSpPr/>
          <p:nvPr/>
        </p:nvSpPr>
        <p:spPr>
          <a:xfrm>
            <a:off x="12252960" y="2286000"/>
            <a:ext cx="4992624" cy="73152"/>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252960" y="2606040"/>
            <a:ext cx="5029200" cy="365760"/>
          </a:xfrm>
          <a:prstGeom prst="rect">
            <a:avLst/>
          </a:prstGeom>
          <a:noFill/>
        </p:spPr>
        <p:txBody>
          <a:bodyPr wrap="square" anchor="t" lIns="0" rIns="0" tIns="0" bIns="0">
            <a:spAutoFit/>
          </a:bodyPr>
          <a:lstStyle/>
          <a:p>
            <a:pPr algn="l">
              <a:lnSpc>
                <a:spcPct val="115000"/>
              </a:lnSpc>
            </a:pPr>
            <a:r>
              <a:rPr sz="1900" b="1" spc="300">
                <a:solidFill>
                  <a:srgbClr val="8B9094"/>
                </a:solidFill>
                <a:latin typeface="Arial"/>
              </a:rPr>
              <a:t>03</a:t>
            </a:r>
          </a:p>
        </p:txBody>
      </p:sp>
      <p:sp>
        <p:nvSpPr>
          <p:cNvPr id="17" name="TextBox 16"/>
          <p:cNvSpPr txBox="1"/>
          <p:nvPr/>
        </p:nvSpPr>
        <p:spPr>
          <a:xfrm>
            <a:off x="12252960" y="3063240"/>
            <a:ext cx="5029200" cy="1097280"/>
          </a:xfrm>
          <a:prstGeom prst="rect">
            <a:avLst/>
          </a:prstGeom>
          <a:noFill/>
        </p:spPr>
        <p:txBody>
          <a:bodyPr wrap="square" anchor="t" lIns="0" rIns="0" tIns="0" bIns="0">
            <a:spAutoFit/>
          </a:bodyPr>
          <a:lstStyle/>
          <a:p>
            <a:pPr algn="l">
              <a:lnSpc>
                <a:spcPct val="105000"/>
              </a:lnSpc>
            </a:pPr>
            <a:r>
              <a:rPr sz="2800" b="1">
                <a:solidFill>
                  <a:srgbClr val="17161C"/>
                </a:solidFill>
                <a:latin typeface="Arial"/>
              </a:rPr>
              <a:t>RAG decides what</a:t>
            </a:r>
            <a:br/>
            <a:r>
              <a:rPr sz="2800" b="1">
                <a:solidFill>
                  <a:srgbClr val="17161C"/>
                </a:solidFill>
                <a:latin typeface="Arial"/>
              </a:rPr>
              <a:t>the answer is built on</a:t>
            </a:r>
          </a:p>
        </p:txBody>
      </p:sp>
      <p:sp>
        <p:nvSpPr>
          <p:cNvPr id="18" name="TextBox 17"/>
          <p:cNvSpPr txBox="1"/>
          <p:nvPr/>
        </p:nvSpPr>
        <p:spPr>
          <a:xfrm>
            <a:off x="12252960" y="4343400"/>
            <a:ext cx="4846320" cy="4114800"/>
          </a:xfrm>
          <a:prstGeom prst="rect">
            <a:avLst/>
          </a:prstGeom>
          <a:noFill/>
        </p:spPr>
        <p:txBody>
          <a:bodyPr wrap="square" anchor="t" lIns="0" rIns="0" tIns="0" bIns="0">
            <a:spAutoFit/>
          </a:bodyPr>
          <a:lstStyle/>
          <a:p>
            <a:pPr algn="l">
              <a:lnSpc>
                <a:spcPct val="130000"/>
              </a:lnSpc>
            </a:pPr>
            <a:r>
              <a:rPr sz="2200" b="0">
                <a:solidFill>
                  <a:srgbClr val="17161C"/>
                </a:solidFill>
                <a:latin typeface="Arial"/>
              </a:rPr>
              <a:t>Retrieval-augmented generation sets which documents an answer may use, and cites the page.</a:t>
            </a:r>
          </a:p>
        </p:txBody>
      </p:sp>
      <p:sp>
        <p:nvSpPr>
          <p:cNvPr id="19" name="TextBox 18"/>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161288" y="5321808"/>
            <a:ext cx="3182112"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HANDS-ON</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READING DOCUMENTS</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TextBox 6"/>
          <p:cNvSpPr txBox="1"/>
          <p:nvPr/>
        </p:nvSpPr>
        <p:spPr>
          <a:xfrm>
            <a:off x="1060704" y="1691640"/>
            <a:ext cx="8229600" cy="365760"/>
          </a:xfrm>
          <a:prstGeom prst="rect">
            <a:avLst/>
          </a:prstGeom>
          <a:noFill/>
        </p:spPr>
        <p:txBody>
          <a:bodyPr wrap="square" anchor="t" lIns="0" rIns="0" tIns="0" bIns="0">
            <a:spAutoFit/>
          </a:bodyPr>
          <a:lstStyle/>
          <a:p>
            <a:pPr algn="l">
              <a:lnSpc>
                <a:spcPct val="115000"/>
              </a:lnSpc>
            </a:pPr>
            <a:r>
              <a:rPr sz="1500" b="1" spc="300">
                <a:solidFill>
                  <a:srgbClr val="DD6108"/>
                </a:solidFill>
                <a:latin typeface="Arial"/>
              </a:rPr>
              <a:t>NOTEBOOK 2 · 7 MIN</a:t>
            </a:r>
          </a:p>
        </p:txBody>
      </p:sp>
      <p:pic>
        <p:nvPicPr>
          <p:cNvPr id="8" name="Picture 7" descr="docling.png"/>
          <p:cNvPicPr>
            <a:picLocks noChangeAspect="1"/>
          </p:cNvPicPr>
          <p:nvPr/>
        </p:nvPicPr>
        <p:blipFill>
          <a:blip r:embed="rId4"/>
          <a:stretch>
            <a:fillRect/>
          </a:stretch>
        </p:blipFill>
        <p:spPr>
          <a:xfrm>
            <a:off x="1060704" y="2240280"/>
            <a:ext cx="7863840" cy="3298977"/>
          </a:xfrm>
          <a:prstGeom prst="rect">
            <a:avLst/>
          </a:prstGeom>
        </p:spPr>
      </p:pic>
      <p:sp>
        <p:nvSpPr>
          <p:cNvPr id="9" name="TextBox 8"/>
          <p:cNvSpPr txBox="1"/>
          <p:nvPr/>
        </p:nvSpPr>
        <p:spPr>
          <a:xfrm>
            <a:off x="1060704" y="5669280"/>
            <a:ext cx="7772400" cy="1280160"/>
          </a:xfrm>
          <a:prstGeom prst="rect">
            <a:avLst/>
          </a:prstGeom>
          <a:noFill/>
        </p:spPr>
        <p:txBody>
          <a:bodyPr wrap="square" anchor="t" lIns="0" rIns="0" tIns="0" bIns="0">
            <a:spAutoFit/>
          </a:bodyPr>
          <a:lstStyle/>
          <a:p>
            <a:pPr algn="l">
              <a:lnSpc>
                <a:spcPct val="125000"/>
              </a:lnSpc>
            </a:pPr>
            <a:r>
              <a:rPr sz="1900" b="0">
                <a:solidFill>
                  <a:srgbClr val="17161C"/>
                </a:solidFill>
                <a:latin typeface="Arial"/>
              </a:rPr>
              <a:t>A PDF stores where to draw each letter. Docling finds headings, paragraphs and tables, and writes Markdown.</a:t>
            </a:r>
          </a:p>
        </p:txBody>
      </p:sp>
      <p:pic>
        <p:nvPicPr>
          <p:cNvPr id="10" name="Picture 9" descr="chunking.png"/>
          <p:cNvPicPr>
            <a:picLocks noChangeAspect="1"/>
          </p:cNvPicPr>
          <p:nvPr/>
        </p:nvPicPr>
        <p:blipFill>
          <a:blip r:embed="rId5"/>
          <a:stretch>
            <a:fillRect/>
          </a:stretch>
        </p:blipFill>
        <p:spPr>
          <a:xfrm>
            <a:off x="9692640" y="2240280"/>
            <a:ext cx="7863840" cy="2743200"/>
          </a:xfrm>
          <a:prstGeom prst="rect">
            <a:avLst/>
          </a:prstGeom>
        </p:spPr>
      </p:pic>
      <p:sp>
        <p:nvSpPr>
          <p:cNvPr id="11" name="TextBox 10"/>
          <p:cNvSpPr txBox="1"/>
          <p:nvPr/>
        </p:nvSpPr>
        <p:spPr>
          <a:xfrm>
            <a:off x="9692640" y="5669280"/>
            <a:ext cx="7863840" cy="1280160"/>
          </a:xfrm>
          <a:prstGeom prst="rect">
            <a:avLst/>
          </a:prstGeom>
          <a:noFill/>
        </p:spPr>
        <p:txBody>
          <a:bodyPr wrap="square" anchor="t" lIns="0" rIns="0" tIns="0" bIns="0">
            <a:spAutoFit/>
          </a:bodyPr>
          <a:lstStyle/>
          <a:p>
            <a:pPr algn="l">
              <a:lnSpc>
                <a:spcPct val="125000"/>
              </a:lnSpc>
            </a:pPr>
            <a:r>
              <a:rPr sz="1900" b="0">
                <a:solidFill>
                  <a:srgbClr val="17161C"/>
                </a:solidFill>
                <a:latin typeface="Arial"/>
              </a:rPr>
              <a:t>We cut chunks of 1000 characters; a new one starts every 800, so neighbours share 200.</a:t>
            </a:r>
          </a:p>
        </p:txBody>
      </p:sp>
      <p:sp>
        <p:nvSpPr>
          <p:cNvPr id="12" name="TextBox 11"/>
          <p:cNvSpPr txBox="1"/>
          <p:nvPr/>
        </p:nvSpPr>
        <p:spPr>
          <a:xfrm>
            <a:off x="1060704" y="7360920"/>
            <a:ext cx="82296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YOUR TURN · + ONLY IF TIME</a:t>
            </a:r>
          </a:p>
        </p:txBody>
      </p:sp>
      <p:sp>
        <p:nvSpPr>
          <p:cNvPr id="13" name="Rectangle 12"/>
          <p:cNvSpPr/>
          <p:nvPr/>
        </p:nvSpPr>
        <p:spPr>
          <a:xfrm>
            <a:off x="1060704" y="7818120"/>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781812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1</a:t>
            </a:r>
          </a:p>
        </p:txBody>
      </p:sp>
      <p:sp>
        <p:nvSpPr>
          <p:cNvPr id="15" name="TextBox 14"/>
          <p:cNvSpPr txBox="1"/>
          <p:nvPr/>
        </p:nvSpPr>
        <p:spPr>
          <a:xfrm>
            <a:off x="1655064" y="7845552"/>
            <a:ext cx="14950440" cy="64008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Where are the cuts? 300 and 3000, in the notebook</a:t>
            </a:r>
          </a:p>
        </p:txBody>
      </p:sp>
      <p:sp>
        <p:nvSpPr>
          <p:cNvPr id="16" name="Rectangle 15"/>
          <p:cNvSpPr/>
          <p:nvPr/>
        </p:nvSpPr>
        <p:spPr>
          <a:xfrm>
            <a:off x="1060704" y="8458200"/>
            <a:ext cx="384048" cy="384048"/>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 y="845820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a:t>
            </a:r>
          </a:p>
        </p:txBody>
      </p:sp>
      <p:sp>
        <p:nvSpPr>
          <p:cNvPr id="18" name="TextBox 17"/>
          <p:cNvSpPr txBox="1"/>
          <p:nvPr/>
        </p:nvSpPr>
        <p:spPr>
          <a:xfrm>
            <a:off x="1655064" y="8485632"/>
            <a:ext cx="14950440" cy="64008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Bonus: only the tables, in the chatbot</a:t>
            </a:r>
          </a:p>
        </p:txBody>
      </p:sp>
      <p:sp>
        <p:nvSpPr>
          <p:cNvPr id="19" name="TextBox 18"/>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5A6065"/>
        </a:solidFill>
        <a:effectLst/>
      </p:bgPr>
    </p:bg>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490471" y="5321808"/>
            <a:ext cx="3840479"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CHECKPOINT</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FFFFFF"/>
                </a:solidFill>
                <a:latin typeface="Arial"/>
              </a:rPr>
              <a:t>WHAT DID YOU FIND?</a:t>
            </a:r>
          </a:p>
        </p:txBody>
      </p:sp>
      <p:sp>
        <p:nvSpPr>
          <p:cNvPr id="5" name="Rectangle 4"/>
          <p:cNvSpPr/>
          <p:nvPr/>
        </p:nvSpPr>
        <p:spPr>
          <a:xfrm>
            <a:off x="11887200" y="777240"/>
            <a:ext cx="4480560" cy="100584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115800" y="777240"/>
            <a:ext cx="4114800" cy="1005840"/>
          </a:xfrm>
          <a:prstGeom prst="rect">
            <a:avLst/>
          </a:prstGeom>
          <a:noFill/>
        </p:spPr>
        <p:txBody>
          <a:bodyPr wrap="square" anchor="ctr" lIns="0" rIns="0" tIns="0" bIns="0">
            <a:spAutoFit/>
          </a:bodyPr>
          <a:lstStyle/>
          <a:p>
            <a:pPr algn="l">
              <a:lnSpc>
                <a:spcPct val="115000"/>
              </a:lnSpc>
            </a:pPr>
            <a:r>
              <a:rPr sz="1700" b="0">
                <a:solidFill>
                  <a:srgbClr val="17161C"/>
                </a:solidFill>
                <a:latin typeface="Arial"/>
              </a:rPr>
              <a:t>Vote by show of hands.</a:t>
            </a:r>
            <a:br/>
            <a:r>
              <a:rPr sz="1700" b="0">
                <a:solidFill>
                  <a:srgbClr val="17161C"/>
                </a:solidFill>
                <a:latin typeface="Arial"/>
              </a:rPr>
              <a:t>Answers on the next slide.</a:t>
            </a:r>
          </a:p>
        </p:txBody>
      </p:sp>
      <p:sp>
        <p:nvSpPr>
          <p:cNvPr id="7" name="Rectangle 6"/>
          <p:cNvSpPr/>
          <p:nvPr/>
        </p:nvSpPr>
        <p:spPr>
          <a:xfrm>
            <a:off x="1060704" y="2286000"/>
            <a:ext cx="7543800" cy="73152"/>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2606040"/>
            <a:ext cx="7543800" cy="365760"/>
          </a:xfrm>
          <a:prstGeom prst="rect">
            <a:avLst/>
          </a:prstGeom>
          <a:noFill/>
        </p:spPr>
        <p:txBody>
          <a:bodyPr wrap="square" anchor="t" lIns="0" rIns="0" tIns="0" bIns="0">
            <a:spAutoFit/>
          </a:bodyPr>
          <a:lstStyle/>
          <a:p>
            <a:pPr algn="l">
              <a:lnSpc>
                <a:spcPct val="115000"/>
              </a:lnSpc>
            </a:pPr>
            <a:r>
              <a:rPr sz="1500" b="1" spc="300">
                <a:solidFill>
                  <a:srgbClr val="D0D3D6"/>
                </a:solidFill>
                <a:latin typeface="Arial"/>
              </a:rPr>
              <a:t>NOTEBOOK 2</a:t>
            </a:r>
          </a:p>
        </p:txBody>
      </p:sp>
      <p:sp>
        <p:nvSpPr>
          <p:cNvPr id="9" name="TextBox 8"/>
          <p:cNvSpPr txBox="1"/>
          <p:nvPr/>
        </p:nvSpPr>
        <p:spPr>
          <a:xfrm>
            <a:off x="1060704" y="3063240"/>
            <a:ext cx="7452360" cy="1280160"/>
          </a:xfrm>
          <a:prstGeom prst="rect">
            <a:avLst/>
          </a:prstGeom>
          <a:noFill/>
        </p:spPr>
        <p:txBody>
          <a:bodyPr wrap="square" anchor="t" lIns="0" rIns="0" tIns="0" bIns="0">
            <a:spAutoFit/>
          </a:bodyPr>
          <a:lstStyle/>
          <a:p>
            <a:pPr algn="l">
              <a:lnSpc>
                <a:spcPct val="105000"/>
              </a:lnSpc>
            </a:pPr>
            <a:r>
              <a:rPr sz="2600" b="1">
                <a:solidFill>
                  <a:srgbClr val="FFFFFF"/>
                </a:solidFill>
                <a:latin typeface="Arial"/>
              </a:rPr>
              <a:t>What happened to the tables when Docling read the papers?</a:t>
            </a:r>
          </a:p>
        </p:txBody>
      </p:sp>
      <p:sp>
        <p:nvSpPr>
          <p:cNvPr id="10" name="TextBox 9"/>
          <p:cNvSpPr txBox="1"/>
          <p:nvPr/>
        </p:nvSpPr>
        <p:spPr>
          <a:xfrm>
            <a:off x="1060704" y="4572000"/>
            <a:ext cx="7452360" cy="3657600"/>
          </a:xfrm>
          <a:prstGeom prst="rect">
            <a:avLst/>
          </a:prstGeom>
          <a:noFill/>
        </p:spPr>
        <p:txBody>
          <a:bodyPr wrap="square" anchor="t" lIns="0" rIns="0" tIns="0" bIns="0">
            <a:spAutoFit/>
          </a:bodyPr>
          <a:lstStyle/>
          <a:p>
            <a:pPr algn="l">
              <a:lnSpc>
                <a:spcPct val="120000"/>
              </a:lnSpc>
              <a:spcAft>
                <a:spcPts val="1200"/>
              </a:spcAft>
            </a:pPr>
            <a:r>
              <a:rPr sz="2100" b="0">
                <a:solidFill>
                  <a:srgbClr val="FFFFFF"/>
                </a:solidFill>
                <a:latin typeface="Arial"/>
              </a:rPr>
              <a:t>A   They were dropped</a:t>
            </a:r>
          </a:p>
          <a:p>
            <a:pPr algn="l">
              <a:lnSpc>
                <a:spcPct val="120000"/>
              </a:lnSpc>
              <a:spcAft>
                <a:spcPts val="1200"/>
              </a:spcAft>
            </a:pPr>
            <a:r>
              <a:rPr sz="2100" b="0">
                <a:solidFill>
                  <a:srgbClr val="FFFFFF"/>
                </a:solidFill>
                <a:latin typeface="Arial"/>
              </a:rPr>
              <a:t>B   They became loose lines of numbers</a:t>
            </a:r>
          </a:p>
          <a:p>
            <a:pPr algn="l">
              <a:lnSpc>
                <a:spcPct val="120000"/>
              </a:lnSpc>
              <a:spcAft>
                <a:spcPts val="1200"/>
              </a:spcAft>
            </a:pPr>
            <a:r>
              <a:rPr sz="2100" b="0">
                <a:solidFill>
                  <a:srgbClr val="FFFFFF"/>
                </a:solidFill>
                <a:latin typeface="Arial"/>
              </a:rPr>
              <a:t>C   They stayed tables, in Markdown</a:t>
            </a:r>
          </a:p>
        </p:txBody>
      </p:sp>
      <p:sp>
        <p:nvSpPr>
          <p:cNvPr id="11" name="Rectangle 10"/>
          <p:cNvSpPr/>
          <p:nvPr/>
        </p:nvSpPr>
        <p:spPr>
          <a:xfrm>
            <a:off x="9153144" y="2286000"/>
            <a:ext cx="7543800" cy="73152"/>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53144" y="2606040"/>
            <a:ext cx="7543800" cy="365760"/>
          </a:xfrm>
          <a:prstGeom prst="rect">
            <a:avLst/>
          </a:prstGeom>
          <a:noFill/>
        </p:spPr>
        <p:txBody>
          <a:bodyPr wrap="square" anchor="t" lIns="0" rIns="0" tIns="0" bIns="0">
            <a:spAutoFit/>
          </a:bodyPr>
          <a:lstStyle/>
          <a:p>
            <a:pPr algn="l">
              <a:lnSpc>
                <a:spcPct val="115000"/>
              </a:lnSpc>
            </a:pPr>
            <a:r>
              <a:rPr sz="1500" b="1" spc="300">
                <a:solidFill>
                  <a:srgbClr val="D0D3D6"/>
                </a:solidFill>
                <a:latin typeface="Arial"/>
              </a:rPr>
              <a:t>NOTEBOOK 2 · YOUR TURN</a:t>
            </a:r>
          </a:p>
        </p:txBody>
      </p:sp>
      <p:sp>
        <p:nvSpPr>
          <p:cNvPr id="13" name="TextBox 12"/>
          <p:cNvSpPr txBox="1"/>
          <p:nvPr/>
        </p:nvSpPr>
        <p:spPr>
          <a:xfrm>
            <a:off x="9153144" y="3063240"/>
            <a:ext cx="7452360" cy="1280160"/>
          </a:xfrm>
          <a:prstGeom prst="rect">
            <a:avLst/>
          </a:prstGeom>
          <a:noFill/>
        </p:spPr>
        <p:txBody>
          <a:bodyPr wrap="square" anchor="t" lIns="0" rIns="0" tIns="0" bIns="0">
            <a:spAutoFit/>
          </a:bodyPr>
          <a:lstStyle/>
          <a:p>
            <a:pPr algn="l">
              <a:lnSpc>
                <a:spcPct val="105000"/>
              </a:lnSpc>
            </a:pPr>
            <a:r>
              <a:rPr sz="2600" b="1">
                <a:solidFill>
                  <a:srgbClr val="FFFFFF"/>
                </a:solidFill>
                <a:latin typeface="Arial"/>
              </a:rPr>
              <a:t>What happens with smaller chunks, 300 characters instead of 1000?</a:t>
            </a:r>
          </a:p>
        </p:txBody>
      </p:sp>
      <p:sp>
        <p:nvSpPr>
          <p:cNvPr id="14" name="TextBox 13"/>
          <p:cNvSpPr txBox="1"/>
          <p:nvPr/>
        </p:nvSpPr>
        <p:spPr>
          <a:xfrm>
            <a:off x="9153144" y="4572000"/>
            <a:ext cx="7452360" cy="3657600"/>
          </a:xfrm>
          <a:prstGeom prst="rect">
            <a:avLst/>
          </a:prstGeom>
          <a:noFill/>
        </p:spPr>
        <p:txBody>
          <a:bodyPr wrap="square" anchor="t" lIns="0" rIns="0" tIns="0" bIns="0">
            <a:spAutoFit/>
          </a:bodyPr>
          <a:lstStyle/>
          <a:p>
            <a:pPr algn="l">
              <a:lnSpc>
                <a:spcPct val="120000"/>
              </a:lnSpc>
              <a:spcAft>
                <a:spcPts val="1200"/>
              </a:spcAft>
            </a:pPr>
            <a:r>
              <a:rPr sz="2100" b="0">
                <a:solidFill>
                  <a:srgbClr val="FFFFFF"/>
                </a:solidFill>
                <a:latin typeface="Arial"/>
              </a:rPr>
              <a:t>A   Fewer chunks, and tables stay whole</a:t>
            </a:r>
          </a:p>
          <a:p>
            <a:pPr algn="l">
              <a:lnSpc>
                <a:spcPct val="120000"/>
              </a:lnSpc>
              <a:spcAft>
                <a:spcPts val="1200"/>
              </a:spcAft>
            </a:pPr>
            <a:r>
              <a:rPr sz="2100" b="0">
                <a:solidFill>
                  <a:srgbClr val="FFFFFF"/>
                </a:solidFill>
                <a:latin typeface="Arial"/>
              </a:rPr>
              <a:t>B   More chunks, and more of them cut through a table</a:t>
            </a:r>
          </a:p>
          <a:p>
            <a:pPr algn="l">
              <a:lnSpc>
                <a:spcPct val="120000"/>
              </a:lnSpc>
              <a:spcAft>
                <a:spcPts val="1200"/>
              </a:spcAft>
            </a:pPr>
            <a:r>
              <a:rPr sz="2100" b="0">
                <a:solidFill>
                  <a:srgbClr val="FFFFFF"/>
                </a:solidFill>
                <a:latin typeface="Arial"/>
              </a:rPr>
              <a:t>C   Nothing changes</a:t>
            </a:r>
          </a:p>
        </p:txBody>
      </p:sp>
      <p:sp>
        <p:nvSpPr>
          <p:cNvPr id="15" name="TextBox 14"/>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5A6065"/>
        </a:solidFill>
        <a:effectLst/>
      </p:bgPr>
    </p:bg>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490471" y="5321808"/>
            <a:ext cx="3840479"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CHECKPOINT</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FFFFFF"/>
                </a:solidFill>
                <a:latin typeface="Arial"/>
              </a:rPr>
              <a:t>WHAT WE FOUND</a:t>
            </a:r>
          </a:p>
        </p:txBody>
      </p:sp>
      <p:sp>
        <p:nvSpPr>
          <p:cNvPr id="5" name="Rectangle 4"/>
          <p:cNvSpPr/>
          <p:nvPr/>
        </p:nvSpPr>
        <p:spPr>
          <a:xfrm>
            <a:off x="1060704" y="2286000"/>
            <a:ext cx="7543800" cy="73152"/>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2606040"/>
            <a:ext cx="7543800" cy="365760"/>
          </a:xfrm>
          <a:prstGeom prst="rect">
            <a:avLst/>
          </a:prstGeom>
          <a:noFill/>
        </p:spPr>
        <p:txBody>
          <a:bodyPr wrap="square" anchor="t" lIns="0" rIns="0" tIns="0" bIns="0">
            <a:spAutoFit/>
          </a:bodyPr>
          <a:lstStyle/>
          <a:p>
            <a:pPr algn="l">
              <a:lnSpc>
                <a:spcPct val="115000"/>
              </a:lnSpc>
            </a:pPr>
            <a:r>
              <a:rPr sz="1500" b="1" spc="300">
                <a:solidFill>
                  <a:srgbClr val="D0D3D6"/>
                </a:solidFill>
                <a:latin typeface="Arial"/>
              </a:rPr>
              <a:t>NOTEBOOK 2</a:t>
            </a:r>
          </a:p>
        </p:txBody>
      </p:sp>
      <p:sp>
        <p:nvSpPr>
          <p:cNvPr id="7" name="TextBox 6"/>
          <p:cNvSpPr txBox="1"/>
          <p:nvPr/>
        </p:nvSpPr>
        <p:spPr>
          <a:xfrm>
            <a:off x="1060704" y="3063240"/>
            <a:ext cx="7452360" cy="1280160"/>
          </a:xfrm>
          <a:prstGeom prst="rect">
            <a:avLst/>
          </a:prstGeom>
          <a:noFill/>
        </p:spPr>
        <p:txBody>
          <a:bodyPr wrap="square" anchor="t" lIns="0" rIns="0" tIns="0" bIns="0">
            <a:spAutoFit/>
          </a:bodyPr>
          <a:lstStyle/>
          <a:p>
            <a:pPr algn="l">
              <a:lnSpc>
                <a:spcPct val="105000"/>
              </a:lnSpc>
            </a:pPr>
            <a:r>
              <a:rPr sz="2600" b="1">
                <a:solidFill>
                  <a:srgbClr val="FFFFFF"/>
                </a:solidFill>
                <a:latin typeface="Arial"/>
              </a:rPr>
              <a:t>What happened to the tables when Docling read the papers?</a:t>
            </a:r>
          </a:p>
        </p:txBody>
      </p:sp>
      <p:sp>
        <p:nvSpPr>
          <p:cNvPr id="8" name="Rectangle 7"/>
          <p:cNvSpPr/>
          <p:nvPr/>
        </p:nvSpPr>
        <p:spPr>
          <a:xfrm>
            <a:off x="1060704" y="4526280"/>
            <a:ext cx="7543800" cy="3291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4709160"/>
            <a:ext cx="6995159" cy="822960"/>
          </a:xfrm>
          <a:prstGeom prst="rect">
            <a:avLst/>
          </a:prstGeom>
          <a:noFill/>
        </p:spPr>
        <p:txBody>
          <a:bodyPr wrap="square" anchor="t" lIns="0" rIns="0" tIns="0" bIns="0">
            <a:spAutoFit/>
          </a:bodyPr>
          <a:lstStyle/>
          <a:p>
            <a:pPr algn="l">
              <a:lnSpc>
                <a:spcPct val="115000"/>
              </a:lnSpc>
            </a:pPr>
            <a:r>
              <a:rPr sz="2600" b="1">
                <a:solidFill>
                  <a:srgbClr val="B1063A"/>
                </a:solidFill>
                <a:latin typeface="Arial"/>
              </a:rPr>
              <a:t>C</a:t>
            </a:r>
            <a:r>
              <a:rPr sz="1900" b="1">
                <a:solidFill>
                  <a:srgbClr val="17161C"/>
                </a:solidFill>
                <a:latin typeface="Arial"/>
              </a:rPr>
              <a:t>   They stayed tables, in Markdown</a:t>
            </a:r>
          </a:p>
        </p:txBody>
      </p:sp>
      <p:sp>
        <p:nvSpPr>
          <p:cNvPr id="10" name="TextBox 9"/>
          <p:cNvSpPr txBox="1"/>
          <p:nvPr/>
        </p:nvSpPr>
        <p:spPr>
          <a:xfrm>
            <a:off x="1335024" y="5760720"/>
            <a:ext cx="6995159" cy="2011680"/>
          </a:xfrm>
          <a:prstGeom prst="rect">
            <a:avLst/>
          </a:prstGeom>
          <a:noFill/>
        </p:spPr>
        <p:txBody>
          <a:bodyPr wrap="square" anchor="t" lIns="0" rIns="0" tIns="0" bIns="0">
            <a:spAutoFit/>
          </a:bodyPr>
          <a:lstStyle/>
          <a:p>
            <a:pPr algn="l">
              <a:lnSpc>
                <a:spcPct val="125000"/>
              </a:lnSpc>
            </a:pPr>
            <a:r>
              <a:rPr sz="1900" b="0">
                <a:solidFill>
                  <a:srgbClr val="17161C"/>
                </a:solidFill>
                <a:latin typeface="Arial"/>
              </a:rPr>
              <a:t>All 5 tables in the three papers came through with their rows and columns, searchable like any other text.</a:t>
            </a:r>
          </a:p>
        </p:txBody>
      </p:sp>
      <p:sp>
        <p:nvSpPr>
          <p:cNvPr id="11" name="Rectangle 10"/>
          <p:cNvSpPr/>
          <p:nvPr/>
        </p:nvSpPr>
        <p:spPr>
          <a:xfrm>
            <a:off x="9153144" y="2286000"/>
            <a:ext cx="7543800" cy="73152"/>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53144" y="2606040"/>
            <a:ext cx="7543800" cy="365760"/>
          </a:xfrm>
          <a:prstGeom prst="rect">
            <a:avLst/>
          </a:prstGeom>
          <a:noFill/>
        </p:spPr>
        <p:txBody>
          <a:bodyPr wrap="square" anchor="t" lIns="0" rIns="0" tIns="0" bIns="0">
            <a:spAutoFit/>
          </a:bodyPr>
          <a:lstStyle/>
          <a:p>
            <a:pPr algn="l">
              <a:lnSpc>
                <a:spcPct val="115000"/>
              </a:lnSpc>
            </a:pPr>
            <a:r>
              <a:rPr sz="1500" b="1" spc="300">
                <a:solidFill>
                  <a:srgbClr val="D0D3D6"/>
                </a:solidFill>
                <a:latin typeface="Arial"/>
              </a:rPr>
              <a:t>NOTEBOOK 2 · YOUR TURN</a:t>
            </a:r>
          </a:p>
        </p:txBody>
      </p:sp>
      <p:sp>
        <p:nvSpPr>
          <p:cNvPr id="13" name="TextBox 12"/>
          <p:cNvSpPr txBox="1"/>
          <p:nvPr/>
        </p:nvSpPr>
        <p:spPr>
          <a:xfrm>
            <a:off x="9153144" y="3063240"/>
            <a:ext cx="7452360" cy="1280160"/>
          </a:xfrm>
          <a:prstGeom prst="rect">
            <a:avLst/>
          </a:prstGeom>
          <a:noFill/>
        </p:spPr>
        <p:txBody>
          <a:bodyPr wrap="square" anchor="t" lIns="0" rIns="0" tIns="0" bIns="0">
            <a:spAutoFit/>
          </a:bodyPr>
          <a:lstStyle/>
          <a:p>
            <a:pPr algn="l">
              <a:lnSpc>
                <a:spcPct val="105000"/>
              </a:lnSpc>
            </a:pPr>
            <a:r>
              <a:rPr sz="2600" b="1">
                <a:solidFill>
                  <a:srgbClr val="FFFFFF"/>
                </a:solidFill>
                <a:latin typeface="Arial"/>
              </a:rPr>
              <a:t>What happens with smaller chunks, 300 characters instead of 1000?</a:t>
            </a:r>
          </a:p>
        </p:txBody>
      </p:sp>
      <p:sp>
        <p:nvSpPr>
          <p:cNvPr id="14" name="Rectangle 13"/>
          <p:cNvSpPr/>
          <p:nvPr/>
        </p:nvSpPr>
        <p:spPr>
          <a:xfrm>
            <a:off x="9153144" y="4526280"/>
            <a:ext cx="7543800" cy="3291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27464" y="4709160"/>
            <a:ext cx="6995159" cy="822960"/>
          </a:xfrm>
          <a:prstGeom prst="rect">
            <a:avLst/>
          </a:prstGeom>
          <a:noFill/>
        </p:spPr>
        <p:txBody>
          <a:bodyPr wrap="square" anchor="t" lIns="0" rIns="0" tIns="0" bIns="0">
            <a:spAutoFit/>
          </a:bodyPr>
          <a:lstStyle/>
          <a:p>
            <a:pPr algn="l">
              <a:lnSpc>
                <a:spcPct val="115000"/>
              </a:lnSpc>
            </a:pPr>
            <a:r>
              <a:rPr sz="2600" b="1">
                <a:solidFill>
                  <a:srgbClr val="B1063A"/>
                </a:solidFill>
                <a:latin typeface="Arial"/>
              </a:rPr>
              <a:t>B</a:t>
            </a:r>
            <a:r>
              <a:rPr sz="1900" b="1">
                <a:solidFill>
                  <a:srgbClr val="17161C"/>
                </a:solidFill>
                <a:latin typeface="Arial"/>
              </a:rPr>
              <a:t>   More chunks, and more of them cut through a table</a:t>
            </a:r>
          </a:p>
        </p:txBody>
      </p:sp>
      <p:sp>
        <p:nvSpPr>
          <p:cNvPr id="16" name="TextBox 15"/>
          <p:cNvSpPr txBox="1"/>
          <p:nvPr/>
        </p:nvSpPr>
        <p:spPr>
          <a:xfrm>
            <a:off x="9427464" y="5760720"/>
            <a:ext cx="6995159" cy="2011680"/>
          </a:xfrm>
          <a:prstGeom prst="rect">
            <a:avLst/>
          </a:prstGeom>
          <a:noFill/>
        </p:spPr>
        <p:txBody>
          <a:bodyPr wrap="square" anchor="t" lIns="0" rIns="0" tIns="0" bIns="0">
            <a:spAutoFit/>
          </a:bodyPr>
          <a:lstStyle/>
          <a:p>
            <a:pPr algn="l">
              <a:lnSpc>
                <a:spcPct val="125000"/>
              </a:lnSpc>
            </a:pPr>
            <a:r>
              <a:rPr sz="1900" b="0">
                <a:solidFill>
                  <a:srgbClr val="17161C"/>
                </a:solidFill>
                <a:latin typeface="Arial"/>
              </a:rPr>
              <a:t>Over the three papers: 1434 chunks instead of 197, so more borders fall inside a table. At 3000: 67 chunks.</a:t>
            </a:r>
          </a:p>
        </p:txBody>
      </p:sp>
      <p:sp>
        <p:nvSpPr>
          <p:cNvPr id="17" name="Rectangle 16"/>
          <p:cNvSpPr/>
          <p:nvPr/>
        </p:nvSpPr>
        <p:spPr>
          <a:xfrm>
            <a:off x="1060704" y="8229600"/>
            <a:ext cx="16184880" cy="1005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8229600"/>
            <a:ext cx="2743200" cy="1005840"/>
          </a:xfrm>
          <a:prstGeom prst="rect">
            <a:avLst/>
          </a:prstGeom>
          <a:noFill/>
        </p:spPr>
        <p:txBody>
          <a:bodyPr wrap="square" anchor="ctr" lIns="0" rIns="0" tIns="0" bIns="0">
            <a:spAutoFit/>
          </a:bodyPr>
          <a:lstStyle/>
          <a:p>
            <a:pPr algn="l">
              <a:lnSpc>
                <a:spcPct val="115000"/>
              </a:lnSpc>
            </a:pPr>
            <a:r>
              <a:rPr sz="1500" b="1" spc="300">
                <a:solidFill>
                  <a:srgbClr val="8B9094"/>
                </a:solidFill>
                <a:latin typeface="Arial"/>
              </a:rPr>
              <a:t>NEXT</a:t>
            </a:r>
          </a:p>
        </p:txBody>
      </p:sp>
      <p:sp>
        <p:nvSpPr>
          <p:cNvPr id="19" name="TextBox 18"/>
          <p:cNvSpPr txBox="1"/>
          <p:nvPr/>
        </p:nvSpPr>
        <p:spPr>
          <a:xfrm>
            <a:off x="3108960" y="8229600"/>
            <a:ext cx="13898880" cy="1005840"/>
          </a:xfrm>
          <a:prstGeom prst="rect">
            <a:avLst/>
          </a:prstGeom>
          <a:noFill/>
        </p:spPr>
        <p:txBody>
          <a:bodyPr wrap="square" anchor="ctr" lIns="0" rIns="0" tIns="0" bIns="0">
            <a:spAutoFit/>
          </a:bodyPr>
          <a:lstStyle/>
          <a:p>
            <a:pPr algn="l">
              <a:lnSpc>
                <a:spcPct val="115000"/>
              </a:lnSpc>
            </a:pPr>
            <a:r>
              <a:rPr sz="2000" b="0">
                <a:solidFill>
                  <a:srgbClr val="17161C"/>
                </a:solidFill>
                <a:latin typeface="Arial"/>
              </a:rPr>
              <a:t>We have good chunks. How do we find the right ones for a question?</a:t>
            </a:r>
          </a:p>
        </p:txBody>
      </p:sp>
      <p:sp>
        <p:nvSpPr>
          <p:cNvPr id="20" name="TextBox 19"/>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161288" y="5321808"/>
            <a:ext cx="3182112"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HANDS-ON</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SEARCH</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TextBox 6"/>
          <p:cNvSpPr txBox="1"/>
          <p:nvPr/>
        </p:nvSpPr>
        <p:spPr>
          <a:xfrm>
            <a:off x="1060704" y="1691640"/>
            <a:ext cx="8229600" cy="365760"/>
          </a:xfrm>
          <a:prstGeom prst="rect">
            <a:avLst/>
          </a:prstGeom>
          <a:noFill/>
        </p:spPr>
        <p:txBody>
          <a:bodyPr wrap="square" anchor="t" lIns="0" rIns="0" tIns="0" bIns="0">
            <a:spAutoFit/>
          </a:bodyPr>
          <a:lstStyle/>
          <a:p>
            <a:pPr algn="l">
              <a:lnSpc>
                <a:spcPct val="115000"/>
              </a:lnSpc>
            </a:pPr>
            <a:r>
              <a:rPr sz="1500" b="1" spc="300">
                <a:solidFill>
                  <a:srgbClr val="DD6108"/>
                </a:solidFill>
                <a:latin typeface="Arial"/>
              </a:rPr>
              <a:t>NOTEBOOK 3 · 8 MIN</a:t>
            </a:r>
          </a:p>
        </p:txBody>
      </p:sp>
      <p:sp>
        <p:nvSpPr>
          <p:cNvPr id="8" name="TextBox 7"/>
          <p:cNvSpPr txBox="1"/>
          <p:nvPr/>
        </p:nvSpPr>
        <p:spPr>
          <a:xfrm>
            <a:off x="1060704" y="2423160"/>
            <a:ext cx="82296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IN THIS NOTEBOOK</a:t>
            </a:r>
          </a:p>
        </p:txBody>
      </p:sp>
      <p:sp>
        <p:nvSpPr>
          <p:cNvPr id="9" name="TextBox 8"/>
          <p:cNvSpPr txBox="1"/>
          <p:nvPr/>
        </p:nvSpPr>
        <p:spPr>
          <a:xfrm>
            <a:off x="1060704" y="2880360"/>
            <a:ext cx="8595360" cy="2194560"/>
          </a:xfrm>
          <a:prstGeom prst="rect">
            <a:avLst/>
          </a:prstGeom>
          <a:noFill/>
        </p:spPr>
        <p:txBody>
          <a:bodyPr wrap="square" anchor="t" lIns="0" rIns="0" tIns="0" bIns="0">
            <a:spAutoFit/>
          </a:bodyPr>
          <a:lstStyle/>
          <a:p>
            <a:pPr algn="l">
              <a:lnSpc>
                <a:spcPct val="115000"/>
              </a:lnSpc>
              <a:spcAft>
                <a:spcPts val="800"/>
              </a:spcAft>
            </a:pPr>
            <a:r>
              <a:rPr sz="1900" b="0">
                <a:solidFill>
                  <a:srgbClr val="17161C"/>
                </a:solidFill>
                <a:latin typeface="Arial"/>
              </a:rPr>
              <a:t>•  Embed sentences and compare how similar they are</a:t>
            </a:r>
          </a:p>
          <a:p>
            <a:pPr algn="l">
              <a:lnSpc>
                <a:spcPct val="115000"/>
              </a:lnSpc>
              <a:spcAft>
                <a:spcPts val="800"/>
              </a:spcAft>
            </a:pPr>
            <a:r>
              <a:rPr sz="1900" b="0">
                <a:solidFill>
                  <a:srgbClr val="17161C"/>
                </a:solidFill>
                <a:latin typeface="Arial"/>
              </a:rPr>
              <a:t>•  Store all chunks in Qdrant, in memory</a:t>
            </a:r>
          </a:p>
          <a:p>
            <a:pPr algn="l">
              <a:lnSpc>
                <a:spcPct val="115000"/>
              </a:lnSpc>
              <a:spcAft>
                <a:spcPts val="800"/>
              </a:spcAft>
            </a:pPr>
            <a:r>
              <a:rPr sz="1900" b="0">
                <a:solidFill>
                  <a:srgbClr val="17161C"/>
                </a:solidFill>
                <a:latin typeface="Arial"/>
              </a:rPr>
              <a:t>•  Turn the bot into a search engine, no LLM yet</a:t>
            </a:r>
          </a:p>
        </p:txBody>
      </p:sp>
      <p:sp>
        <p:nvSpPr>
          <p:cNvPr id="10" name="TextBox 9"/>
          <p:cNvSpPr txBox="1"/>
          <p:nvPr/>
        </p:nvSpPr>
        <p:spPr>
          <a:xfrm>
            <a:off x="1060704" y="5074920"/>
            <a:ext cx="82296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YOUR TURN · IN THE CHATBOT · + ONLY IF TIME</a:t>
            </a:r>
          </a:p>
        </p:txBody>
      </p:sp>
      <p:sp>
        <p:nvSpPr>
          <p:cNvPr id="11" name="Rectangle 10"/>
          <p:cNvSpPr/>
          <p:nvPr/>
        </p:nvSpPr>
        <p:spPr>
          <a:xfrm>
            <a:off x="1060704" y="5532120"/>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553212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1</a:t>
            </a:r>
          </a:p>
        </p:txBody>
      </p:sp>
      <p:sp>
        <p:nvSpPr>
          <p:cNvPr id="13" name="TextBox 12"/>
          <p:cNvSpPr txBox="1"/>
          <p:nvPr/>
        </p:nvSpPr>
        <p:spPr>
          <a:xfrm>
            <a:off x="1655064" y="5559552"/>
            <a:ext cx="8001000" cy="68580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Fewer, better results: pick a score cutoff</a:t>
            </a:r>
          </a:p>
        </p:txBody>
      </p:sp>
      <p:sp>
        <p:nvSpPr>
          <p:cNvPr id="14" name="Rectangle 13"/>
          <p:cNvSpPr/>
          <p:nvPr/>
        </p:nvSpPr>
        <p:spPr>
          <a:xfrm>
            <a:off x="1060704" y="6217920"/>
            <a:ext cx="384048" cy="384048"/>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0704" y="621792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a:t>
            </a:r>
          </a:p>
        </p:txBody>
      </p:sp>
      <p:sp>
        <p:nvSpPr>
          <p:cNvPr id="16" name="TextBox 15"/>
          <p:cNvSpPr txBox="1"/>
          <p:nvPr/>
        </p:nvSpPr>
        <p:spPr>
          <a:xfrm>
            <a:off x="1655064" y="6245352"/>
            <a:ext cx="8001000" cy="68580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Bonus: ask in German</a:t>
            </a:r>
          </a:p>
        </p:txBody>
      </p:sp>
      <p:sp>
        <p:nvSpPr>
          <p:cNvPr id="17" name="TextBox 16"/>
          <p:cNvSpPr txBox="1"/>
          <p:nvPr/>
        </p:nvSpPr>
        <p:spPr>
          <a:xfrm>
            <a:off x="1060704" y="7040880"/>
            <a:ext cx="8595360" cy="365760"/>
          </a:xfrm>
          <a:prstGeom prst="rect">
            <a:avLst/>
          </a:prstGeom>
          <a:noFill/>
        </p:spPr>
        <p:txBody>
          <a:bodyPr wrap="square" anchor="t" lIns="0" rIns="0" tIns="0" bIns="0">
            <a:spAutoFit/>
          </a:bodyPr>
          <a:lstStyle/>
          <a:p>
            <a:pPr algn="l">
              <a:lnSpc>
                <a:spcPct val="115000"/>
              </a:lnSpc>
            </a:pPr>
            <a:r>
              <a:rPr sz="1500" b="0">
                <a:solidFill>
                  <a:srgbClr val="8B9094"/>
                </a:solidFill>
                <a:latin typeface="Arial"/>
              </a:rPr>
              <a:t>Solutions are folded away under each exercise.</a:t>
            </a:r>
          </a:p>
        </p:txBody>
      </p:sp>
      <p:sp>
        <p:nvSpPr>
          <p:cNvPr id="18" name="Rounded Rectangle 17"/>
          <p:cNvSpPr/>
          <p:nvPr/>
        </p:nvSpPr>
        <p:spPr>
          <a:xfrm>
            <a:off x="10241280" y="2103120"/>
            <a:ext cx="7589520" cy="6071616"/>
          </a:xfrm>
          <a:prstGeom prst="roundRect">
            <a:avLst>
              <a:gd name="adj" fmla="val 4000"/>
            </a:avLst>
          </a:prstGeom>
          <a:solidFill>
            <a:srgbClr val="F4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61319" y="2331720"/>
            <a:ext cx="6949440" cy="320040"/>
          </a:xfrm>
          <a:prstGeom prst="rect">
            <a:avLst/>
          </a:prstGeom>
          <a:noFill/>
        </p:spPr>
        <p:txBody>
          <a:bodyPr wrap="square" anchor="t" lIns="0" rIns="0" tIns="0" bIns="0">
            <a:spAutoFit/>
          </a:bodyPr>
          <a:lstStyle/>
          <a:p>
            <a:pPr algn="l">
              <a:lnSpc>
                <a:spcPct val="115000"/>
              </a:lnSpc>
            </a:pPr>
            <a:r>
              <a:rPr sz="1300" b="0">
                <a:solidFill>
                  <a:srgbClr val="8B9094"/>
                </a:solidFill>
                <a:latin typeface="Courier New"/>
              </a:rPr>
              <a:t>localhost:8000</a:t>
            </a:r>
          </a:p>
        </p:txBody>
      </p:sp>
      <p:sp>
        <p:nvSpPr>
          <p:cNvPr id="20" name="Rounded Rectangle 19"/>
          <p:cNvSpPr/>
          <p:nvPr/>
        </p:nvSpPr>
        <p:spPr>
          <a:xfrm>
            <a:off x="11384279" y="2880360"/>
            <a:ext cx="6126480" cy="566928"/>
          </a:xfrm>
          <a:prstGeom prst="roundRect">
            <a:avLst/>
          </a:prstGeom>
          <a:solidFill>
            <a:srgbClr val="E2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521440" y="2990088"/>
            <a:ext cx="5852160" cy="384048"/>
          </a:xfrm>
          <a:prstGeom prst="rect">
            <a:avLst/>
          </a:prstGeom>
          <a:noFill/>
        </p:spPr>
        <p:txBody>
          <a:bodyPr wrap="square" anchor="t" lIns="0" rIns="0" tIns="0" bIns="0">
            <a:spAutoFit/>
          </a:bodyPr>
          <a:lstStyle/>
          <a:p>
            <a:pPr algn="l">
              <a:lnSpc>
                <a:spcPct val="115000"/>
              </a:lnSpc>
            </a:pPr>
            <a:r>
              <a:rPr sz="1500" b="0">
                <a:solidFill>
                  <a:srgbClr val="17161C"/>
                </a:solidFill>
                <a:latin typeface="Arial"/>
              </a:rPr>
              <a:t>What were the lifetime-encoded beads loaded with?</a:t>
            </a:r>
          </a:p>
        </p:txBody>
      </p:sp>
      <p:sp>
        <p:nvSpPr>
          <p:cNvPr id="22" name="Rounded Rectangle 21"/>
          <p:cNvSpPr/>
          <p:nvPr/>
        </p:nvSpPr>
        <p:spPr>
          <a:xfrm>
            <a:off x="10561319" y="3675887"/>
            <a:ext cx="6949440" cy="2331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89919" y="3813048"/>
            <a:ext cx="6492240" cy="2103120"/>
          </a:xfrm>
          <a:prstGeom prst="rect">
            <a:avLst/>
          </a:prstGeom>
          <a:noFill/>
        </p:spPr>
        <p:txBody>
          <a:bodyPr wrap="square" anchor="t" lIns="0" rIns="0" tIns="0" bIns="0">
            <a:spAutoFit/>
          </a:bodyPr>
          <a:lstStyle/>
          <a:p>
            <a:pPr algn="l">
              <a:lnSpc>
                <a:spcPct val="115000"/>
              </a:lnSpc>
            </a:pPr>
            <a:r>
              <a:rPr sz="1500" b="0">
                <a:solidFill>
                  <a:srgbClr val="17161C"/>
                </a:solidFill>
                <a:latin typeface="Arial"/>
              </a:rPr>
              <a:t>Kage_2018_SciReports.pdf, p. 2  (score 0.73)</a:t>
            </a:r>
            <a:br/>
            <a:r>
              <a:rPr sz="1500" b="0">
                <a:solidFill>
                  <a:srgbClr val="17161C"/>
                </a:solidFill>
                <a:latin typeface="Arial"/>
              </a:rPr>
              <a:t>› … loaded with different organic fluorophores …</a:t>
            </a:r>
            <a:br/>
            <a:r>
              <a:rPr sz="1500" b="0">
                <a:solidFill>
                  <a:srgbClr val="17161C"/>
                </a:solidFill>
                <a:latin typeface="Arial"/>
              </a:rPr>
              <a:t/>
            </a:r>
            <a:br/>
            <a:r>
              <a:rPr sz="1500" b="0">
                <a:solidFill>
                  <a:srgbClr val="17161C"/>
                </a:solidFill>
                <a:latin typeface="Arial"/>
              </a:rPr>
              <a:t>Kage_2018_SciReports.pdf, p. 3  (score 0.64)</a:t>
            </a:r>
            <a:br/>
            <a:r>
              <a:rPr sz="1500" b="0">
                <a:solidFill>
                  <a:srgbClr val="17161C"/>
                </a:solidFill>
                <a:latin typeface="Arial"/>
              </a:rPr>
              <a:t>› Table 1. Lifetime codes and respective luminophores …</a:t>
            </a:r>
          </a:p>
        </p:txBody>
      </p:sp>
      <p:sp>
        <p:nvSpPr>
          <p:cNvPr id="24" name="Rounded Rectangle 23"/>
          <p:cNvSpPr/>
          <p:nvPr/>
        </p:nvSpPr>
        <p:spPr>
          <a:xfrm>
            <a:off x="13395959" y="6236207"/>
            <a:ext cx="4114800" cy="566928"/>
          </a:xfrm>
          <a:prstGeom prst="roundRect">
            <a:avLst/>
          </a:prstGeom>
          <a:solidFill>
            <a:srgbClr val="E2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533120" y="6345936"/>
            <a:ext cx="3840480" cy="384048"/>
          </a:xfrm>
          <a:prstGeom prst="rect">
            <a:avLst/>
          </a:prstGeom>
          <a:noFill/>
        </p:spPr>
        <p:txBody>
          <a:bodyPr wrap="square" anchor="t" lIns="0" rIns="0" tIns="0" bIns="0">
            <a:spAutoFit/>
          </a:bodyPr>
          <a:lstStyle/>
          <a:p>
            <a:pPr algn="l">
              <a:lnSpc>
                <a:spcPct val="115000"/>
              </a:lnSpc>
            </a:pPr>
            <a:r>
              <a:rPr sz="1500" b="0">
                <a:solidFill>
                  <a:srgbClr val="17161C"/>
                </a:solidFill>
                <a:latin typeface="Arial"/>
              </a:rPr>
              <a:t>What is the capital of France?</a:t>
            </a:r>
          </a:p>
        </p:txBody>
      </p:sp>
      <p:sp>
        <p:nvSpPr>
          <p:cNvPr id="26" name="Rounded Rectangle 25"/>
          <p:cNvSpPr/>
          <p:nvPr/>
        </p:nvSpPr>
        <p:spPr>
          <a:xfrm>
            <a:off x="10561319" y="7031736"/>
            <a:ext cx="6949440" cy="685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89919" y="7168896"/>
            <a:ext cx="6492240" cy="457200"/>
          </a:xfrm>
          <a:prstGeom prst="rect">
            <a:avLst/>
          </a:prstGeom>
          <a:noFill/>
        </p:spPr>
        <p:txBody>
          <a:bodyPr wrap="square" anchor="t" lIns="0" rIns="0" tIns="0" bIns="0">
            <a:spAutoFit/>
          </a:bodyPr>
          <a:lstStyle/>
          <a:p>
            <a:pPr algn="l">
              <a:lnSpc>
                <a:spcPct val="115000"/>
              </a:lnSpc>
            </a:pPr>
            <a:r>
              <a:rPr sz="1500" b="0">
                <a:solidFill>
                  <a:srgbClr val="17161C"/>
                </a:solidFill>
                <a:latin typeface="Arial"/>
              </a:rPr>
              <a:t>Kage_2018_SciReports.pdf, p. 6  (score 0.17) …</a:t>
            </a:r>
          </a:p>
        </p:txBody>
      </p:sp>
      <p:sp>
        <p:nvSpPr>
          <p:cNvPr id="28" name="TextBox 27"/>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832104" y="5321808"/>
            <a:ext cx="2523744"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BASICS</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WHY DID FRANCE GET A HIT?</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pic>
        <p:nvPicPr>
          <p:cNvPr id="7" name="Picture 6" descr="embeddings.png"/>
          <p:cNvPicPr>
            <a:picLocks noChangeAspect="1"/>
          </p:cNvPicPr>
          <p:nvPr/>
        </p:nvPicPr>
        <p:blipFill>
          <a:blip r:embed="rId4"/>
          <a:stretch>
            <a:fillRect/>
          </a:stretch>
        </p:blipFill>
        <p:spPr>
          <a:xfrm>
            <a:off x="1060704" y="1920240"/>
            <a:ext cx="6766560" cy="4016281"/>
          </a:xfrm>
          <a:prstGeom prst="rect">
            <a:avLst/>
          </a:prstGeom>
        </p:spPr>
      </p:pic>
      <p:pic>
        <p:nvPicPr>
          <p:cNvPr id="8" name="Picture 7" descr="qdrant.png"/>
          <p:cNvPicPr>
            <a:picLocks noChangeAspect="1"/>
          </p:cNvPicPr>
          <p:nvPr/>
        </p:nvPicPr>
        <p:blipFill>
          <a:blip r:embed="rId5"/>
          <a:stretch>
            <a:fillRect/>
          </a:stretch>
        </p:blipFill>
        <p:spPr>
          <a:xfrm>
            <a:off x="8183879" y="1920240"/>
            <a:ext cx="9692640" cy="3786892"/>
          </a:xfrm>
          <a:prstGeom prst="rect">
            <a:avLst/>
          </a:prstGeom>
        </p:spPr>
      </p:pic>
      <p:sp>
        <p:nvSpPr>
          <p:cNvPr id="9" name="TextBox 8"/>
          <p:cNvSpPr txBox="1"/>
          <p:nvPr/>
        </p:nvSpPr>
        <p:spPr>
          <a:xfrm>
            <a:off x="1060704" y="6263640"/>
            <a:ext cx="16184880" cy="822960"/>
          </a:xfrm>
          <a:prstGeom prst="rect">
            <a:avLst/>
          </a:prstGeom>
          <a:noFill/>
        </p:spPr>
        <p:txBody>
          <a:bodyPr wrap="square" anchor="t" lIns="0" rIns="0" tIns="0" bIns="0">
            <a:spAutoFit/>
          </a:bodyPr>
          <a:lstStyle/>
          <a:p>
            <a:pPr algn="l">
              <a:lnSpc>
                <a:spcPct val="115000"/>
              </a:lnSpc>
            </a:pPr>
            <a:r>
              <a:rPr sz="2000" b="1">
                <a:solidFill>
                  <a:srgbClr val="007A9E"/>
                </a:solidFill>
                <a:latin typeface="Arial"/>
              </a:rPr>
              <a:t>1   </a:t>
            </a:r>
            <a:r>
              <a:rPr sz="2000" b="0">
                <a:solidFill>
                  <a:srgbClr val="17161C"/>
                </a:solidFill>
                <a:latin typeface="Arial"/>
              </a:rPr>
              <a:t>An embedding model turns text into a list of numbers, 4096 with ours. Similar meaning, similar direction.</a:t>
            </a:r>
          </a:p>
        </p:txBody>
      </p:sp>
      <p:sp>
        <p:nvSpPr>
          <p:cNvPr id="10" name="TextBox 9"/>
          <p:cNvSpPr txBox="1"/>
          <p:nvPr/>
        </p:nvSpPr>
        <p:spPr>
          <a:xfrm>
            <a:off x="1060704" y="7178040"/>
            <a:ext cx="16184880" cy="822960"/>
          </a:xfrm>
          <a:prstGeom prst="rect">
            <a:avLst/>
          </a:prstGeom>
          <a:noFill/>
        </p:spPr>
        <p:txBody>
          <a:bodyPr wrap="square" anchor="t" lIns="0" rIns="0" tIns="0" bIns="0">
            <a:spAutoFit/>
          </a:bodyPr>
          <a:lstStyle/>
          <a:p>
            <a:pPr algn="l">
              <a:lnSpc>
                <a:spcPct val="115000"/>
              </a:lnSpc>
            </a:pPr>
            <a:r>
              <a:rPr sz="2000" b="1">
                <a:solidFill>
                  <a:srgbClr val="007A9E"/>
                </a:solidFill>
                <a:latin typeface="Arial"/>
              </a:rPr>
              <a:t>2   </a:t>
            </a:r>
            <a:r>
              <a:rPr sz="2000" b="0">
                <a:solidFill>
                  <a:srgbClr val="17161C"/>
                </a:solidFill>
                <a:latin typeface="Arial"/>
              </a:rPr>
              <a:t>Search returns the closest chunks, however far away they are.</a:t>
            </a:r>
          </a:p>
        </p:txBody>
      </p:sp>
      <p:sp>
        <p:nvSpPr>
          <p:cNvPr id="11" name="TextBox 10"/>
          <p:cNvSpPr txBox="1"/>
          <p:nvPr/>
        </p:nvSpPr>
        <p:spPr>
          <a:xfrm>
            <a:off x="1060704" y="8092440"/>
            <a:ext cx="16184880" cy="822960"/>
          </a:xfrm>
          <a:prstGeom prst="rect">
            <a:avLst/>
          </a:prstGeom>
          <a:noFill/>
        </p:spPr>
        <p:txBody>
          <a:bodyPr wrap="square" anchor="t" lIns="0" rIns="0" tIns="0" bIns="0">
            <a:spAutoFit/>
          </a:bodyPr>
          <a:lstStyle/>
          <a:p>
            <a:pPr algn="l">
              <a:lnSpc>
                <a:spcPct val="115000"/>
              </a:lnSpc>
            </a:pPr>
            <a:r>
              <a:rPr sz="2000" b="1">
                <a:solidFill>
                  <a:srgbClr val="007A9E"/>
                </a:solidFill>
                <a:latin typeface="Arial"/>
              </a:rPr>
              <a:t>3   </a:t>
            </a:r>
            <a:r>
              <a:rPr sz="2000" b="0">
                <a:solidFill>
                  <a:srgbClr val="17161C"/>
                </a:solidFill>
                <a:latin typeface="Arial"/>
              </a:rPr>
              <a:t>Qdrant stores one point per chunk: the vector, and a payload with text, file and page.</a:t>
            </a:r>
          </a:p>
        </p:txBody>
      </p:sp>
      <p:sp>
        <p:nvSpPr>
          <p:cNvPr id="12" name="TextBox 11"/>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5A6065"/>
        </a:solidFill>
        <a:effectLst/>
      </p:bgPr>
    </p:bg>
    <p:spTree>
      <p:nvGrpSpPr>
        <p:cNvPr id="1" name=""/>
        <p:cNvGrpSpPr/>
        <p:nvPr/>
      </p:nvGrpSpPr>
      <p:grpSpPr/>
      <p:sp>
        <p:nvSpPr>
          <p:cNvPr id="2" name="TextBox 1"/>
          <p:cNvSpPr txBox="1"/>
          <p:nvPr/>
        </p:nvSpPr>
        <p:spPr>
          <a:xfrm>
            <a:off x="1060704" y="2606040"/>
            <a:ext cx="10972800" cy="457200"/>
          </a:xfrm>
          <a:prstGeom prst="rect">
            <a:avLst/>
          </a:prstGeom>
          <a:noFill/>
        </p:spPr>
        <p:txBody>
          <a:bodyPr wrap="square" anchor="t" lIns="0" rIns="0" tIns="0" bIns="0">
            <a:spAutoFit/>
          </a:bodyPr>
          <a:lstStyle/>
          <a:p>
            <a:pPr algn="l">
              <a:lnSpc>
                <a:spcPct val="115000"/>
              </a:lnSpc>
            </a:pPr>
            <a:r>
              <a:rPr sz="2200" b="1" spc="300">
                <a:solidFill>
                  <a:srgbClr val="FFFFFF"/>
                </a:solidFill>
                <a:latin typeface="Arial"/>
              </a:rPr>
              <a:t/>
            </a:r>
          </a:p>
        </p:txBody>
      </p:sp>
      <p:sp>
        <p:nvSpPr>
          <p:cNvPr id="3" name="TextBox 2"/>
          <p:cNvSpPr txBox="1"/>
          <p:nvPr/>
        </p:nvSpPr>
        <p:spPr>
          <a:xfrm>
            <a:off x="1060704" y="3154680"/>
            <a:ext cx="15544800" cy="2103120"/>
          </a:xfrm>
          <a:prstGeom prst="rect">
            <a:avLst/>
          </a:prstGeom>
          <a:noFill/>
        </p:spPr>
        <p:txBody>
          <a:bodyPr wrap="square" anchor="b" lIns="0" rIns="0" tIns="0" bIns="0">
            <a:spAutoFit/>
          </a:bodyPr>
          <a:lstStyle/>
          <a:p>
            <a:pPr algn="l">
              <a:lnSpc>
                <a:spcPct val="95000"/>
              </a:lnSpc>
            </a:pPr>
            <a:r>
              <a:rPr sz="6000" b="1">
                <a:solidFill>
                  <a:srgbClr val="FFFFFF"/>
                </a:solidFill>
                <a:latin typeface="Arial"/>
              </a:rPr>
              <a:t>BREAK</a:t>
            </a:r>
          </a:p>
        </p:txBody>
      </p:sp>
      <p:sp>
        <p:nvSpPr>
          <p:cNvPr id="4" name="Rectangle 3"/>
          <p:cNvSpPr/>
          <p:nvPr/>
        </p:nvSpPr>
        <p:spPr>
          <a:xfrm>
            <a:off x="1060704" y="5486400"/>
            <a:ext cx="160020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 y="5897880"/>
            <a:ext cx="14630400" cy="548640"/>
          </a:xfrm>
          <a:prstGeom prst="rect">
            <a:avLst/>
          </a:prstGeom>
          <a:noFill/>
        </p:spPr>
        <p:txBody>
          <a:bodyPr wrap="square" anchor="t" lIns="0" rIns="0" tIns="0" bIns="0">
            <a:spAutoFit/>
          </a:bodyPr>
          <a:lstStyle/>
          <a:p>
            <a:pPr algn="l">
              <a:lnSpc>
                <a:spcPct val="115000"/>
              </a:lnSpc>
            </a:pPr>
            <a:r>
              <a:rPr sz="2400" b="0">
                <a:solidFill>
                  <a:srgbClr val="FFFFFF"/>
                </a:solidFill>
                <a:latin typeface="Arial"/>
              </a:rPr>
              <a:t>5 minutes. Behind? Finish notebook 3 now: notebook 4 needs its index.json.</a:t>
            </a:r>
          </a:p>
        </p:txBody>
      </p:sp>
      <p:sp>
        <p:nvSpPr>
          <p:cNvPr id="6" name="Freeform 5"/>
          <p:cNvSpPr/>
          <p:nvPr/>
        </p:nvSpPr>
        <p:spPr>
          <a:xfrm>
            <a:off x="0" y="8229600"/>
            <a:ext cx="4572000" cy="1828800"/>
          </a:xfrm>
          <a:custGeom>
            <a:avLst/>
            <a:gdLst/>
            <a:ahLst/>
            <a:cxnLst/>
            <a:rect l="l" t="t" r="r" b="b"/>
            <a:pathLst>
              <a:path w="5" h="2">
                <a:moveTo>
                  <a:pt x="0" y="0"/>
                </a:moveTo>
                <a:lnTo>
                  <a:pt x="5" y="2"/>
                </a:lnTo>
                <a:lnTo>
                  <a:pt x="0" y="2"/>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go-bmftr.png"/>
          <p:cNvPicPr>
            <a:picLocks noChangeAspect="1"/>
          </p:cNvPicPr>
          <p:nvPr/>
        </p:nvPicPr>
        <p:blipFill>
          <a:blip r:embed="rId2"/>
          <a:stretch>
            <a:fillRect/>
          </a:stretch>
        </p:blipFill>
        <p:spPr>
          <a:xfrm>
            <a:off x="45720" y="8915400"/>
            <a:ext cx="2395728" cy="1599029"/>
          </a:xfrm>
          <a:prstGeom prst="rect">
            <a:avLst/>
          </a:prstGeom>
        </p:spPr>
      </p:pic>
      <p:sp>
        <p:nvSpPr>
          <p:cNvPr id="8" name="TextBox 7"/>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161288" y="5321808"/>
            <a:ext cx="3182112"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HANDS-ON</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RETRIEVAL-AUGMENTED GENERATION</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TextBox 6"/>
          <p:cNvSpPr txBox="1"/>
          <p:nvPr/>
        </p:nvSpPr>
        <p:spPr>
          <a:xfrm>
            <a:off x="1060704" y="1691640"/>
            <a:ext cx="8229600" cy="365760"/>
          </a:xfrm>
          <a:prstGeom prst="rect">
            <a:avLst/>
          </a:prstGeom>
          <a:noFill/>
        </p:spPr>
        <p:txBody>
          <a:bodyPr wrap="square" anchor="t" lIns="0" rIns="0" tIns="0" bIns="0">
            <a:spAutoFit/>
          </a:bodyPr>
          <a:lstStyle/>
          <a:p>
            <a:pPr algn="l">
              <a:lnSpc>
                <a:spcPct val="115000"/>
              </a:lnSpc>
            </a:pPr>
            <a:r>
              <a:rPr sz="1500" b="1" spc="300">
                <a:solidFill>
                  <a:srgbClr val="DD6108"/>
                </a:solidFill>
                <a:latin typeface="Arial"/>
              </a:rPr>
              <a:t>NOTEBOOK 4 · 11 MIN</a:t>
            </a:r>
          </a:p>
        </p:txBody>
      </p:sp>
      <p:sp>
        <p:nvSpPr>
          <p:cNvPr id="8" name="TextBox 7"/>
          <p:cNvSpPr txBox="1"/>
          <p:nvPr/>
        </p:nvSpPr>
        <p:spPr>
          <a:xfrm>
            <a:off x="1060704" y="2331720"/>
            <a:ext cx="7863840" cy="914400"/>
          </a:xfrm>
          <a:prstGeom prst="rect">
            <a:avLst/>
          </a:prstGeom>
          <a:noFill/>
        </p:spPr>
        <p:txBody>
          <a:bodyPr wrap="square" anchor="t" lIns="0" rIns="0" tIns="0" bIns="0">
            <a:spAutoFit/>
          </a:bodyPr>
          <a:lstStyle/>
          <a:p>
            <a:pPr algn="l">
              <a:lnSpc>
                <a:spcPct val="115000"/>
              </a:lnSpc>
            </a:pPr>
            <a:r>
              <a:rPr sz="1700" b="1" spc="300">
                <a:solidFill>
                  <a:srgbClr val="007A9E"/>
                </a:solidFill>
                <a:latin typeface="Arial"/>
              </a:rPr>
              <a:t>RETRIEVE</a:t>
            </a:r>
          </a:p>
          <a:p>
            <a:pPr algn="l">
              <a:lnSpc>
                <a:spcPct val="115000"/>
              </a:lnSpc>
            </a:pPr>
            <a:r>
              <a:rPr sz="2000" b="0">
                <a:solidFill>
                  <a:srgbClr val="17161C"/>
                </a:solidFill>
                <a:latin typeface="Arial"/>
              </a:rPr>
              <a:t>the 5 closest chunks</a:t>
            </a:r>
          </a:p>
        </p:txBody>
      </p:sp>
      <p:sp>
        <p:nvSpPr>
          <p:cNvPr id="9" name="TextBox 8"/>
          <p:cNvSpPr txBox="1"/>
          <p:nvPr/>
        </p:nvSpPr>
        <p:spPr>
          <a:xfrm>
            <a:off x="1060704" y="3291839"/>
            <a:ext cx="7863840" cy="914400"/>
          </a:xfrm>
          <a:prstGeom prst="rect">
            <a:avLst/>
          </a:prstGeom>
          <a:noFill/>
        </p:spPr>
        <p:txBody>
          <a:bodyPr wrap="square" anchor="t" lIns="0" rIns="0" tIns="0" bIns="0">
            <a:spAutoFit/>
          </a:bodyPr>
          <a:lstStyle/>
          <a:p>
            <a:pPr algn="l">
              <a:lnSpc>
                <a:spcPct val="115000"/>
              </a:lnSpc>
            </a:pPr>
            <a:r>
              <a:rPr sz="1700" b="1" spc="300">
                <a:solidFill>
                  <a:srgbClr val="007A9E"/>
                </a:solidFill>
                <a:latin typeface="Arial"/>
              </a:rPr>
              <a:t>AUGMENT</a:t>
            </a:r>
          </a:p>
          <a:p>
            <a:pPr algn="l">
              <a:lnSpc>
                <a:spcPct val="115000"/>
              </a:lnSpc>
            </a:pPr>
            <a:r>
              <a:rPr sz="2000" b="0">
                <a:solidFill>
                  <a:srgbClr val="17161C"/>
                </a:solidFill>
                <a:latin typeface="Arial"/>
              </a:rPr>
              <a:t>the prompt with them, numbered [1] to [5]</a:t>
            </a:r>
          </a:p>
        </p:txBody>
      </p:sp>
      <p:sp>
        <p:nvSpPr>
          <p:cNvPr id="10" name="TextBox 9"/>
          <p:cNvSpPr txBox="1"/>
          <p:nvPr/>
        </p:nvSpPr>
        <p:spPr>
          <a:xfrm>
            <a:off x="1060704" y="4251960"/>
            <a:ext cx="7863840" cy="914400"/>
          </a:xfrm>
          <a:prstGeom prst="rect">
            <a:avLst/>
          </a:prstGeom>
          <a:noFill/>
        </p:spPr>
        <p:txBody>
          <a:bodyPr wrap="square" anchor="t" lIns="0" rIns="0" tIns="0" bIns="0">
            <a:spAutoFit/>
          </a:bodyPr>
          <a:lstStyle/>
          <a:p>
            <a:pPr algn="l">
              <a:lnSpc>
                <a:spcPct val="115000"/>
              </a:lnSpc>
            </a:pPr>
            <a:r>
              <a:rPr sz="1700" b="1" spc="300">
                <a:solidFill>
                  <a:srgbClr val="007A9E"/>
                </a:solidFill>
                <a:latin typeface="Arial"/>
              </a:rPr>
              <a:t>GENERATE</a:t>
            </a:r>
          </a:p>
          <a:p>
            <a:pPr algn="l">
              <a:lnSpc>
                <a:spcPct val="115000"/>
              </a:lnSpc>
            </a:pPr>
            <a:r>
              <a:rPr sz="2000" b="0">
                <a:solidFill>
                  <a:srgbClr val="17161C"/>
                </a:solidFill>
                <a:latin typeface="Arial"/>
              </a:rPr>
              <a:t>the answer, citing those numbers</a:t>
            </a:r>
          </a:p>
        </p:txBody>
      </p:sp>
      <p:sp>
        <p:nvSpPr>
          <p:cNvPr id="11" name="TextBox 10"/>
          <p:cNvSpPr txBox="1"/>
          <p:nvPr/>
        </p:nvSpPr>
        <p:spPr>
          <a:xfrm>
            <a:off x="1060704" y="5257800"/>
            <a:ext cx="7863840" cy="914400"/>
          </a:xfrm>
          <a:prstGeom prst="rect">
            <a:avLst/>
          </a:prstGeom>
          <a:noFill/>
        </p:spPr>
        <p:txBody>
          <a:bodyPr wrap="square" anchor="t" lIns="0" rIns="0" tIns="0" bIns="0">
            <a:spAutoFit/>
          </a:bodyPr>
          <a:lstStyle/>
          <a:p>
            <a:pPr algn="l">
              <a:lnSpc>
                <a:spcPct val="125000"/>
              </a:lnSpc>
            </a:pPr>
            <a:r>
              <a:rPr sz="2000" b="0">
                <a:solidFill>
                  <a:srgbClr val="17161C"/>
                </a:solidFill>
                <a:latin typeface="Arial"/>
              </a:rPr>
              <a:t>Every [n] leads to a chunk, and every chunk remembers its file and page.</a:t>
            </a:r>
          </a:p>
        </p:txBody>
      </p:sp>
      <p:sp>
        <p:nvSpPr>
          <p:cNvPr id="12" name="TextBox 11"/>
          <p:cNvSpPr txBox="1"/>
          <p:nvPr/>
        </p:nvSpPr>
        <p:spPr>
          <a:xfrm>
            <a:off x="1060704" y="6537960"/>
            <a:ext cx="82296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YOUR TURN · + ONLY IF TIME</a:t>
            </a:r>
          </a:p>
        </p:txBody>
      </p:sp>
      <p:sp>
        <p:nvSpPr>
          <p:cNvPr id="13" name="Rectangle 12"/>
          <p:cNvSpPr/>
          <p:nvPr/>
        </p:nvSpPr>
        <p:spPr>
          <a:xfrm>
            <a:off x="1060704" y="6995160"/>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699516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1</a:t>
            </a:r>
          </a:p>
        </p:txBody>
      </p:sp>
      <p:sp>
        <p:nvSpPr>
          <p:cNvPr id="15" name="TextBox 14"/>
          <p:cNvSpPr txBox="1"/>
          <p:nvPr/>
        </p:nvSpPr>
        <p:spPr>
          <a:xfrm>
            <a:off x="1655064" y="7022592"/>
            <a:ext cx="7452360" cy="658368"/>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How much context? 2 chunks instead of 5</a:t>
            </a:r>
          </a:p>
        </p:txBody>
      </p:sp>
      <p:sp>
        <p:nvSpPr>
          <p:cNvPr id="16" name="Rectangle 15"/>
          <p:cNvSpPr/>
          <p:nvPr/>
        </p:nvSpPr>
        <p:spPr>
          <a:xfrm>
            <a:off x="1060704" y="7653528"/>
            <a:ext cx="384048" cy="384048"/>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 y="7653528"/>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a:t>
            </a:r>
          </a:p>
        </p:txBody>
      </p:sp>
      <p:sp>
        <p:nvSpPr>
          <p:cNvPr id="18" name="TextBox 17"/>
          <p:cNvSpPr txBox="1"/>
          <p:nvPr/>
        </p:nvSpPr>
        <p:spPr>
          <a:xfrm>
            <a:off x="1655064" y="7680960"/>
            <a:ext cx="7452360" cy="658368"/>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Bonus: strict or not</a:t>
            </a:r>
          </a:p>
        </p:txBody>
      </p:sp>
      <p:sp>
        <p:nvSpPr>
          <p:cNvPr id="19" name="Rectangle 18"/>
          <p:cNvSpPr/>
          <p:nvPr/>
        </p:nvSpPr>
        <p:spPr>
          <a:xfrm>
            <a:off x="1060704" y="8311896"/>
            <a:ext cx="384048" cy="384048"/>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0704" y="8311896"/>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a:t>
            </a:r>
          </a:p>
        </p:txBody>
      </p:sp>
      <p:sp>
        <p:nvSpPr>
          <p:cNvPr id="21" name="TextBox 20"/>
          <p:cNvSpPr txBox="1"/>
          <p:nvPr/>
        </p:nvSpPr>
        <p:spPr>
          <a:xfrm>
            <a:off x="1655064" y="8339327"/>
            <a:ext cx="7452360" cy="658368"/>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Bonus: show the evidence; follow-up questions</a:t>
            </a:r>
          </a:p>
        </p:txBody>
      </p:sp>
      <p:pic>
        <p:nvPicPr>
          <p:cNvPr id="22" name="Picture 21" descr="rag-prompt.png"/>
          <p:cNvPicPr>
            <a:picLocks noChangeAspect="1"/>
          </p:cNvPicPr>
          <p:nvPr/>
        </p:nvPicPr>
        <p:blipFill>
          <a:blip r:embed="rId4"/>
          <a:stretch>
            <a:fillRect/>
          </a:stretch>
        </p:blipFill>
        <p:spPr>
          <a:xfrm>
            <a:off x="9601200" y="1828800"/>
            <a:ext cx="8229600" cy="3041374"/>
          </a:xfrm>
          <a:prstGeom prst="rect">
            <a:avLst/>
          </a:prstGeom>
        </p:spPr>
      </p:pic>
      <p:sp>
        <p:nvSpPr>
          <p:cNvPr id="23" name="Rounded Rectangle 22"/>
          <p:cNvSpPr/>
          <p:nvPr/>
        </p:nvSpPr>
        <p:spPr>
          <a:xfrm>
            <a:off x="9601200" y="5212080"/>
            <a:ext cx="8229600" cy="2441448"/>
          </a:xfrm>
          <a:prstGeom prst="roundRect">
            <a:avLst>
              <a:gd name="adj" fmla="val 4000"/>
            </a:avLst>
          </a:prstGeom>
          <a:solidFill>
            <a:srgbClr val="F4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21240" y="5440680"/>
            <a:ext cx="7589520" cy="320040"/>
          </a:xfrm>
          <a:prstGeom prst="rect">
            <a:avLst/>
          </a:prstGeom>
          <a:noFill/>
        </p:spPr>
        <p:txBody>
          <a:bodyPr wrap="square" anchor="t" lIns="0" rIns="0" tIns="0" bIns="0">
            <a:spAutoFit/>
          </a:bodyPr>
          <a:lstStyle/>
          <a:p>
            <a:pPr algn="l">
              <a:lnSpc>
                <a:spcPct val="115000"/>
              </a:lnSpc>
            </a:pPr>
            <a:r>
              <a:rPr sz="1300" b="0">
                <a:solidFill>
                  <a:srgbClr val="8B9094"/>
                </a:solidFill>
                <a:latin typeface="Courier New"/>
              </a:rPr>
              <a:t>localhost:8000</a:t>
            </a:r>
          </a:p>
        </p:txBody>
      </p:sp>
      <p:sp>
        <p:nvSpPr>
          <p:cNvPr id="25" name="Rounded Rectangle 24"/>
          <p:cNvSpPr/>
          <p:nvPr/>
        </p:nvSpPr>
        <p:spPr>
          <a:xfrm>
            <a:off x="11375135" y="5989320"/>
            <a:ext cx="6135624" cy="566928"/>
          </a:xfrm>
          <a:prstGeom prst="roundRect">
            <a:avLst/>
          </a:prstGeom>
          <a:solidFill>
            <a:srgbClr val="E2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512296" y="6099048"/>
            <a:ext cx="5861304" cy="384048"/>
          </a:xfrm>
          <a:prstGeom prst="rect">
            <a:avLst/>
          </a:prstGeom>
          <a:noFill/>
        </p:spPr>
        <p:txBody>
          <a:bodyPr wrap="square" anchor="t" lIns="0" rIns="0" tIns="0" bIns="0">
            <a:spAutoFit/>
          </a:bodyPr>
          <a:lstStyle/>
          <a:p>
            <a:pPr algn="l">
              <a:lnSpc>
                <a:spcPct val="115000"/>
              </a:lnSpc>
            </a:pPr>
            <a:r>
              <a:rPr sz="1500" b="0">
                <a:solidFill>
                  <a:srgbClr val="17161C"/>
                </a:solidFill>
                <a:latin typeface="Arial"/>
              </a:rPr>
              <a:t>What were the beads in Kage et al. loaded with?</a:t>
            </a:r>
          </a:p>
        </p:txBody>
      </p:sp>
      <p:sp>
        <p:nvSpPr>
          <p:cNvPr id="27" name="TextBox 26"/>
          <p:cNvSpPr txBox="1"/>
          <p:nvPr/>
        </p:nvSpPr>
        <p:spPr>
          <a:xfrm>
            <a:off x="9921240" y="6784848"/>
            <a:ext cx="7589520" cy="411480"/>
          </a:xfrm>
          <a:prstGeom prst="rect">
            <a:avLst/>
          </a:prstGeom>
          <a:noFill/>
        </p:spPr>
        <p:txBody>
          <a:bodyPr wrap="square" anchor="t" lIns="0" rIns="0" tIns="0" bIns="0">
            <a:spAutoFit/>
          </a:bodyPr>
          <a:lstStyle/>
          <a:p>
            <a:pPr algn="l">
              <a:lnSpc>
                <a:spcPct val="115000"/>
              </a:lnSpc>
            </a:pPr>
            <a:r>
              <a:rPr sz="1500" b="1">
                <a:solidFill>
                  <a:srgbClr val="DD6108"/>
                </a:solidFill>
                <a:latin typeface="Arial"/>
              </a:rPr>
              <a:t>✓ </a:t>
            </a:r>
            <a:r>
              <a:rPr sz="1500" b="0">
                <a:solidFill>
                  <a:srgbClr val="5A6065"/>
                </a:solidFill>
                <a:latin typeface="Arial"/>
              </a:rPr>
              <a:t>The answer cites [1], [2]. Compare it with notebook 1.</a:t>
            </a:r>
          </a:p>
        </p:txBody>
      </p:sp>
      <p:sp>
        <p:nvSpPr>
          <p:cNvPr id="28" name="TextBox 27"/>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5A6065"/>
        </a:solidFill>
        <a:effectLst/>
      </p:bgPr>
    </p:bg>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490471" y="5321808"/>
            <a:ext cx="3840479"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CHECKPOINT</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FFFFFF"/>
                </a:solidFill>
                <a:latin typeface="Arial"/>
              </a:rPr>
              <a:t>WOULD YOU STILL RELY ON IT?</a:t>
            </a:r>
          </a:p>
        </p:txBody>
      </p:sp>
      <p:sp>
        <p:nvSpPr>
          <p:cNvPr id="5" name="Rectangle 4"/>
          <p:cNvSpPr/>
          <p:nvPr/>
        </p:nvSpPr>
        <p:spPr>
          <a:xfrm>
            <a:off x="1060704" y="2103120"/>
            <a:ext cx="950976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286000"/>
            <a:ext cx="8961120" cy="365760"/>
          </a:xfrm>
          <a:prstGeom prst="rect">
            <a:avLst/>
          </a:prstGeom>
          <a:noFill/>
        </p:spPr>
        <p:txBody>
          <a:bodyPr wrap="square" anchor="t" lIns="0" rIns="0" tIns="0" bIns="0">
            <a:spAutoFit/>
          </a:bodyPr>
          <a:lstStyle/>
          <a:p>
            <a:pPr algn="l">
              <a:lnSpc>
                <a:spcPct val="115000"/>
              </a:lnSpc>
            </a:pPr>
            <a:r>
              <a:rPr sz="1400" b="1" spc="200">
                <a:solidFill>
                  <a:srgbClr val="8B9094"/>
                </a:solidFill>
                <a:latin typeface="Arial"/>
              </a:rPr>
              <a:t>THE NOTEBOOK 1 ANSWER, JUDGED IN NOTEBOOK 4 (ONE RUN)</a:t>
            </a:r>
          </a:p>
        </p:txBody>
      </p:sp>
      <p:sp>
        <p:nvSpPr>
          <p:cNvPr id="7" name="TextBox 6"/>
          <p:cNvSpPr txBox="1"/>
          <p:nvPr/>
        </p:nvSpPr>
        <p:spPr>
          <a:xfrm>
            <a:off x="1371600" y="2788920"/>
            <a:ext cx="8961120" cy="5120640"/>
          </a:xfrm>
          <a:prstGeom prst="rect">
            <a:avLst/>
          </a:prstGeom>
          <a:noFill/>
        </p:spPr>
        <p:txBody>
          <a:bodyPr wrap="square" anchor="t" lIns="0" rIns="0" tIns="0" bIns="0">
            <a:spAutoFit/>
          </a:bodyPr>
          <a:lstStyle/>
          <a:p>
            <a:pPr algn="l">
              <a:lnSpc>
                <a:spcPct val="145000"/>
              </a:lnSpc>
            </a:pPr>
            <a:r>
              <a:rPr sz="1800" b="1">
                <a:solidFill>
                  <a:srgbClr val="2F9E62"/>
                </a:solidFill>
                <a:latin typeface="Arial"/>
              </a:rPr>
              <a:t>✓  </a:t>
            </a:r>
            <a:r>
              <a:rPr sz="1800" b="0">
                <a:solidFill>
                  <a:srgbClr val="17161C"/>
                </a:solidFill>
                <a:latin typeface="Arial"/>
              </a:rPr>
              <a:t>The beads were loaded with quantum dots (QDs).</a:t>
            </a:r>
          </a:p>
          <a:p>
            <a:pPr algn="l">
              <a:lnSpc>
                <a:spcPct val="145000"/>
              </a:lnSpc>
            </a:pPr>
            <a:r>
              <a:rPr sz="1800" b="1">
                <a:solidFill>
                  <a:srgbClr val="B1063A"/>
                </a:solidFill>
                <a:latin typeface="Arial"/>
              </a:rPr>
              <a:t>✗  </a:t>
            </a:r>
            <a:r>
              <a:rPr sz="1800" b="0">
                <a:solidFill>
                  <a:srgbClr val="17161C"/>
                </a:solidFill>
                <a:latin typeface="Arial"/>
              </a:rPr>
              <a:t>Three different types of quantum dots, to create distinct lifetime signatures.</a:t>
            </a:r>
          </a:p>
          <a:p>
            <a:pPr algn="l">
              <a:lnSpc>
                <a:spcPct val="145000"/>
              </a:lnSpc>
            </a:pPr>
            <a:r>
              <a:rPr sz="1800" b="1">
                <a:solidFill>
                  <a:srgbClr val="B1063A"/>
                </a:solidFill>
                <a:latin typeface="Arial"/>
              </a:rPr>
              <a:t>✗  </a:t>
            </a:r>
            <a:r>
              <a:rPr sz="1800" b="0">
                <a:solidFill>
                  <a:srgbClr val="17161C"/>
                </a:solidFill>
                <a:latin typeface="Arial"/>
              </a:rPr>
              <a:t>One type had a short lifetime of about 10 ns.</a:t>
            </a:r>
          </a:p>
          <a:p>
            <a:pPr algn="l">
              <a:lnSpc>
                <a:spcPct val="145000"/>
              </a:lnSpc>
            </a:pPr>
            <a:r>
              <a:rPr sz="1800" b="1">
                <a:solidFill>
                  <a:srgbClr val="B1063A"/>
                </a:solidFill>
                <a:latin typeface="Arial"/>
              </a:rPr>
              <a:t>✗  </a:t>
            </a:r>
            <a:r>
              <a:rPr sz="1800" b="0">
                <a:solidFill>
                  <a:srgbClr val="17161C"/>
                </a:solidFill>
                <a:latin typeface="Arial"/>
              </a:rPr>
              <a:t>One type had a medium lifetime of about 25 ns.</a:t>
            </a:r>
          </a:p>
          <a:p>
            <a:pPr algn="l">
              <a:lnSpc>
                <a:spcPct val="145000"/>
              </a:lnSpc>
            </a:pPr>
            <a:r>
              <a:rPr sz="1800" b="1">
                <a:solidFill>
                  <a:srgbClr val="B1063A"/>
                </a:solidFill>
                <a:latin typeface="Arial"/>
              </a:rPr>
              <a:t>✗  </a:t>
            </a:r>
            <a:r>
              <a:rPr sz="1800" b="0">
                <a:solidFill>
                  <a:srgbClr val="17161C"/>
                </a:solidFill>
                <a:latin typeface="Arial"/>
              </a:rPr>
              <a:t>One type had a long lifetime of about 50 ns.</a:t>
            </a:r>
          </a:p>
          <a:p>
            <a:pPr algn="l">
              <a:lnSpc>
                <a:spcPct val="145000"/>
              </a:lnSpc>
            </a:pPr>
            <a:r>
              <a:rPr sz="1800" b="1">
                <a:solidFill>
                  <a:srgbClr val="B1063A"/>
                </a:solidFill>
                <a:latin typeface="Arial"/>
              </a:rPr>
              <a:t>✗  </a:t>
            </a:r>
            <a:r>
              <a:rPr sz="1800" b="0">
                <a:solidFill>
                  <a:srgbClr val="17161C"/>
                </a:solidFill>
                <a:latin typeface="Arial"/>
              </a:rPr>
              <a:t>The beads were used as fiducial markers to correct for drift during imaging.</a:t>
            </a:r>
          </a:p>
        </p:txBody>
      </p:sp>
      <p:sp>
        <p:nvSpPr>
          <p:cNvPr id="8" name="TextBox 7"/>
          <p:cNvSpPr txBox="1"/>
          <p:nvPr/>
        </p:nvSpPr>
        <p:spPr>
          <a:xfrm>
            <a:off x="1371600" y="6172200"/>
            <a:ext cx="8961120" cy="640080"/>
          </a:xfrm>
          <a:prstGeom prst="rect">
            <a:avLst/>
          </a:prstGeom>
          <a:noFill/>
        </p:spPr>
        <p:txBody>
          <a:bodyPr wrap="square" anchor="t" lIns="0" rIns="0" tIns="0" bIns="0">
            <a:spAutoFit/>
          </a:bodyPr>
          <a:lstStyle/>
          <a:p>
            <a:pPr algn="l">
              <a:lnSpc>
                <a:spcPct val="115000"/>
              </a:lnSpc>
            </a:pPr>
            <a:r>
              <a:rPr sz="2000" b="0">
                <a:solidFill>
                  <a:srgbClr val="5A6065"/>
                </a:solidFill>
                <a:latin typeface="Courier New"/>
              </a:rPr>
              <a:t>faithfulness  </a:t>
            </a:r>
            <a:r>
              <a:rPr sz="2600" b="1">
                <a:solidFill>
                  <a:srgbClr val="17161C"/>
                </a:solidFill>
                <a:latin typeface="Courier New"/>
              </a:rPr>
              <a:t>0.17</a:t>
            </a:r>
          </a:p>
        </p:txBody>
      </p:sp>
      <p:sp>
        <p:nvSpPr>
          <p:cNvPr id="9" name="Rectangle 8"/>
          <p:cNvSpPr/>
          <p:nvPr/>
        </p:nvSpPr>
        <p:spPr>
          <a:xfrm>
            <a:off x="10972800" y="2103120"/>
            <a:ext cx="685800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92840" y="2286000"/>
            <a:ext cx="6400800" cy="365760"/>
          </a:xfrm>
          <a:prstGeom prst="rect">
            <a:avLst/>
          </a:prstGeom>
          <a:noFill/>
        </p:spPr>
        <p:txBody>
          <a:bodyPr wrap="square" anchor="t" lIns="0" rIns="0" tIns="0" bIns="0">
            <a:spAutoFit/>
          </a:bodyPr>
          <a:lstStyle/>
          <a:p>
            <a:pPr algn="l">
              <a:lnSpc>
                <a:spcPct val="115000"/>
              </a:lnSpc>
            </a:pPr>
            <a:r>
              <a:rPr sz="1400" b="1" spc="200">
                <a:solidFill>
                  <a:srgbClr val="8B9094"/>
                </a:solidFill>
                <a:latin typeface="Arial"/>
              </a:rPr>
              <a:t>WHAT THE PAPER SAYS · TABLE 1, PAGE 3</a:t>
            </a:r>
          </a:p>
        </p:txBody>
      </p:sp>
      <p:sp>
        <p:nvSpPr>
          <p:cNvPr id="11" name="TextBox 10"/>
          <p:cNvSpPr txBox="1"/>
          <p:nvPr/>
        </p:nvSpPr>
        <p:spPr>
          <a:xfrm>
            <a:off x="11292840" y="2926080"/>
            <a:ext cx="6309360" cy="3840480"/>
          </a:xfrm>
          <a:prstGeom prst="rect">
            <a:avLst/>
          </a:prstGeom>
          <a:noFill/>
        </p:spPr>
        <p:txBody>
          <a:bodyPr wrap="square" anchor="t" lIns="0" rIns="0" tIns="0" bIns="0">
            <a:spAutoFit/>
          </a:bodyPr>
          <a:lstStyle/>
          <a:p>
            <a:pPr algn="l">
              <a:lnSpc>
                <a:spcPct val="120000"/>
              </a:lnSpc>
            </a:pPr>
            <a:r>
              <a:rPr sz="2000" b="0">
                <a:solidFill>
                  <a:srgbClr val="17161C"/>
                </a:solidFill>
                <a:latin typeface="Arial"/>
              </a:rPr>
              <a:t>Organic dyes in PMMA beads</a:t>
            </a:r>
          </a:p>
          <a:p>
            <a:pPr algn="l">
              <a:lnSpc>
                <a:spcPct val="120000"/>
              </a:lnSpc>
            </a:pPr>
            <a:r>
              <a:rPr sz="3000" b="1">
                <a:solidFill>
                  <a:srgbClr val="17161C"/>
                </a:solidFill>
                <a:latin typeface="Arial"/>
              </a:rPr>
              <a:t>1.7 to 7.9 ns</a:t>
            </a:r>
          </a:p>
          <a:p>
            <a:pPr algn="l">
              <a:lnSpc>
                <a:spcPct val="120000"/>
              </a:lnSpc>
            </a:pPr>
            <a:r>
              <a:rPr sz="1000" b="0">
                <a:solidFill>
                  <a:srgbClr val="17161C"/>
                </a:solidFill>
                <a:latin typeface="Arial"/>
              </a:rPr>
              <a:t> </a:t>
            </a:r>
          </a:p>
          <a:p>
            <a:pPr algn="l">
              <a:lnSpc>
                <a:spcPct val="120000"/>
              </a:lnSpc>
            </a:pPr>
            <a:r>
              <a:rPr sz="2000" b="0">
                <a:solidFill>
                  <a:srgbClr val="17161C"/>
                </a:solidFill>
                <a:latin typeface="Arial"/>
              </a:rPr>
              <a:t>Quantum dots in melamine beads</a:t>
            </a:r>
          </a:p>
          <a:p>
            <a:pPr algn="l">
              <a:lnSpc>
                <a:spcPct val="120000"/>
              </a:lnSpc>
            </a:pPr>
            <a:r>
              <a:rPr sz="3000" b="1">
                <a:solidFill>
                  <a:srgbClr val="17161C"/>
                </a:solidFill>
                <a:latin typeface="Arial"/>
              </a:rPr>
              <a:t>22.6 ns</a:t>
            </a:r>
          </a:p>
        </p:txBody>
      </p:sp>
      <p:sp>
        <p:nvSpPr>
          <p:cNvPr id="12" name="Rectangle 11"/>
          <p:cNvSpPr/>
          <p:nvPr/>
        </p:nvSpPr>
        <p:spPr>
          <a:xfrm>
            <a:off x="1060704" y="7315200"/>
            <a:ext cx="16770096" cy="11430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7315200"/>
            <a:ext cx="16276320" cy="1143000"/>
          </a:xfrm>
          <a:prstGeom prst="rect">
            <a:avLst/>
          </a:prstGeom>
          <a:noFill/>
        </p:spPr>
        <p:txBody>
          <a:bodyPr wrap="square" anchor="ctr" lIns="0" rIns="0" tIns="0" bIns="0">
            <a:spAutoFit/>
          </a:bodyPr>
          <a:lstStyle/>
          <a:p>
            <a:pPr algn="l">
              <a:lnSpc>
                <a:spcPct val="115000"/>
              </a:lnSpc>
            </a:pPr>
            <a:r>
              <a:rPr sz="2200" b="1">
                <a:solidFill>
                  <a:srgbClr val="17161C"/>
                </a:solidFill>
                <a:latin typeface="Arial"/>
              </a:rPr>
              <a:t>With RAG you don't read the paper either: </a:t>
            </a:r>
            <a:r>
              <a:rPr sz="2200" b="0">
                <a:solidFill>
                  <a:srgbClr val="17161C"/>
                </a:solidFill>
                <a:latin typeface="Arial"/>
              </a:rPr>
              <a:t>click [1], and page 3 opens.</a:t>
            </a:r>
          </a:p>
        </p:txBody>
      </p:sp>
      <p:sp>
        <p:nvSpPr>
          <p:cNvPr id="14" name="TextBox 13"/>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161288" y="5321808"/>
            <a:ext cx="3182112"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HANDS-ON</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PUTTING IT TOGETHER</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TextBox 6"/>
          <p:cNvSpPr txBox="1"/>
          <p:nvPr/>
        </p:nvSpPr>
        <p:spPr>
          <a:xfrm>
            <a:off x="1060704" y="1691640"/>
            <a:ext cx="8229600" cy="365760"/>
          </a:xfrm>
          <a:prstGeom prst="rect">
            <a:avLst/>
          </a:prstGeom>
          <a:noFill/>
        </p:spPr>
        <p:txBody>
          <a:bodyPr wrap="square" anchor="t" lIns="0" rIns="0" tIns="0" bIns="0">
            <a:spAutoFit/>
          </a:bodyPr>
          <a:lstStyle/>
          <a:p>
            <a:pPr algn="l">
              <a:lnSpc>
                <a:spcPct val="115000"/>
              </a:lnSpc>
            </a:pPr>
            <a:r>
              <a:rPr sz="1500" b="1" spc="300">
                <a:solidFill>
                  <a:srgbClr val="DD6108"/>
                </a:solidFill>
                <a:latin typeface="Arial"/>
              </a:rPr>
              <a:t>NOTEBOOK 5 · 6 MIN</a:t>
            </a:r>
          </a:p>
        </p:txBody>
      </p:sp>
      <p:pic>
        <p:nvPicPr>
          <p:cNvPr id="8" name="Picture 7" descr="overview.png"/>
          <p:cNvPicPr>
            <a:picLocks noChangeAspect="1"/>
          </p:cNvPicPr>
          <p:nvPr/>
        </p:nvPicPr>
        <p:blipFill>
          <a:blip r:embed="rId4"/>
          <a:stretch>
            <a:fillRect/>
          </a:stretch>
        </p:blipFill>
        <p:spPr>
          <a:xfrm>
            <a:off x="1060704" y="2240280"/>
            <a:ext cx="9418320" cy="3326388"/>
          </a:xfrm>
          <a:prstGeom prst="rect">
            <a:avLst/>
          </a:prstGeom>
        </p:spPr>
      </p:pic>
      <p:sp>
        <p:nvSpPr>
          <p:cNvPr id="9" name="TextBox 8"/>
          <p:cNvSpPr txBox="1"/>
          <p:nvPr/>
        </p:nvSpPr>
        <p:spPr>
          <a:xfrm>
            <a:off x="11247120" y="2240280"/>
            <a:ext cx="658368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YOUR TURN · IN THE CHATBOT · + ONLY IF TIME</a:t>
            </a:r>
          </a:p>
        </p:txBody>
      </p:sp>
      <p:sp>
        <p:nvSpPr>
          <p:cNvPr id="10" name="Rectangle 9"/>
          <p:cNvSpPr/>
          <p:nvPr/>
        </p:nvSpPr>
        <p:spPr>
          <a:xfrm>
            <a:off x="11247120" y="2697480"/>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0" y="269748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1</a:t>
            </a:r>
          </a:p>
        </p:txBody>
      </p:sp>
      <p:sp>
        <p:nvSpPr>
          <p:cNvPr id="12" name="TextBox 11"/>
          <p:cNvSpPr txBox="1"/>
          <p:nvPr/>
        </p:nvSpPr>
        <p:spPr>
          <a:xfrm>
            <a:off x="11841480" y="2724912"/>
            <a:ext cx="5989320" cy="114300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Your own document: attach a PDF, ask, check the page and the score</a:t>
            </a:r>
          </a:p>
        </p:txBody>
      </p:sp>
      <p:sp>
        <p:nvSpPr>
          <p:cNvPr id="13" name="Rectangle 12"/>
          <p:cNvSpPr/>
          <p:nvPr/>
        </p:nvSpPr>
        <p:spPr>
          <a:xfrm>
            <a:off x="11247120" y="3840480"/>
            <a:ext cx="384048" cy="384048"/>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247120" y="384048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a:t>
            </a:r>
          </a:p>
        </p:txBody>
      </p:sp>
      <p:sp>
        <p:nvSpPr>
          <p:cNvPr id="15" name="TextBox 14"/>
          <p:cNvSpPr txBox="1"/>
          <p:nvPr/>
        </p:nvSpPr>
        <p:spPr>
          <a:xfrm>
            <a:off x="11841480" y="3867912"/>
            <a:ext cx="5989320" cy="114300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Bonus: chat with this document only</a:t>
            </a:r>
          </a:p>
        </p:txBody>
      </p:sp>
      <p:sp>
        <p:nvSpPr>
          <p:cNvPr id="16" name="TextBox 15"/>
          <p:cNvSpPr txBox="1"/>
          <p:nvPr/>
        </p:nvSpPr>
        <p:spPr>
          <a:xfrm>
            <a:off x="1060704" y="6035040"/>
            <a:ext cx="82296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PIECE · NOTEBOOK</a:t>
            </a:r>
          </a:p>
        </p:txBody>
      </p:sp>
      <p:sp>
        <p:nvSpPr>
          <p:cNvPr id="17" name="Rectangle 16"/>
          <p:cNvSpPr/>
          <p:nvPr/>
        </p:nvSpPr>
        <p:spPr>
          <a:xfrm>
            <a:off x="1060704" y="6492240"/>
            <a:ext cx="3886200" cy="6858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43584" y="6492240"/>
            <a:ext cx="3108960" cy="685800"/>
          </a:xfrm>
          <a:prstGeom prst="rect">
            <a:avLst/>
          </a:prstGeom>
          <a:noFill/>
        </p:spPr>
        <p:txBody>
          <a:bodyPr wrap="square" anchor="ctr" lIns="0" rIns="0" tIns="0" bIns="0">
            <a:spAutoFit/>
          </a:bodyPr>
          <a:lstStyle/>
          <a:p>
            <a:pPr algn="l">
              <a:lnSpc>
                <a:spcPct val="115000"/>
              </a:lnSpc>
            </a:pPr>
            <a:r>
              <a:rPr sz="1600" b="0">
                <a:solidFill>
                  <a:srgbClr val="17161C"/>
                </a:solidFill>
                <a:latin typeface="Arial"/>
              </a:rPr>
              <a:t>Read a PDF with Docling</a:t>
            </a:r>
          </a:p>
        </p:txBody>
      </p:sp>
      <p:sp>
        <p:nvSpPr>
          <p:cNvPr id="19" name="TextBox 18"/>
          <p:cNvSpPr txBox="1"/>
          <p:nvPr/>
        </p:nvSpPr>
        <p:spPr>
          <a:xfrm>
            <a:off x="4306824" y="6492240"/>
            <a:ext cx="457200" cy="685800"/>
          </a:xfrm>
          <a:prstGeom prst="rect">
            <a:avLst/>
          </a:prstGeom>
          <a:noFill/>
        </p:spPr>
        <p:txBody>
          <a:bodyPr wrap="square" anchor="ctr" lIns="0" rIns="0" tIns="0" bIns="0">
            <a:spAutoFit/>
          </a:bodyPr>
          <a:lstStyle/>
          <a:p>
            <a:pPr algn="r">
              <a:lnSpc>
                <a:spcPct val="115000"/>
              </a:lnSpc>
            </a:pPr>
            <a:r>
              <a:rPr sz="2000" b="1">
                <a:solidFill>
                  <a:srgbClr val="DD6108"/>
                </a:solidFill>
                <a:latin typeface="Arial"/>
              </a:rPr>
              <a:t>2</a:t>
            </a:r>
          </a:p>
        </p:txBody>
      </p:sp>
      <p:sp>
        <p:nvSpPr>
          <p:cNvPr id="20" name="Rectangle 19"/>
          <p:cNvSpPr/>
          <p:nvPr/>
        </p:nvSpPr>
        <p:spPr>
          <a:xfrm>
            <a:off x="5129784" y="6492240"/>
            <a:ext cx="3886200" cy="6858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12664" y="6492240"/>
            <a:ext cx="3108960" cy="685800"/>
          </a:xfrm>
          <a:prstGeom prst="rect">
            <a:avLst/>
          </a:prstGeom>
          <a:noFill/>
        </p:spPr>
        <p:txBody>
          <a:bodyPr wrap="square" anchor="ctr" lIns="0" rIns="0" tIns="0" bIns="0">
            <a:spAutoFit/>
          </a:bodyPr>
          <a:lstStyle/>
          <a:p>
            <a:pPr algn="l">
              <a:lnSpc>
                <a:spcPct val="115000"/>
              </a:lnSpc>
            </a:pPr>
            <a:r>
              <a:rPr sz="1600" b="0">
                <a:solidFill>
                  <a:srgbClr val="17161C"/>
                </a:solidFill>
                <a:latin typeface="Arial"/>
              </a:rPr>
              <a:t>Cut into chunks</a:t>
            </a:r>
          </a:p>
        </p:txBody>
      </p:sp>
      <p:sp>
        <p:nvSpPr>
          <p:cNvPr id="22" name="TextBox 21"/>
          <p:cNvSpPr txBox="1"/>
          <p:nvPr/>
        </p:nvSpPr>
        <p:spPr>
          <a:xfrm>
            <a:off x="8375904" y="6492240"/>
            <a:ext cx="457200" cy="685800"/>
          </a:xfrm>
          <a:prstGeom prst="rect">
            <a:avLst/>
          </a:prstGeom>
          <a:noFill/>
        </p:spPr>
        <p:txBody>
          <a:bodyPr wrap="square" anchor="ctr" lIns="0" rIns="0" tIns="0" bIns="0">
            <a:spAutoFit/>
          </a:bodyPr>
          <a:lstStyle/>
          <a:p>
            <a:pPr algn="r">
              <a:lnSpc>
                <a:spcPct val="115000"/>
              </a:lnSpc>
            </a:pPr>
            <a:r>
              <a:rPr sz="2000" b="1">
                <a:solidFill>
                  <a:srgbClr val="DD6108"/>
                </a:solidFill>
                <a:latin typeface="Arial"/>
              </a:rPr>
              <a:t>2</a:t>
            </a:r>
          </a:p>
        </p:txBody>
      </p:sp>
      <p:sp>
        <p:nvSpPr>
          <p:cNvPr id="23" name="Rectangle 22"/>
          <p:cNvSpPr/>
          <p:nvPr/>
        </p:nvSpPr>
        <p:spPr>
          <a:xfrm>
            <a:off x="9198864" y="6492240"/>
            <a:ext cx="3886200" cy="6858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81744" y="6492240"/>
            <a:ext cx="3108960" cy="685800"/>
          </a:xfrm>
          <a:prstGeom prst="rect">
            <a:avLst/>
          </a:prstGeom>
          <a:noFill/>
        </p:spPr>
        <p:txBody>
          <a:bodyPr wrap="square" anchor="ctr" lIns="0" rIns="0" tIns="0" bIns="0">
            <a:spAutoFit/>
          </a:bodyPr>
          <a:lstStyle/>
          <a:p>
            <a:pPr algn="l">
              <a:lnSpc>
                <a:spcPct val="115000"/>
              </a:lnSpc>
            </a:pPr>
            <a:r>
              <a:rPr sz="1600" b="0">
                <a:solidFill>
                  <a:srgbClr val="17161C"/>
                </a:solidFill>
                <a:latin typeface="Arial"/>
              </a:rPr>
              <a:t>Turn text into vectors</a:t>
            </a:r>
          </a:p>
        </p:txBody>
      </p:sp>
      <p:sp>
        <p:nvSpPr>
          <p:cNvPr id="25" name="TextBox 24"/>
          <p:cNvSpPr txBox="1"/>
          <p:nvPr/>
        </p:nvSpPr>
        <p:spPr>
          <a:xfrm>
            <a:off x="12444984" y="6492240"/>
            <a:ext cx="457200" cy="685800"/>
          </a:xfrm>
          <a:prstGeom prst="rect">
            <a:avLst/>
          </a:prstGeom>
          <a:noFill/>
        </p:spPr>
        <p:txBody>
          <a:bodyPr wrap="square" anchor="ctr" lIns="0" rIns="0" tIns="0" bIns="0">
            <a:spAutoFit/>
          </a:bodyPr>
          <a:lstStyle/>
          <a:p>
            <a:pPr algn="r">
              <a:lnSpc>
                <a:spcPct val="115000"/>
              </a:lnSpc>
            </a:pPr>
            <a:r>
              <a:rPr sz="2000" b="1">
                <a:solidFill>
                  <a:srgbClr val="DD6108"/>
                </a:solidFill>
                <a:latin typeface="Arial"/>
              </a:rPr>
              <a:t>3</a:t>
            </a:r>
          </a:p>
        </p:txBody>
      </p:sp>
      <p:sp>
        <p:nvSpPr>
          <p:cNvPr id="26" name="Rectangle 25"/>
          <p:cNvSpPr/>
          <p:nvPr/>
        </p:nvSpPr>
        <p:spPr>
          <a:xfrm>
            <a:off x="13267944" y="6492240"/>
            <a:ext cx="3886200" cy="6858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450824" y="6492240"/>
            <a:ext cx="3108960" cy="685800"/>
          </a:xfrm>
          <a:prstGeom prst="rect">
            <a:avLst/>
          </a:prstGeom>
          <a:noFill/>
        </p:spPr>
        <p:txBody>
          <a:bodyPr wrap="square" anchor="ctr" lIns="0" rIns="0" tIns="0" bIns="0">
            <a:spAutoFit/>
          </a:bodyPr>
          <a:lstStyle/>
          <a:p>
            <a:pPr algn="l">
              <a:lnSpc>
                <a:spcPct val="115000"/>
              </a:lnSpc>
            </a:pPr>
            <a:r>
              <a:rPr sz="1600" b="0">
                <a:solidFill>
                  <a:srgbClr val="17161C"/>
                </a:solidFill>
                <a:latin typeface="Arial"/>
              </a:rPr>
              <a:t>Store and search in Qdrant</a:t>
            </a:r>
          </a:p>
        </p:txBody>
      </p:sp>
      <p:sp>
        <p:nvSpPr>
          <p:cNvPr id="28" name="TextBox 27"/>
          <p:cNvSpPr txBox="1"/>
          <p:nvPr/>
        </p:nvSpPr>
        <p:spPr>
          <a:xfrm>
            <a:off x="16514064" y="6492240"/>
            <a:ext cx="457200" cy="685800"/>
          </a:xfrm>
          <a:prstGeom prst="rect">
            <a:avLst/>
          </a:prstGeom>
          <a:noFill/>
        </p:spPr>
        <p:txBody>
          <a:bodyPr wrap="square" anchor="ctr" lIns="0" rIns="0" tIns="0" bIns="0">
            <a:spAutoFit/>
          </a:bodyPr>
          <a:lstStyle/>
          <a:p>
            <a:pPr algn="r">
              <a:lnSpc>
                <a:spcPct val="115000"/>
              </a:lnSpc>
            </a:pPr>
            <a:r>
              <a:rPr sz="2000" b="1">
                <a:solidFill>
                  <a:srgbClr val="DD6108"/>
                </a:solidFill>
                <a:latin typeface="Arial"/>
              </a:rPr>
              <a:t>3</a:t>
            </a:r>
          </a:p>
        </p:txBody>
      </p:sp>
      <p:sp>
        <p:nvSpPr>
          <p:cNvPr id="29" name="Rectangle 28"/>
          <p:cNvSpPr/>
          <p:nvPr/>
        </p:nvSpPr>
        <p:spPr>
          <a:xfrm>
            <a:off x="1060704" y="7360919"/>
            <a:ext cx="3886200" cy="6858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43584" y="7360919"/>
            <a:ext cx="3108960" cy="685800"/>
          </a:xfrm>
          <a:prstGeom prst="rect">
            <a:avLst/>
          </a:prstGeom>
          <a:noFill/>
        </p:spPr>
        <p:txBody>
          <a:bodyPr wrap="square" anchor="ctr" lIns="0" rIns="0" tIns="0" bIns="0">
            <a:spAutoFit/>
          </a:bodyPr>
          <a:lstStyle/>
          <a:p>
            <a:pPr algn="l">
              <a:lnSpc>
                <a:spcPct val="115000"/>
              </a:lnSpc>
            </a:pPr>
            <a:r>
              <a:rPr sz="1600" b="0">
                <a:solidFill>
                  <a:srgbClr val="17161C"/>
                </a:solidFill>
                <a:latin typeface="Arial"/>
              </a:rPr>
              <a:t>Answer from the chunks</a:t>
            </a:r>
          </a:p>
        </p:txBody>
      </p:sp>
      <p:sp>
        <p:nvSpPr>
          <p:cNvPr id="31" name="TextBox 30"/>
          <p:cNvSpPr txBox="1"/>
          <p:nvPr/>
        </p:nvSpPr>
        <p:spPr>
          <a:xfrm>
            <a:off x="4306824" y="7360919"/>
            <a:ext cx="457200" cy="685800"/>
          </a:xfrm>
          <a:prstGeom prst="rect">
            <a:avLst/>
          </a:prstGeom>
          <a:noFill/>
        </p:spPr>
        <p:txBody>
          <a:bodyPr wrap="square" anchor="ctr" lIns="0" rIns="0" tIns="0" bIns="0">
            <a:spAutoFit/>
          </a:bodyPr>
          <a:lstStyle/>
          <a:p>
            <a:pPr algn="r">
              <a:lnSpc>
                <a:spcPct val="115000"/>
              </a:lnSpc>
            </a:pPr>
            <a:r>
              <a:rPr sz="2000" b="1">
                <a:solidFill>
                  <a:srgbClr val="DD6108"/>
                </a:solidFill>
                <a:latin typeface="Arial"/>
              </a:rPr>
              <a:t>4</a:t>
            </a:r>
          </a:p>
        </p:txBody>
      </p:sp>
      <p:sp>
        <p:nvSpPr>
          <p:cNvPr id="32" name="Rectangle 31"/>
          <p:cNvSpPr/>
          <p:nvPr/>
        </p:nvSpPr>
        <p:spPr>
          <a:xfrm>
            <a:off x="5129784" y="7360919"/>
            <a:ext cx="3886200" cy="6858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12664" y="7360919"/>
            <a:ext cx="3108960" cy="685800"/>
          </a:xfrm>
          <a:prstGeom prst="rect">
            <a:avLst/>
          </a:prstGeom>
          <a:noFill/>
        </p:spPr>
        <p:txBody>
          <a:bodyPr wrap="square" anchor="ctr" lIns="0" rIns="0" tIns="0" bIns="0">
            <a:spAutoFit/>
          </a:bodyPr>
          <a:lstStyle/>
          <a:p>
            <a:pPr algn="l">
              <a:lnSpc>
                <a:spcPct val="115000"/>
              </a:lnSpc>
            </a:pPr>
            <a:r>
              <a:rPr sz="1600" b="0">
                <a:solidFill>
                  <a:srgbClr val="17161C"/>
                </a:solidFill>
                <a:latin typeface="Arial"/>
              </a:rPr>
              <a:t>Cite the page</a:t>
            </a:r>
          </a:p>
        </p:txBody>
      </p:sp>
      <p:sp>
        <p:nvSpPr>
          <p:cNvPr id="34" name="TextBox 33"/>
          <p:cNvSpPr txBox="1"/>
          <p:nvPr/>
        </p:nvSpPr>
        <p:spPr>
          <a:xfrm>
            <a:off x="8375904" y="7360919"/>
            <a:ext cx="457200" cy="685800"/>
          </a:xfrm>
          <a:prstGeom prst="rect">
            <a:avLst/>
          </a:prstGeom>
          <a:noFill/>
        </p:spPr>
        <p:txBody>
          <a:bodyPr wrap="square" anchor="ctr" lIns="0" rIns="0" tIns="0" bIns="0">
            <a:spAutoFit/>
          </a:bodyPr>
          <a:lstStyle/>
          <a:p>
            <a:pPr algn="r">
              <a:lnSpc>
                <a:spcPct val="115000"/>
              </a:lnSpc>
            </a:pPr>
            <a:r>
              <a:rPr sz="2000" b="1">
                <a:solidFill>
                  <a:srgbClr val="DD6108"/>
                </a:solidFill>
                <a:latin typeface="Arial"/>
              </a:rPr>
              <a:t>4</a:t>
            </a:r>
          </a:p>
        </p:txBody>
      </p:sp>
      <p:sp>
        <p:nvSpPr>
          <p:cNvPr id="35" name="Rectangle 34"/>
          <p:cNvSpPr/>
          <p:nvPr/>
        </p:nvSpPr>
        <p:spPr>
          <a:xfrm>
            <a:off x="9198864" y="7360919"/>
            <a:ext cx="3886200" cy="6858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81744" y="7360919"/>
            <a:ext cx="3108960" cy="685800"/>
          </a:xfrm>
          <a:prstGeom prst="rect">
            <a:avLst/>
          </a:prstGeom>
          <a:noFill/>
        </p:spPr>
        <p:txBody>
          <a:bodyPr wrap="square" anchor="ctr" lIns="0" rIns="0" tIns="0" bIns="0">
            <a:spAutoFit/>
          </a:bodyPr>
          <a:lstStyle/>
          <a:p>
            <a:pPr algn="l">
              <a:lnSpc>
                <a:spcPct val="115000"/>
              </a:lnSpc>
            </a:pPr>
            <a:r>
              <a:rPr sz="1600" b="0">
                <a:solidFill>
                  <a:srgbClr val="17161C"/>
                </a:solidFill>
                <a:latin typeface="Arial"/>
              </a:rPr>
              <a:t>Score the answer</a:t>
            </a:r>
          </a:p>
        </p:txBody>
      </p:sp>
      <p:sp>
        <p:nvSpPr>
          <p:cNvPr id="37" name="TextBox 36"/>
          <p:cNvSpPr txBox="1"/>
          <p:nvPr/>
        </p:nvSpPr>
        <p:spPr>
          <a:xfrm>
            <a:off x="12444984" y="7360919"/>
            <a:ext cx="457200" cy="685800"/>
          </a:xfrm>
          <a:prstGeom prst="rect">
            <a:avLst/>
          </a:prstGeom>
          <a:noFill/>
        </p:spPr>
        <p:txBody>
          <a:bodyPr wrap="square" anchor="ctr" lIns="0" rIns="0" tIns="0" bIns="0">
            <a:spAutoFit/>
          </a:bodyPr>
          <a:lstStyle/>
          <a:p>
            <a:pPr algn="r">
              <a:lnSpc>
                <a:spcPct val="115000"/>
              </a:lnSpc>
            </a:pPr>
            <a:r>
              <a:rPr sz="2000" b="1">
                <a:solidFill>
                  <a:srgbClr val="DD6108"/>
                </a:solidFill>
                <a:latin typeface="Arial"/>
              </a:rPr>
              <a:t>4</a:t>
            </a:r>
          </a:p>
        </p:txBody>
      </p:sp>
      <p:sp>
        <p:nvSpPr>
          <p:cNvPr id="38" name="Rectangle 37"/>
          <p:cNvSpPr/>
          <p:nvPr/>
        </p:nvSpPr>
        <p:spPr>
          <a:xfrm>
            <a:off x="13267944" y="7360919"/>
            <a:ext cx="3886200" cy="6858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450824" y="7360919"/>
            <a:ext cx="3108960" cy="685800"/>
          </a:xfrm>
          <a:prstGeom prst="rect">
            <a:avLst/>
          </a:prstGeom>
          <a:noFill/>
        </p:spPr>
        <p:txBody>
          <a:bodyPr wrap="square" anchor="ctr" lIns="0" rIns="0" tIns="0" bIns="0">
            <a:spAutoFit/>
          </a:bodyPr>
          <a:lstStyle/>
          <a:p>
            <a:pPr algn="l">
              <a:lnSpc>
                <a:spcPct val="115000"/>
              </a:lnSpc>
            </a:pPr>
            <a:r>
              <a:rPr sz="1600" b="0">
                <a:solidFill>
                  <a:srgbClr val="17161C"/>
                </a:solidFill>
                <a:latin typeface="Arial"/>
              </a:rPr>
              <a:t>Your own PDF</a:t>
            </a:r>
          </a:p>
        </p:txBody>
      </p:sp>
      <p:sp>
        <p:nvSpPr>
          <p:cNvPr id="40" name="TextBox 39"/>
          <p:cNvSpPr txBox="1"/>
          <p:nvPr/>
        </p:nvSpPr>
        <p:spPr>
          <a:xfrm>
            <a:off x="16514064" y="7360919"/>
            <a:ext cx="457200" cy="685800"/>
          </a:xfrm>
          <a:prstGeom prst="rect">
            <a:avLst/>
          </a:prstGeom>
          <a:noFill/>
        </p:spPr>
        <p:txBody>
          <a:bodyPr wrap="square" anchor="ctr" lIns="0" rIns="0" tIns="0" bIns="0">
            <a:spAutoFit/>
          </a:bodyPr>
          <a:lstStyle/>
          <a:p>
            <a:pPr algn="r">
              <a:lnSpc>
                <a:spcPct val="115000"/>
              </a:lnSpc>
            </a:pPr>
            <a:r>
              <a:rPr sz="2000" b="1">
                <a:solidFill>
                  <a:srgbClr val="DD6108"/>
                </a:solidFill>
                <a:latin typeface="Arial"/>
              </a:rPr>
              <a:t>5</a:t>
            </a:r>
          </a:p>
        </p:txBody>
      </p:sp>
      <p:sp>
        <p:nvSpPr>
          <p:cNvPr id="41" name="TextBox 40"/>
          <p:cNvSpPr txBox="1"/>
          <p:nvPr/>
        </p:nvSpPr>
        <p:spPr>
          <a:xfrm>
            <a:off x="1060704" y="8458200"/>
            <a:ext cx="16184880" cy="457200"/>
          </a:xfrm>
          <a:prstGeom prst="rect">
            <a:avLst/>
          </a:prstGeom>
          <a:noFill/>
        </p:spPr>
        <p:txBody>
          <a:bodyPr wrap="square" anchor="t" lIns="0" rIns="0" tIns="0" bIns="0">
            <a:spAutoFit/>
          </a:bodyPr>
          <a:lstStyle/>
          <a:p>
            <a:pPr algn="l">
              <a:lnSpc>
                <a:spcPct val="115000"/>
              </a:lnSpc>
            </a:pPr>
            <a:r>
              <a:rPr sz="1800" b="1">
                <a:solidFill>
                  <a:srgbClr val="B1063A"/>
                </a:solidFill>
                <a:latin typeface="Arial"/>
              </a:rPr>
              <a:t>Your PDF goes to the AISC gateway in Potsdam. </a:t>
            </a:r>
            <a:r>
              <a:rPr sz="1800" b="0">
                <a:solidFill>
                  <a:srgbClr val="B1063A"/>
                </a:solidFill>
                <a:latin typeface="Arial"/>
              </a:rPr>
              <a:t>Test or public documents only.</a:t>
            </a:r>
          </a:p>
        </p:txBody>
      </p:sp>
      <p:sp>
        <p:nvSpPr>
          <p:cNvPr id="42" name="TextBox 41"/>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161288" y="5321808"/>
            <a:ext cx="3182112"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TRANSFER</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YOUR OWN DOCUMENTS</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Rectangle 6"/>
          <p:cNvSpPr/>
          <p:nvPr/>
        </p:nvSpPr>
        <p:spPr>
          <a:xfrm>
            <a:off x="1060704" y="2194560"/>
            <a:ext cx="7863840" cy="329184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2514600"/>
            <a:ext cx="7132320" cy="45720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QUESTION 1</a:t>
            </a:r>
          </a:p>
        </p:txBody>
      </p:sp>
      <p:sp>
        <p:nvSpPr>
          <p:cNvPr id="9" name="TextBox 8"/>
          <p:cNvSpPr txBox="1"/>
          <p:nvPr/>
        </p:nvSpPr>
        <p:spPr>
          <a:xfrm>
            <a:off x="1463040" y="3063240"/>
            <a:ext cx="7132320" cy="2194560"/>
          </a:xfrm>
          <a:prstGeom prst="rect">
            <a:avLst/>
          </a:prstGeom>
          <a:noFill/>
        </p:spPr>
        <p:txBody>
          <a:bodyPr wrap="square" anchor="t" lIns="0" rIns="0" tIns="0" bIns="0">
            <a:spAutoFit/>
          </a:bodyPr>
          <a:lstStyle/>
          <a:p>
            <a:pPr algn="l">
              <a:lnSpc>
                <a:spcPct val="110000"/>
              </a:lnSpc>
            </a:pPr>
            <a:r>
              <a:rPr sz="3200" b="1">
                <a:solidFill>
                  <a:srgbClr val="17161C"/>
                </a:solidFill>
                <a:latin typeface="Arial"/>
              </a:rPr>
              <a:t>Which documents would you use this for?</a:t>
            </a:r>
          </a:p>
        </p:txBody>
      </p:sp>
      <p:sp>
        <p:nvSpPr>
          <p:cNvPr id="10" name="Rectangle 9"/>
          <p:cNvSpPr/>
          <p:nvPr/>
        </p:nvSpPr>
        <p:spPr>
          <a:xfrm>
            <a:off x="9290304" y="2194560"/>
            <a:ext cx="7863840" cy="329184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0" y="2514600"/>
            <a:ext cx="7132320" cy="45720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QUESTION 2</a:t>
            </a:r>
          </a:p>
        </p:txBody>
      </p:sp>
      <p:sp>
        <p:nvSpPr>
          <p:cNvPr id="12" name="TextBox 11"/>
          <p:cNvSpPr txBox="1"/>
          <p:nvPr/>
        </p:nvSpPr>
        <p:spPr>
          <a:xfrm>
            <a:off x="9692640" y="3063240"/>
            <a:ext cx="7132320" cy="2194560"/>
          </a:xfrm>
          <a:prstGeom prst="rect">
            <a:avLst/>
          </a:prstGeom>
          <a:noFill/>
        </p:spPr>
        <p:txBody>
          <a:bodyPr wrap="square" anchor="t" lIns="0" rIns="0" tIns="0" bIns="0">
            <a:spAutoFit/>
          </a:bodyPr>
          <a:lstStyle/>
          <a:p>
            <a:pPr algn="l">
              <a:lnSpc>
                <a:spcPct val="110000"/>
              </a:lnSpc>
            </a:pPr>
            <a:r>
              <a:rPr sz="3200" b="1">
                <a:solidFill>
                  <a:srgbClr val="17161C"/>
                </a:solidFill>
                <a:latin typeface="Arial"/>
              </a:rPr>
              <a:t>What do you expect to go wrong first, and why?</a:t>
            </a:r>
          </a:p>
        </p:txBody>
      </p:sp>
      <p:sp>
        <p:nvSpPr>
          <p:cNvPr id="13" name="TextBox 12"/>
          <p:cNvSpPr txBox="1"/>
          <p:nvPr/>
        </p:nvSpPr>
        <p:spPr>
          <a:xfrm>
            <a:off x="1060704" y="6080760"/>
            <a:ext cx="16184880" cy="548640"/>
          </a:xfrm>
          <a:prstGeom prst="rect">
            <a:avLst/>
          </a:prstGeom>
          <a:noFill/>
        </p:spPr>
        <p:txBody>
          <a:bodyPr wrap="square" anchor="t" lIns="0" rIns="0" tIns="0" bIns="0">
            <a:spAutoFit/>
          </a:bodyPr>
          <a:lstStyle/>
          <a:p>
            <a:pPr algn="l">
              <a:lnSpc>
                <a:spcPct val="115000"/>
              </a:lnSpc>
            </a:pPr>
            <a:r>
              <a:rPr sz="2400" b="0">
                <a:solidFill>
                  <a:srgbClr val="5A6065"/>
                </a:solidFill>
                <a:latin typeface="Arial"/>
              </a:rPr>
              <a:t>One sentence each, round the room.</a:t>
            </a:r>
          </a:p>
        </p:txBody>
      </p:sp>
      <p:sp>
        <p:nvSpPr>
          <p:cNvPr id="14" name="TextBox 13"/>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161288" y="5321808"/>
            <a:ext cx="3182112"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TRANSFER</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YOUR OWN DOCUMENTS</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Rectangle 6"/>
          <p:cNvSpPr/>
          <p:nvPr/>
        </p:nvSpPr>
        <p:spPr>
          <a:xfrm>
            <a:off x="1060704" y="2194560"/>
            <a:ext cx="7863840" cy="329184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2514600"/>
            <a:ext cx="7132320" cy="45720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QUESTION 1</a:t>
            </a:r>
          </a:p>
        </p:txBody>
      </p:sp>
      <p:sp>
        <p:nvSpPr>
          <p:cNvPr id="9" name="TextBox 8"/>
          <p:cNvSpPr txBox="1"/>
          <p:nvPr/>
        </p:nvSpPr>
        <p:spPr>
          <a:xfrm>
            <a:off x="1463040" y="3063240"/>
            <a:ext cx="7132320" cy="2194560"/>
          </a:xfrm>
          <a:prstGeom prst="rect">
            <a:avLst/>
          </a:prstGeom>
          <a:noFill/>
        </p:spPr>
        <p:txBody>
          <a:bodyPr wrap="square" anchor="t" lIns="0" rIns="0" tIns="0" bIns="0">
            <a:spAutoFit/>
          </a:bodyPr>
          <a:lstStyle/>
          <a:p>
            <a:pPr algn="l">
              <a:lnSpc>
                <a:spcPct val="110000"/>
              </a:lnSpc>
            </a:pPr>
            <a:r>
              <a:rPr sz="3200" b="1">
                <a:solidFill>
                  <a:srgbClr val="17161C"/>
                </a:solidFill>
                <a:latin typeface="Arial"/>
              </a:rPr>
              <a:t>Which documents would you use this for?</a:t>
            </a:r>
          </a:p>
        </p:txBody>
      </p:sp>
      <p:sp>
        <p:nvSpPr>
          <p:cNvPr id="10" name="Rectangle 9"/>
          <p:cNvSpPr/>
          <p:nvPr/>
        </p:nvSpPr>
        <p:spPr>
          <a:xfrm>
            <a:off x="9290304" y="2194560"/>
            <a:ext cx="7863840" cy="329184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0" y="2514600"/>
            <a:ext cx="7132320" cy="45720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QUESTION 2</a:t>
            </a:r>
          </a:p>
        </p:txBody>
      </p:sp>
      <p:sp>
        <p:nvSpPr>
          <p:cNvPr id="12" name="TextBox 11"/>
          <p:cNvSpPr txBox="1"/>
          <p:nvPr/>
        </p:nvSpPr>
        <p:spPr>
          <a:xfrm>
            <a:off x="9692640" y="3063240"/>
            <a:ext cx="7132320" cy="2194560"/>
          </a:xfrm>
          <a:prstGeom prst="rect">
            <a:avLst/>
          </a:prstGeom>
          <a:noFill/>
        </p:spPr>
        <p:txBody>
          <a:bodyPr wrap="square" anchor="t" lIns="0" rIns="0" tIns="0" bIns="0">
            <a:spAutoFit/>
          </a:bodyPr>
          <a:lstStyle/>
          <a:p>
            <a:pPr algn="l">
              <a:lnSpc>
                <a:spcPct val="110000"/>
              </a:lnSpc>
            </a:pPr>
            <a:r>
              <a:rPr sz="3200" b="1">
                <a:solidFill>
                  <a:srgbClr val="17161C"/>
                </a:solidFill>
                <a:latin typeface="Arial"/>
              </a:rPr>
              <a:t>What do you expect to go wrong first, and why?</a:t>
            </a:r>
          </a:p>
        </p:txBody>
      </p:sp>
      <p:sp>
        <p:nvSpPr>
          <p:cNvPr id="13" name="Rectangle 12"/>
          <p:cNvSpPr/>
          <p:nvPr/>
        </p:nvSpPr>
        <p:spPr>
          <a:xfrm>
            <a:off x="1060704" y="5806440"/>
            <a:ext cx="16184880" cy="914400"/>
          </a:xfrm>
          <a:prstGeom prst="rect">
            <a:avLst/>
          </a:prstGeom>
          <a:solidFill>
            <a:srgbClr val="FFFFFF"/>
          </a:solidFill>
          <a:ln w="19050">
            <a:solidFill>
              <a:srgbClr val="D0D3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5806440"/>
            <a:ext cx="3108960" cy="914400"/>
          </a:xfrm>
          <a:prstGeom prst="rect">
            <a:avLst/>
          </a:prstGeom>
          <a:noFill/>
        </p:spPr>
        <p:txBody>
          <a:bodyPr wrap="square" anchor="ctr" lIns="0" rIns="0" tIns="0" bIns="0">
            <a:spAutoFit/>
          </a:bodyPr>
          <a:lstStyle/>
          <a:p>
            <a:pPr algn="l">
              <a:lnSpc>
                <a:spcPct val="115000"/>
              </a:lnSpc>
            </a:pPr>
            <a:r>
              <a:rPr sz="1400" b="1" spc="200">
                <a:solidFill>
                  <a:srgbClr val="8B9094"/>
                </a:solidFill>
                <a:latin typeface="Arial"/>
              </a:rPr>
              <a:t>WHAT OFTEN GOES WRONG</a:t>
            </a:r>
          </a:p>
        </p:txBody>
      </p:sp>
      <p:sp>
        <p:nvSpPr>
          <p:cNvPr id="15" name="TextBox 14"/>
          <p:cNvSpPr txBox="1"/>
          <p:nvPr/>
        </p:nvSpPr>
        <p:spPr>
          <a:xfrm>
            <a:off x="4754880" y="5806440"/>
            <a:ext cx="12252960" cy="914400"/>
          </a:xfrm>
          <a:prstGeom prst="rect">
            <a:avLst/>
          </a:prstGeom>
          <a:noFill/>
        </p:spPr>
        <p:txBody>
          <a:bodyPr wrap="square" anchor="ctr" lIns="0" rIns="0" tIns="0" bIns="0">
            <a:spAutoFit/>
          </a:bodyPr>
          <a:lstStyle/>
          <a:p>
            <a:pPr algn="l">
              <a:lnSpc>
                <a:spcPct val="115000"/>
              </a:lnSpc>
            </a:pPr>
            <a:r>
              <a:rPr sz="2200" b="0">
                <a:solidFill>
                  <a:srgbClr val="17161C"/>
                </a:solidFill>
                <a:latin typeface="Arial"/>
              </a:rPr>
              <a:t>Scanned PDFs  ·  tables  ·  questions across several documents</a:t>
            </a:r>
          </a:p>
        </p:txBody>
      </p:sp>
      <p:sp>
        <p:nvSpPr>
          <p:cNvPr id="16" name="TextBox 15"/>
          <p:cNvSpPr txBox="1"/>
          <p:nvPr/>
        </p:nvSpPr>
        <p:spPr>
          <a:xfrm>
            <a:off x="1060704" y="7086600"/>
            <a:ext cx="155448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BEFORE YOU TRUST AN ANSWER · THE LIST IS AT THE END OF NOTEBOOK 5</a:t>
            </a:r>
          </a:p>
        </p:txBody>
      </p:sp>
      <p:sp>
        <p:nvSpPr>
          <p:cNvPr id="17" name="Rectangle 16"/>
          <p:cNvSpPr/>
          <p:nvPr/>
        </p:nvSpPr>
        <p:spPr>
          <a:xfrm>
            <a:off x="1060704" y="7589520"/>
            <a:ext cx="457200" cy="4572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0704" y="7589520"/>
            <a:ext cx="457200" cy="457200"/>
          </a:xfrm>
          <a:prstGeom prst="rect">
            <a:avLst/>
          </a:prstGeom>
          <a:noFill/>
        </p:spPr>
        <p:txBody>
          <a:bodyPr wrap="square" anchor="ctr" lIns="0" rIns="0" tIns="0" bIns="0">
            <a:spAutoFit/>
          </a:bodyPr>
          <a:lstStyle/>
          <a:p>
            <a:pPr algn="ctr">
              <a:lnSpc>
                <a:spcPct val="115000"/>
              </a:lnSpc>
            </a:pPr>
            <a:r>
              <a:rPr sz="1700" b="1">
                <a:solidFill>
                  <a:srgbClr val="17161C"/>
                </a:solidFill>
                <a:latin typeface="Arial"/>
              </a:rPr>
              <a:t>1</a:t>
            </a:r>
          </a:p>
        </p:txBody>
      </p:sp>
      <p:sp>
        <p:nvSpPr>
          <p:cNvPr id="19" name="TextBox 18"/>
          <p:cNvSpPr txBox="1"/>
          <p:nvPr/>
        </p:nvSpPr>
        <p:spPr>
          <a:xfrm>
            <a:off x="1700784" y="7498080"/>
            <a:ext cx="4663440" cy="640080"/>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Click the source</a:t>
            </a:r>
          </a:p>
        </p:txBody>
      </p:sp>
      <p:sp>
        <p:nvSpPr>
          <p:cNvPr id="20" name="Rectangle 19"/>
          <p:cNvSpPr/>
          <p:nvPr/>
        </p:nvSpPr>
        <p:spPr>
          <a:xfrm>
            <a:off x="6501384" y="7589520"/>
            <a:ext cx="457200" cy="4572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1384" y="7589520"/>
            <a:ext cx="457200" cy="457200"/>
          </a:xfrm>
          <a:prstGeom prst="rect">
            <a:avLst/>
          </a:prstGeom>
          <a:noFill/>
        </p:spPr>
        <p:txBody>
          <a:bodyPr wrap="square" anchor="ctr" lIns="0" rIns="0" tIns="0" bIns="0">
            <a:spAutoFit/>
          </a:bodyPr>
          <a:lstStyle/>
          <a:p>
            <a:pPr algn="ctr">
              <a:lnSpc>
                <a:spcPct val="115000"/>
              </a:lnSpc>
            </a:pPr>
            <a:r>
              <a:rPr sz="1700" b="1">
                <a:solidFill>
                  <a:srgbClr val="17161C"/>
                </a:solidFill>
                <a:latin typeface="Arial"/>
              </a:rPr>
              <a:t>2</a:t>
            </a:r>
          </a:p>
        </p:txBody>
      </p:sp>
      <p:sp>
        <p:nvSpPr>
          <p:cNvPr id="22" name="TextBox 21"/>
          <p:cNvSpPr txBox="1"/>
          <p:nvPr/>
        </p:nvSpPr>
        <p:spPr>
          <a:xfrm>
            <a:off x="7141464" y="7498080"/>
            <a:ext cx="4663440" cy="640080"/>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Low score: check the ✗ claims</a:t>
            </a:r>
          </a:p>
        </p:txBody>
      </p:sp>
      <p:sp>
        <p:nvSpPr>
          <p:cNvPr id="23" name="Rectangle 22"/>
          <p:cNvSpPr/>
          <p:nvPr/>
        </p:nvSpPr>
        <p:spPr>
          <a:xfrm>
            <a:off x="11942064" y="7589520"/>
            <a:ext cx="457200" cy="4572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942064" y="7589520"/>
            <a:ext cx="457200" cy="457200"/>
          </a:xfrm>
          <a:prstGeom prst="rect">
            <a:avLst/>
          </a:prstGeom>
          <a:noFill/>
        </p:spPr>
        <p:txBody>
          <a:bodyPr wrap="square" anchor="ctr" lIns="0" rIns="0" tIns="0" bIns="0">
            <a:spAutoFit/>
          </a:bodyPr>
          <a:lstStyle/>
          <a:p>
            <a:pPr algn="ctr">
              <a:lnSpc>
                <a:spcPct val="115000"/>
              </a:lnSpc>
            </a:pPr>
            <a:r>
              <a:rPr sz="1700" b="1">
                <a:solidFill>
                  <a:srgbClr val="17161C"/>
                </a:solidFill>
                <a:latin typeface="Arial"/>
              </a:rPr>
              <a:t>3</a:t>
            </a:r>
          </a:p>
        </p:txBody>
      </p:sp>
      <p:sp>
        <p:nvSpPr>
          <p:cNvPr id="25" name="TextBox 24"/>
          <p:cNvSpPr txBox="1"/>
          <p:nvPr/>
        </p:nvSpPr>
        <p:spPr>
          <a:xfrm>
            <a:off x="12582144" y="7498080"/>
            <a:ext cx="4663440" cy="640080"/>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High score: still check what's missing</a:t>
            </a:r>
          </a:p>
        </p:txBody>
      </p:sp>
      <p:sp>
        <p:nvSpPr>
          <p:cNvPr id="26" name="Rectangle 25"/>
          <p:cNvSpPr/>
          <p:nvPr/>
        </p:nvSpPr>
        <p:spPr>
          <a:xfrm>
            <a:off x="1060704" y="8549640"/>
            <a:ext cx="457200" cy="4572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0704" y="8549640"/>
            <a:ext cx="457200" cy="457200"/>
          </a:xfrm>
          <a:prstGeom prst="rect">
            <a:avLst/>
          </a:prstGeom>
          <a:noFill/>
        </p:spPr>
        <p:txBody>
          <a:bodyPr wrap="square" anchor="ctr" lIns="0" rIns="0" tIns="0" bIns="0">
            <a:spAutoFit/>
          </a:bodyPr>
          <a:lstStyle/>
          <a:p>
            <a:pPr algn="ctr">
              <a:lnSpc>
                <a:spcPct val="115000"/>
              </a:lnSpc>
            </a:pPr>
            <a:r>
              <a:rPr sz="1700" b="1">
                <a:solidFill>
                  <a:srgbClr val="17161C"/>
                </a:solidFill>
                <a:latin typeface="Arial"/>
              </a:rPr>
              <a:t>4</a:t>
            </a:r>
          </a:p>
        </p:txBody>
      </p:sp>
      <p:sp>
        <p:nvSpPr>
          <p:cNvPr id="28" name="TextBox 27"/>
          <p:cNvSpPr txBox="1"/>
          <p:nvPr/>
        </p:nvSpPr>
        <p:spPr>
          <a:xfrm>
            <a:off x="1700784" y="8458200"/>
            <a:ext cx="4663440" cy="640080"/>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Scanned PDF or tables? Check what went in</a:t>
            </a:r>
          </a:p>
        </p:txBody>
      </p:sp>
      <p:sp>
        <p:nvSpPr>
          <p:cNvPr id="29" name="Rectangle 28"/>
          <p:cNvSpPr/>
          <p:nvPr/>
        </p:nvSpPr>
        <p:spPr>
          <a:xfrm>
            <a:off x="6501384" y="8549640"/>
            <a:ext cx="457200" cy="4572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01384" y="8549640"/>
            <a:ext cx="457200" cy="457200"/>
          </a:xfrm>
          <a:prstGeom prst="rect">
            <a:avLst/>
          </a:prstGeom>
          <a:noFill/>
        </p:spPr>
        <p:txBody>
          <a:bodyPr wrap="square" anchor="ctr" lIns="0" rIns="0" tIns="0" bIns="0">
            <a:spAutoFit/>
          </a:bodyPr>
          <a:lstStyle/>
          <a:p>
            <a:pPr algn="ctr">
              <a:lnSpc>
                <a:spcPct val="115000"/>
              </a:lnSpc>
            </a:pPr>
            <a:r>
              <a:rPr sz="1700" b="1">
                <a:solidFill>
                  <a:srgbClr val="17161C"/>
                </a:solidFill>
                <a:latin typeface="Arial"/>
              </a:rPr>
              <a:t>5</a:t>
            </a:r>
          </a:p>
        </p:txBody>
      </p:sp>
      <p:sp>
        <p:nvSpPr>
          <p:cNvPr id="31" name="TextBox 30"/>
          <p:cNvSpPr txBox="1"/>
          <p:nvPr/>
        </p:nvSpPr>
        <p:spPr>
          <a:xfrm>
            <a:off x="7141464" y="8458200"/>
            <a:ext cx="4663440" cy="640080"/>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Several documents? Search may miss one</a:t>
            </a:r>
          </a:p>
        </p:txBody>
      </p:sp>
      <p:sp>
        <p:nvSpPr>
          <p:cNvPr id="32" name="Rectangle 31"/>
          <p:cNvSpPr/>
          <p:nvPr/>
        </p:nvSpPr>
        <p:spPr>
          <a:xfrm>
            <a:off x="11942064" y="8549640"/>
            <a:ext cx="457200" cy="4572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942064" y="8549640"/>
            <a:ext cx="457200" cy="457200"/>
          </a:xfrm>
          <a:prstGeom prst="rect">
            <a:avLst/>
          </a:prstGeom>
          <a:noFill/>
        </p:spPr>
        <p:txBody>
          <a:bodyPr wrap="square" anchor="ctr" lIns="0" rIns="0" tIns="0" bIns="0">
            <a:spAutoFit/>
          </a:bodyPr>
          <a:lstStyle/>
          <a:p>
            <a:pPr algn="ctr">
              <a:lnSpc>
                <a:spcPct val="115000"/>
              </a:lnSpc>
            </a:pPr>
            <a:r>
              <a:rPr sz="1700" b="1">
                <a:solidFill>
                  <a:srgbClr val="17161C"/>
                </a:solidFill>
                <a:latin typeface="Arial"/>
              </a:rPr>
              <a:t>6</a:t>
            </a:r>
          </a:p>
        </p:txBody>
      </p:sp>
      <p:sp>
        <p:nvSpPr>
          <p:cNvPr id="34" name="TextBox 33"/>
          <p:cNvSpPr txBox="1"/>
          <p:nvPr/>
        </p:nvSpPr>
        <p:spPr>
          <a:xfrm>
            <a:off x="12582144" y="8458200"/>
            <a:ext cx="4663440" cy="640080"/>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Costly if wrong? Keep "say you don't know"</a:t>
            </a:r>
          </a:p>
        </p:txBody>
      </p:sp>
      <p:sp>
        <p:nvSpPr>
          <p:cNvPr id="35" name="TextBox 34"/>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490471" y="5321808"/>
            <a:ext cx="3840479"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NEXT STEPS</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WHERE TO TAKE THIS</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Rectangle 6"/>
          <p:cNvSpPr/>
          <p:nvPr/>
        </p:nvSpPr>
        <p:spPr>
          <a:xfrm>
            <a:off x="1060704" y="1965960"/>
            <a:ext cx="16184880" cy="749808"/>
          </a:xfrm>
          <a:prstGeom prst="rect">
            <a:avLst/>
          </a:pr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1965960"/>
            <a:ext cx="6217920" cy="749808"/>
          </a:xfrm>
          <a:prstGeom prst="rect">
            <a:avLst/>
          </a:prstGeom>
          <a:noFill/>
        </p:spPr>
        <p:txBody>
          <a:bodyPr wrap="square" anchor="ctr" lIns="0" rIns="0" tIns="0" bIns="0">
            <a:spAutoFit/>
          </a:bodyPr>
          <a:lstStyle/>
          <a:p>
            <a:pPr algn="l">
              <a:lnSpc>
                <a:spcPct val="115000"/>
              </a:lnSpc>
            </a:pPr>
            <a:r>
              <a:rPr sz="1800" b="1">
                <a:solidFill>
                  <a:srgbClr val="FFFFFF"/>
                </a:solidFill>
                <a:latin typeface="Arial"/>
              </a:rPr>
              <a:t>Today</a:t>
            </a:r>
          </a:p>
        </p:txBody>
      </p:sp>
      <p:sp>
        <p:nvSpPr>
          <p:cNvPr id="9" name="TextBox 8"/>
          <p:cNvSpPr txBox="1"/>
          <p:nvPr/>
        </p:nvSpPr>
        <p:spPr>
          <a:xfrm>
            <a:off x="7863840" y="1965960"/>
            <a:ext cx="9235440" cy="749808"/>
          </a:xfrm>
          <a:prstGeom prst="rect">
            <a:avLst/>
          </a:prstGeom>
          <a:noFill/>
        </p:spPr>
        <p:txBody>
          <a:bodyPr wrap="square" anchor="ctr" lIns="0" rIns="0" tIns="0" bIns="0">
            <a:spAutoFit/>
          </a:bodyPr>
          <a:lstStyle/>
          <a:p>
            <a:pPr algn="l">
              <a:lnSpc>
                <a:spcPct val="115000"/>
              </a:lnSpc>
            </a:pPr>
            <a:r>
              <a:rPr sz="1800" b="1">
                <a:solidFill>
                  <a:srgbClr val="FFFFFF"/>
                </a:solidFill>
                <a:latin typeface="Arial"/>
              </a:rPr>
              <a:t>The template</a:t>
            </a:r>
          </a:p>
        </p:txBody>
      </p:sp>
      <p:sp>
        <p:nvSpPr>
          <p:cNvPr id="10" name="Rectangle 9"/>
          <p:cNvSpPr/>
          <p:nvPr/>
        </p:nvSpPr>
        <p:spPr>
          <a:xfrm>
            <a:off x="1060704" y="2752344"/>
            <a:ext cx="16184880" cy="749808"/>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2752344"/>
            <a:ext cx="6217920" cy="749808"/>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Fixed 1000-character chunks</a:t>
            </a:r>
          </a:p>
        </p:txBody>
      </p:sp>
      <p:sp>
        <p:nvSpPr>
          <p:cNvPr id="12" name="TextBox 11"/>
          <p:cNvSpPr txBox="1"/>
          <p:nvPr/>
        </p:nvSpPr>
        <p:spPr>
          <a:xfrm>
            <a:off x="7863840" y="2752344"/>
            <a:ext cx="9235440" cy="749808"/>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Structure-aware chunkers, chosen per data source</a:t>
            </a:r>
          </a:p>
        </p:txBody>
      </p:sp>
      <p:sp>
        <p:nvSpPr>
          <p:cNvPr id="13" name="Rectangle 12"/>
          <p:cNvSpPr/>
          <p:nvPr/>
        </p:nvSpPr>
        <p:spPr>
          <a:xfrm>
            <a:off x="1060704" y="3538728"/>
            <a:ext cx="1618488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3538728"/>
            <a:ext cx="6217920" cy="749808"/>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Qdrant in memory, rebuilt on every start</a:t>
            </a:r>
          </a:p>
        </p:txBody>
      </p:sp>
      <p:sp>
        <p:nvSpPr>
          <p:cNvPr id="15" name="TextBox 14"/>
          <p:cNvSpPr txBox="1"/>
          <p:nvPr/>
        </p:nvSpPr>
        <p:spPr>
          <a:xfrm>
            <a:off x="7863840" y="3538728"/>
            <a:ext cx="9235440" cy="749808"/>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Qdrant server, ingested once, updated when files change</a:t>
            </a:r>
          </a:p>
        </p:txBody>
      </p:sp>
      <p:sp>
        <p:nvSpPr>
          <p:cNvPr id="16" name="Rectangle 15"/>
          <p:cNvSpPr/>
          <p:nvPr/>
        </p:nvSpPr>
        <p:spPr>
          <a:xfrm>
            <a:off x="1060704" y="4325112"/>
            <a:ext cx="16184880" cy="749808"/>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4325112"/>
            <a:ext cx="6217920" cy="749808"/>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Vector search only</a:t>
            </a:r>
          </a:p>
        </p:txBody>
      </p:sp>
      <p:sp>
        <p:nvSpPr>
          <p:cNvPr id="18" name="TextBox 17"/>
          <p:cNvSpPr txBox="1"/>
          <p:nvPr/>
        </p:nvSpPr>
        <p:spPr>
          <a:xfrm>
            <a:off x="7863840" y="4325112"/>
            <a:ext cx="9235440" cy="749808"/>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Hybrid search: vectors plus keyword matching</a:t>
            </a:r>
          </a:p>
        </p:txBody>
      </p:sp>
      <p:sp>
        <p:nvSpPr>
          <p:cNvPr id="19" name="Rectangle 18"/>
          <p:cNvSpPr/>
          <p:nvPr/>
        </p:nvSpPr>
        <p:spPr>
          <a:xfrm>
            <a:off x="1060704" y="5111496"/>
            <a:ext cx="1618488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5111496"/>
            <a:ext cx="6217920" cy="749808"/>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Faithfulness, one answer at a time</a:t>
            </a:r>
          </a:p>
        </p:txBody>
      </p:sp>
      <p:sp>
        <p:nvSpPr>
          <p:cNvPr id="21" name="TextBox 20"/>
          <p:cNvSpPr txBox="1"/>
          <p:nvPr/>
        </p:nvSpPr>
        <p:spPr>
          <a:xfrm>
            <a:off x="7863840" y="5111496"/>
            <a:ext cx="9235440" cy="749808"/>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An evaluation app that compares setups</a:t>
            </a:r>
          </a:p>
        </p:txBody>
      </p:sp>
      <p:pic>
        <p:nvPicPr>
          <p:cNvPr id="22" name="Picture 21" descr="qr-template.png"/>
          <p:cNvPicPr>
            <a:picLocks noChangeAspect="1"/>
          </p:cNvPicPr>
          <p:nvPr/>
        </p:nvPicPr>
        <p:blipFill>
          <a:blip r:embed="rId4"/>
          <a:stretch>
            <a:fillRect/>
          </a:stretch>
        </p:blipFill>
        <p:spPr>
          <a:xfrm>
            <a:off x="1060704" y="6263640"/>
            <a:ext cx="1737360" cy="1737360"/>
          </a:xfrm>
          <a:prstGeom prst="rect">
            <a:avLst/>
          </a:prstGeom>
        </p:spPr>
      </p:pic>
      <p:sp>
        <p:nvSpPr>
          <p:cNvPr id="23" name="TextBox 22"/>
          <p:cNvSpPr txBox="1"/>
          <p:nvPr/>
        </p:nvSpPr>
        <p:spPr>
          <a:xfrm>
            <a:off x="3026663" y="6400800"/>
            <a:ext cx="3383280" cy="457200"/>
          </a:xfrm>
          <a:prstGeom prst="rect">
            <a:avLst/>
          </a:prstGeom>
          <a:noFill/>
        </p:spPr>
        <p:txBody>
          <a:bodyPr wrap="square" anchor="t" lIns="0" rIns="0" tIns="0" bIns="0">
            <a:spAutoFit/>
          </a:bodyPr>
          <a:lstStyle/>
          <a:p>
            <a:pPr algn="l">
              <a:lnSpc>
                <a:spcPct val="115000"/>
              </a:lnSpc>
            </a:pPr>
            <a:r>
              <a:rPr sz="1900" b="1">
                <a:solidFill>
                  <a:srgbClr val="17161C"/>
                </a:solidFill>
                <a:latin typeface="Arial"/>
              </a:rPr>
              <a:t>The template</a:t>
            </a:r>
          </a:p>
        </p:txBody>
      </p:sp>
      <p:sp>
        <p:nvSpPr>
          <p:cNvPr id="24" name="TextBox 23"/>
          <p:cNvSpPr txBox="1"/>
          <p:nvPr/>
        </p:nvSpPr>
        <p:spPr>
          <a:xfrm>
            <a:off x="3026663" y="6903720"/>
            <a:ext cx="3383280" cy="1188720"/>
          </a:xfrm>
          <a:prstGeom prst="rect">
            <a:avLst/>
          </a:prstGeom>
          <a:noFill/>
        </p:spPr>
        <p:txBody>
          <a:bodyPr wrap="square" anchor="t" lIns="0" rIns="0" tIns="0" bIns="0">
            <a:spAutoFit/>
          </a:bodyPr>
          <a:lstStyle/>
          <a:p>
            <a:pPr algn="l">
              <a:lnSpc>
                <a:spcPct val="120000"/>
              </a:lnSpc>
            </a:pPr>
            <a:r>
              <a:rPr sz="1500" b="0">
                <a:solidFill>
                  <a:srgbClr val="5A6065"/>
                </a:solidFill>
                <a:latin typeface="Arial"/>
              </a:rPr>
              <a:t>aihpi/pilotproject-rag-template on GitHub</a:t>
            </a:r>
          </a:p>
        </p:txBody>
      </p:sp>
      <p:pic>
        <p:nvPicPr>
          <p:cNvPr id="25" name="Picture 24" descr="qr-office-hours.png"/>
          <p:cNvPicPr>
            <a:picLocks noChangeAspect="1"/>
          </p:cNvPicPr>
          <p:nvPr/>
        </p:nvPicPr>
        <p:blipFill>
          <a:blip r:embed="rId5"/>
          <a:stretch>
            <a:fillRect/>
          </a:stretch>
        </p:blipFill>
        <p:spPr>
          <a:xfrm>
            <a:off x="6547104" y="6263640"/>
            <a:ext cx="1737360" cy="1737360"/>
          </a:xfrm>
          <a:prstGeom prst="rect">
            <a:avLst/>
          </a:prstGeom>
        </p:spPr>
      </p:pic>
      <p:sp>
        <p:nvSpPr>
          <p:cNvPr id="26" name="TextBox 25"/>
          <p:cNvSpPr txBox="1"/>
          <p:nvPr/>
        </p:nvSpPr>
        <p:spPr>
          <a:xfrm>
            <a:off x="8513064" y="6400800"/>
            <a:ext cx="3383280" cy="457200"/>
          </a:xfrm>
          <a:prstGeom prst="rect">
            <a:avLst/>
          </a:prstGeom>
          <a:noFill/>
        </p:spPr>
        <p:txBody>
          <a:bodyPr wrap="square" anchor="t" lIns="0" rIns="0" tIns="0" bIns="0">
            <a:spAutoFit/>
          </a:bodyPr>
          <a:lstStyle/>
          <a:p>
            <a:pPr algn="l">
              <a:lnSpc>
                <a:spcPct val="115000"/>
              </a:lnSpc>
            </a:pPr>
            <a:r>
              <a:rPr sz="1900" b="1">
                <a:solidFill>
                  <a:srgbClr val="17161C"/>
                </a:solidFill>
                <a:latin typeface="Arial"/>
              </a:rPr>
              <a:t>Office hours</a:t>
            </a:r>
          </a:p>
        </p:txBody>
      </p:sp>
      <p:sp>
        <p:nvSpPr>
          <p:cNvPr id="27" name="TextBox 26"/>
          <p:cNvSpPr txBox="1"/>
          <p:nvPr/>
        </p:nvSpPr>
        <p:spPr>
          <a:xfrm>
            <a:off x="8513064" y="6903720"/>
            <a:ext cx="3383280" cy="1188720"/>
          </a:xfrm>
          <a:prstGeom prst="rect">
            <a:avLst/>
          </a:prstGeom>
          <a:noFill/>
        </p:spPr>
        <p:txBody>
          <a:bodyPr wrap="square" anchor="t" lIns="0" rIns="0" tIns="0" bIns="0">
            <a:spAutoFit/>
          </a:bodyPr>
          <a:lstStyle/>
          <a:p>
            <a:pPr algn="l">
              <a:lnSpc>
                <a:spcPct val="120000"/>
              </a:lnSpc>
            </a:pPr>
            <a:r>
              <a:rPr sz="1500" b="0">
                <a:solidFill>
                  <a:srgbClr val="5A6065"/>
                </a:solidFill>
                <a:latin typeface="Arial"/>
              </a:rPr>
              <a:t>Stuck on your own collection? Book a slot.</a:t>
            </a:r>
          </a:p>
        </p:txBody>
      </p:sp>
      <p:pic>
        <p:nvPicPr>
          <p:cNvPr id="28" name="Picture 27" descr="qr-apply.png"/>
          <p:cNvPicPr>
            <a:picLocks noChangeAspect="1"/>
          </p:cNvPicPr>
          <p:nvPr/>
        </p:nvPicPr>
        <p:blipFill>
          <a:blip r:embed="rId6"/>
          <a:stretch>
            <a:fillRect/>
          </a:stretch>
        </p:blipFill>
        <p:spPr>
          <a:xfrm>
            <a:off x="12033504" y="6263640"/>
            <a:ext cx="1737360" cy="1737360"/>
          </a:xfrm>
          <a:prstGeom prst="rect">
            <a:avLst/>
          </a:prstGeom>
        </p:spPr>
      </p:pic>
      <p:sp>
        <p:nvSpPr>
          <p:cNvPr id="29" name="TextBox 28"/>
          <p:cNvSpPr txBox="1"/>
          <p:nvPr/>
        </p:nvSpPr>
        <p:spPr>
          <a:xfrm>
            <a:off x="13999464" y="6400800"/>
            <a:ext cx="3383280" cy="457200"/>
          </a:xfrm>
          <a:prstGeom prst="rect">
            <a:avLst/>
          </a:prstGeom>
          <a:noFill/>
        </p:spPr>
        <p:txBody>
          <a:bodyPr wrap="square" anchor="t" lIns="0" rIns="0" tIns="0" bIns="0">
            <a:spAutoFit/>
          </a:bodyPr>
          <a:lstStyle/>
          <a:p>
            <a:pPr algn="l">
              <a:lnSpc>
                <a:spcPct val="115000"/>
              </a:lnSpc>
            </a:pPr>
            <a:r>
              <a:rPr sz="1900" b="1">
                <a:solidFill>
                  <a:srgbClr val="17161C"/>
                </a:solidFill>
                <a:latin typeface="Arial"/>
              </a:rPr>
              <a:t>Pilot projects</a:t>
            </a:r>
          </a:p>
        </p:txBody>
      </p:sp>
      <p:sp>
        <p:nvSpPr>
          <p:cNvPr id="30" name="TextBox 29"/>
          <p:cNvSpPr txBox="1"/>
          <p:nvPr/>
        </p:nvSpPr>
        <p:spPr>
          <a:xfrm>
            <a:off x="13999464" y="6903720"/>
            <a:ext cx="3383280" cy="1188720"/>
          </a:xfrm>
          <a:prstGeom prst="rect">
            <a:avLst/>
          </a:prstGeom>
          <a:noFill/>
        </p:spPr>
        <p:txBody>
          <a:bodyPr wrap="square" anchor="t" lIns="0" rIns="0" tIns="0" bIns="0">
            <a:spAutoFit/>
          </a:bodyPr>
          <a:lstStyle/>
          <a:p>
            <a:pPr algn="l">
              <a:lnSpc>
                <a:spcPct val="120000"/>
              </a:lnSpc>
            </a:pPr>
            <a:r>
              <a:rPr sz="1500" b="0">
                <a:solidFill>
                  <a:srgbClr val="5A6065"/>
                </a:solidFill>
                <a:latin typeface="Arial"/>
              </a:rPr>
              <a:t>Build it with us; applications every three months.</a:t>
            </a:r>
          </a:p>
        </p:txBody>
      </p:sp>
      <p:sp>
        <p:nvSpPr>
          <p:cNvPr id="31" name="TextBox 30"/>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27048" y="1691640"/>
            <a:ext cx="12344400" cy="1097280"/>
          </a:xfrm>
          <a:prstGeom prst="rect">
            <a:avLst/>
          </a:prstGeom>
          <a:noFill/>
        </p:spPr>
        <p:txBody>
          <a:bodyPr wrap="square" anchor="t" lIns="0" rIns="0" tIns="0" bIns="0">
            <a:spAutoFit/>
          </a:bodyPr>
          <a:lstStyle/>
          <a:p>
            <a:pPr algn="l">
              <a:lnSpc>
                <a:spcPct val="115000"/>
              </a:lnSpc>
            </a:pPr>
            <a:r>
              <a:rPr sz="6000" b="1">
                <a:solidFill>
                  <a:srgbClr val="5A6065"/>
                </a:solidFill>
                <a:latin typeface="Arial"/>
              </a:rPr>
              <a:t>YOUR FEEDBACK COUNTS</a:t>
            </a:r>
          </a:p>
        </p:txBody>
      </p:sp>
      <p:sp>
        <p:nvSpPr>
          <p:cNvPr id="3" name="TextBox 2"/>
          <p:cNvSpPr txBox="1"/>
          <p:nvPr/>
        </p:nvSpPr>
        <p:spPr>
          <a:xfrm>
            <a:off x="1527048" y="2834640"/>
            <a:ext cx="8686800" cy="1097280"/>
          </a:xfrm>
          <a:prstGeom prst="rect">
            <a:avLst/>
          </a:prstGeom>
          <a:noFill/>
        </p:spPr>
        <p:txBody>
          <a:bodyPr wrap="square" anchor="t" lIns="0" rIns="0" tIns="0" bIns="0">
            <a:spAutoFit/>
          </a:bodyPr>
          <a:lstStyle/>
          <a:p>
            <a:pPr algn="l">
              <a:lnSpc>
                <a:spcPct val="125000"/>
              </a:lnSpc>
            </a:pPr>
            <a:r>
              <a:rPr sz="2400" b="0">
                <a:solidFill>
                  <a:srgbClr val="17161C"/>
                </a:solidFill>
                <a:latin typeface="Arial"/>
              </a:rPr>
              <a:t>We shape our next workshops around your answers. Two minutes is enough.</a:t>
            </a:r>
          </a:p>
        </p:txBody>
      </p:sp>
      <p:sp>
        <p:nvSpPr>
          <p:cNvPr id="4" name="Rectangle 3"/>
          <p:cNvSpPr/>
          <p:nvPr/>
        </p:nvSpPr>
        <p:spPr>
          <a:xfrm>
            <a:off x="1527048" y="4160520"/>
            <a:ext cx="1143000" cy="73152"/>
          </a:xfrm>
          <a:prstGeom prst="rect">
            <a:avLst/>
          </a:prstGeom>
          <a:solidFill>
            <a:srgbClr val="B10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feedback.png"/>
          <p:cNvPicPr>
            <a:picLocks noChangeAspect="1"/>
          </p:cNvPicPr>
          <p:nvPr/>
        </p:nvPicPr>
        <p:blipFill>
          <a:blip r:embed="rId2"/>
          <a:stretch>
            <a:fillRect/>
          </a:stretch>
        </p:blipFill>
        <p:spPr>
          <a:xfrm>
            <a:off x="1527048" y="4544568"/>
            <a:ext cx="2670048" cy="2680602"/>
          </a:xfrm>
          <a:prstGeom prst="rect">
            <a:avLst/>
          </a:prstGeom>
        </p:spPr>
      </p:pic>
      <p:sp>
        <p:nvSpPr>
          <p:cNvPr id="6" name="TextBox 5"/>
          <p:cNvSpPr txBox="1"/>
          <p:nvPr/>
        </p:nvSpPr>
        <p:spPr>
          <a:xfrm>
            <a:off x="4617720" y="5120640"/>
            <a:ext cx="5486400" cy="2011680"/>
          </a:xfrm>
          <a:prstGeom prst="rect">
            <a:avLst/>
          </a:prstGeom>
          <a:noFill/>
        </p:spPr>
        <p:txBody>
          <a:bodyPr wrap="square" anchor="t" lIns="0" rIns="0" tIns="0" bIns="0">
            <a:spAutoFit/>
          </a:bodyPr>
          <a:lstStyle/>
          <a:p>
            <a:pPr algn="l">
              <a:lnSpc>
                <a:spcPct val="140000"/>
              </a:lnSpc>
            </a:pPr>
            <a:r>
              <a:rPr sz="2200" b="0">
                <a:solidFill>
                  <a:srgbClr val="17161C"/>
                </a:solidFill>
                <a:latin typeface="Arial"/>
                <a:hlinkClick r:id="rId3"/>
              </a:rPr>
              <a:t>kisz@hpi.de</a:t>
            </a:r>
          </a:p>
          <a:p>
            <a:pPr algn="l">
              <a:lnSpc>
                <a:spcPct val="140000"/>
              </a:lnSpc>
            </a:pPr>
            <a:r>
              <a:rPr sz="2200" b="0">
                <a:solidFill>
                  <a:srgbClr val="17161C"/>
                </a:solidFill>
                <a:latin typeface="Arial"/>
                <a:hlinkClick r:id="rId4"/>
              </a:rPr>
              <a:t>hpi.de/kisz</a:t>
            </a:r>
          </a:p>
          <a:p>
            <a:pPr algn="l">
              <a:lnSpc>
                <a:spcPct val="140000"/>
              </a:lnSpc>
            </a:pPr>
            <a:r>
              <a:rPr sz="1700" b="0">
                <a:solidFill>
                  <a:srgbClr val="5A6065"/>
                </a:solidFill>
                <a:latin typeface="Arial"/>
              </a:rPr>
              <a:t>Felix Boelter  |  Mario Tormo Romero</a:t>
            </a:r>
          </a:p>
        </p:txBody>
      </p:sp>
      <p:sp>
        <p:nvSpPr>
          <p:cNvPr id="7" name="Rectangle 6"/>
          <p:cNvSpPr/>
          <p:nvPr/>
        </p:nvSpPr>
        <p:spPr>
          <a:xfrm>
            <a:off x="1527048" y="7589520"/>
            <a:ext cx="6766560" cy="18288"/>
          </a:xfrm>
          <a:prstGeom prst="rect">
            <a:avLst/>
          </a:prstGeom>
          <a:solidFill>
            <a:srgbClr val="D0D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27048" y="7772400"/>
            <a:ext cx="7315200" cy="365760"/>
          </a:xfrm>
          <a:prstGeom prst="rect">
            <a:avLst/>
          </a:prstGeom>
          <a:noFill/>
        </p:spPr>
        <p:txBody>
          <a:bodyPr wrap="square" anchor="t" lIns="0" rIns="0" tIns="0" bIns="0">
            <a:spAutoFit/>
          </a:bodyPr>
          <a:lstStyle/>
          <a:p>
            <a:pPr algn="l">
              <a:lnSpc>
                <a:spcPct val="115000"/>
              </a:lnSpc>
            </a:pPr>
            <a:r>
              <a:rPr sz="1500" b="1" spc="300">
                <a:solidFill>
                  <a:srgbClr val="B1063A"/>
                </a:solidFill>
                <a:latin typeface="Arial"/>
              </a:rPr>
              <a:t>KEEP GOING</a:t>
            </a:r>
          </a:p>
        </p:txBody>
      </p:sp>
      <p:sp>
        <p:nvSpPr>
          <p:cNvPr id="9" name="TextBox 8"/>
          <p:cNvSpPr txBox="1"/>
          <p:nvPr/>
        </p:nvSpPr>
        <p:spPr>
          <a:xfrm>
            <a:off x="1527048" y="8183879"/>
            <a:ext cx="7772400" cy="914400"/>
          </a:xfrm>
          <a:prstGeom prst="rect">
            <a:avLst/>
          </a:prstGeom>
          <a:noFill/>
        </p:spPr>
        <p:txBody>
          <a:bodyPr wrap="square" anchor="t" lIns="0" rIns="0" tIns="0" bIns="0">
            <a:spAutoFit/>
          </a:bodyPr>
          <a:lstStyle/>
          <a:p>
            <a:pPr algn="l">
              <a:lnSpc>
                <a:spcPct val="130000"/>
              </a:lnSpc>
            </a:pPr>
            <a:r>
              <a:rPr sz="1500" b="0">
                <a:solidFill>
                  <a:srgbClr val="17161C"/>
                </a:solidFill>
                <a:latin typeface="Arial"/>
                <a:hlinkClick r:id="rId5"/>
              </a:rPr>
              <a:t>github.com/aihpi/workshop-rag-basics</a:t>
            </a:r>
            <a:r>
              <a:rPr sz="1500" b="0">
                <a:solidFill>
                  <a:srgbClr val="5A6065"/>
                </a:solidFill>
                <a:latin typeface="Arial"/>
              </a:rPr>
              <a:t>  ·  this workshop</a:t>
            </a:r>
          </a:p>
          <a:p>
            <a:pPr algn="l">
              <a:lnSpc>
                <a:spcPct val="130000"/>
              </a:lnSpc>
            </a:pPr>
            <a:r>
              <a:rPr sz="1500" b="0">
                <a:solidFill>
                  <a:srgbClr val="17161C"/>
                </a:solidFill>
                <a:latin typeface="Arial"/>
                <a:hlinkClick r:id="rId6"/>
              </a:rPr>
              <a:t>github.com/aihpi/pilotproject-rag-template</a:t>
            </a:r>
            <a:r>
              <a:rPr sz="1500" b="0">
                <a:solidFill>
                  <a:srgbClr val="5A6065"/>
                </a:solidFill>
                <a:latin typeface="Arial"/>
              </a:rPr>
              <a:t>  ·  template</a:t>
            </a:r>
          </a:p>
        </p:txBody>
      </p:sp>
      <p:pic>
        <p:nvPicPr>
          <p:cNvPr id="10" name="Picture 9" descr="logo-kisz.png"/>
          <p:cNvPicPr>
            <a:picLocks noChangeAspect="1"/>
          </p:cNvPicPr>
          <p:nvPr/>
        </p:nvPicPr>
        <p:blipFill>
          <a:blip r:embed="rId7"/>
          <a:stretch>
            <a:fillRect/>
          </a:stretch>
        </p:blipFill>
        <p:spPr>
          <a:xfrm>
            <a:off x="15041880" y="676656"/>
            <a:ext cx="2560320" cy="905528"/>
          </a:xfrm>
          <a:prstGeom prst="rect">
            <a:avLst/>
          </a:prstGeom>
        </p:spPr>
      </p:pic>
      <p:pic>
        <p:nvPicPr>
          <p:cNvPr id="11" name="Picture 10" descr="logo-bmftr.png"/>
          <p:cNvPicPr>
            <a:picLocks noChangeAspect="1"/>
          </p:cNvPicPr>
          <p:nvPr/>
        </p:nvPicPr>
        <p:blipFill>
          <a:blip r:embed="rId8"/>
          <a:stretch>
            <a:fillRect/>
          </a:stretch>
        </p:blipFill>
        <p:spPr>
          <a:xfrm>
            <a:off x="15005304" y="1810512"/>
            <a:ext cx="2560320" cy="1708886"/>
          </a:xfrm>
          <a:prstGeom prst="rect">
            <a:avLst/>
          </a:prstGeom>
        </p:spPr>
      </p:pic>
      <p:pic>
        <p:nvPicPr>
          <p:cNvPr id="12" name="Picture 11" descr="hpi-tagline.png"/>
          <p:cNvPicPr>
            <a:picLocks noChangeAspect="1"/>
          </p:cNvPicPr>
          <p:nvPr/>
        </p:nvPicPr>
        <p:blipFill>
          <a:blip r:embed="rId9"/>
          <a:stretch>
            <a:fillRect/>
          </a:stretch>
        </p:blipFill>
        <p:spPr>
          <a:xfrm>
            <a:off x="694944" y="9354312"/>
            <a:ext cx="2670048" cy="991732"/>
          </a:xfrm>
          <a:prstGeom prst="rect">
            <a:avLst/>
          </a:prstGeom>
        </p:spPr>
      </p:pic>
      <p:pic>
        <p:nvPicPr>
          <p:cNvPr id="13" name="Picture 12" descr="hpi-building.png"/>
          <p:cNvPicPr>
            <a:picLocks noChangeAspect="1"/>
          </p:cNvPicPr>
          <p:nvPr/>
        </p:nvPicPr>
        <p:blipFill>
          <a:blip r:embed="rId10"/>
          <a:stretch>
            <a:fillRect/>
          </a:stretch>
        </p:blipFill>
        <p:spPr>
          <a:xfrm>
            <a:off x="8887968" y="6144768"/>
            <a:ext cx="10716768" cy="4967261"/>
          </a:xfrm>
          <a:prstGeom prst="rect">
            <a:avLst/>
          </a:prstGeom>
        </p:spPr>
      </p:pic>
      <p:sp>
        <p:nvSpPr>
          <p:cNvPr id="14" name="TextBox 13"/>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5A6065"/>
        </a:solidFill>
        <a:effectLst/>
      </p:bgPr>
    </p:bg>
    <p:spTree>
      <p:nvGrpSpPr>
        <p:cNvPr id="1" name=""/>
        <p:cNvGrpSpPr/>
        <p:nvPr/>
      </p:nvGrpSpPr>
      <p:grpSpPr/>
      <p:sp>
        <p:nvSpPr>
          <p:cNvPr id="2" name="TextBox 1"/>
          <p:cNvSpPr txBox="1"/>
          <p:nvPr/>
        </p:nvSpPr>
        <p:spPr>
          <a:xfrm>
            <a:off x="1060704" y="2606040"/>
            <a:ext cx="10972800" cy="457200"/>
          </a:xfrm>
          <a:prstGeom prst="rect">
            <a:avLst/>
          </a:prstGeom>
          <a:noFill/>
        </p:spPr>
        <p:txBody>
          <a:bodyPr wrap="square" anchor="t" lIns="0" rIns="0" tIns="0" bIns="0">
            <a:spAutoFit/>
          </a:bodyPr>
          <a:lstStyle/>
          <a:p>
            <a:pPr algn="l">
              <a:lnSpc>
                <a:spcPct val="115000"/>
              </a:lnSpc>
            </a:pPr>
            <a:r>
              <a:rPr sz="2200" b="1" spc="300">
                <a:solidFill>
                  <a:srgbClr val="FFFFFF"/>
                </a:solidFill>
                <a:latin typeface="Arial"/>
              </a:rPr>
              <a:t/>
            </a:r>
          </a:p>
        </p:txBody>
      </p:sp>
      <p:sp>
        <p:nvSpPr>
          <p:cNvPr id="3" name="TextBox 2"/>
          <p:cNvSpPr txBox="1"/>
          <p:nvPr/>
        </p:nvSpPr>
        <p:spPr>
          <a:xfrm>
            <a:off x="1060704" y="3154680"/>
            <a:ext cx="15544800" cy="2103120"/>
          </a:xfrm>
          <a:prstGeom prst="rect">
            <a:avLst/>
          </a:prstGeom>
          <a:noFill/>
        </p:spPr>
        <p:txBody>
          <a:bodyPr wrap="square" anchor="b" lIns="0" rIns="0" tIns="0" bIns="0">
            <a:spAutoFit/>
          </a:bodyPr>
          <a:lstStyle/>
          <a:p>
            <a:pPr algn="l">
              <a:lnSpc>
                <a:spcPct val="95000"/>
              </a:lnSpc>
            </a:pPr>
            <a:r>
              <a:rPr sz="6000" b="1">
                <a:solidFill>
                  <a:srgbClr val="FFFFFF"/>
                </a:solidFill>
                <a:latin typeface="Arial"/>
              </a:rPr>
              <a:t>APPENDIX</a:t>
            </a:r>
          </a:p>
        </p:txBody>
      </p:sp>
      <p:sp>
        <p:nvSpPr>
          <p:cNvPr id="4" name="Rectangle 3"/>
          <p:cNvSpPr/>
          <p:nvPr/>
        </p:nvSpPr>
        <p:spPr>
          <a:xfrm>
            <a:off x="1060704" y="5486400"/>
            <a:ext cx="160020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 y="5897880"/>
            <a:ext cx="14630400" cy="548640"/>
          </a:xfrm>
          <a:prstGeom prst="rect">
            <a:avLst/>
          </a:prstGeom>
          <a:noFill/>
        </p:spPr>
        <p:txBody>
          <a:bodyPr wrap="square" anchor="t" lIns="0" rIns="0" tIns="0" bIns="0">
            <a:spAutoFit/>
          </a:bodyPr>
          <a:lstStyle/>
          <a:p>
            <a:pPr algn="l">
              <a:lnSpc>
                <a:spcPct val="115000"/>
              </a:lnSpc>
            </a:pPr>
            <a:r>
              <a:rPr sz="2400" b="0">
                <a:solidFill>
                  <a:srgbClr val="FFFFFF"/>
                </a:solidFill>
                <a:latin typeface="Arial"/>
              </a:rPr>
              <a:t>Background for questions. Not part of the main path.</a:t>
            </a:r>
          </a:p>
        </p:txBody>
      </p:sp>
      <p:sp>
        <p:nvSpPr>
          <p:cNvPr id="6" name="Freeform 5"/>
          <p:cNvSpPr/>
          <p:nvPr/>
        </p:nvSpPr>
        <p:spPr>
          <a:xfrm>
            <a:off x="0" y="8229600"/>
            <a:ext cx="4572000" cy="1828800"/>
          </a:xfrm>
          <a:custGeom>
            <a:avLst/>
            <a:gdLst/>
            <a:ahLst/>
            <a:cxnLst/>
            <a:rect l="l" t="t" r="r" b="b"/>
            <a:pathLst>
              <a:path w="5" h="2">
                <a:moveTo>
                  <a:pt x="0" y="0"/>
                </a:moveTo>
                <a:lnTo>
                  <a:pt x="5" y="2"/>
                </a:lnTo>
                <a:lnTo>
                  <a:pt x="0" y="2"/>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go-bmftr.png"/>
          <p:cNvPicPr>
            <a:picLocks noChangeAspect="1"/>
          </p:cNvPicPr>
          <p:nvPr/>
        </p:nvPicPr>
        <p:blipFill>
          <a:blip r:embed="rId2"/>
          <a:stretch>
            <a:fillRect/>
          </a:stretch>
        </p:blipFill>
        <p:spPr>
          <a:xfrm>
            <a:off x="45720" y="8915400"/>
            <a:ext cx="2395728" cy="1599029"/>
          </a:xfrm>
          <a:prstGeom prst="rect">
            <a:avLst/>
          </a:prstGeom>
        </p:spPr>
      </p:pic>
      <p:sp>
        <p:nvSpPr>
          <p:cNvPr id="8" name="TextBox 7"/>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655063" y="5321808"/>
            <a:ext cx="4169663"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IN PRACTICE</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RAG IN PRACTICE</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pic>
        <p:nvPicPr>
          <p:cNvPr id="7" name="Picture 6" descr="screenshot-sentra.png"/>
          <p:cNvPicPr>
            <a:picLocks noChangeAspect="1"/>
          </p:cNvPicPr>
          <p:nvPr/>
        </p:nvPicPr>
        <p:blipFill>
          <a:blip r:embed="rId4"/>
          <a:stretch>
            <a:fillRect/>
          </a:stretch>
        </p:blipFill>
        <p:spPr>
          <a:xfrm>
            <a:off x="1060704" y="2011680"/>
            <a:ext cx="5292852" cy="4206240"/>
          </a:xfrm>
          <a:prstGeom prst="rect">
            <a:avLst/>
          </a:prstGeom>
        </p:spPr>
      </p:pic>
      <p:sp>
        <p:nvSpPr>
          <p:cNvPr id="8" name="TextBox 7"/>
          <p:cNvSpPr txBox="1"/>
          <p:nvPr/>
        </p:nvSpPr>
        <p:spPr>
          <a:xfrm>
            <a:off x="1060704" y="6446520"/>
            <a:ext cx="7955279" cy="457200"/>
          </a:xfrm>
          <a:prstGeom prst="rect">
            <a:avLst/>
          </a:prstGeom>
          <a:noFill/>
        </p:spPr>
        <p:txBody>
          <a:bodyPr wrap="square" anchor="t" lIns="0" rIns="0" tIns="0" bIns="0">
            <a:spAutoFit/>
          </a:bodyPr>
          <a:lstStyle/>
          <a:p>
            <a:pPr algn="l">
              <a:lnSpc>
                <a:spcPct val="115000"/>
              </a:lnSpc>
            </a:pPr>
            <a:r>
              <a:rPr sz="2400" b="1">
                <a:solidFill>
                  <a:srgbClr val="17161C"/>
                </a:solidFill>
                <a:latin typeface="Arial"/>
              </a:rPr>
              <a:t>SENTRA</a:t>
            </a:r>
          </a:p>
        </p:txBody>
      </p:sp>
      <p:sp>
        <p:nvSpPr>
          <p:cNvPr id="9" name="TextBox 8"/>
          <p:cNvSpPr txBox="1"/>
          <p:nvPr/>
        </p:nvSpPr>
        <p:spPr>
          <a:xfrm>
            <a:off x="1060704" y="6949440"/>
            <a:ext cx="7772400" cy="1188720"/>
          </a:xfrm>
          <a:prstGeom prst="rect">
            <a:avLst/>
          </a:prstGeom>
          <a:noFill/>
        </p:spPr>
        <p:txBody>
          <a:bodyPr wrap="square" anchor="t" lIns="0" rIns="0" tIns="0" bIns="0">
            <a:spAutoFit/>
          </a:bodyPr>
          <a:lstStyle/>
          <a:p>
            <a:pPr algn="l">
              <a:lnSpc>
                <a:spcPct val="125000"/>
              </a:lnSpc>
            </a:pPr>
            <a:r>
              <a:rPr sz="1800" b="0">
                <a:solidFill>
                  <a:srgbClr val="17161C"/>
                </a:solidFill>
                <a:latin typeface="Arial"/>
              </a:rPr>
              <a:t>Research Services of the German Bundestag: semantic search across expert reports, an AI summary, every statement traced to its report.</a:t>
            </a:r>
          </a:p>
        </p:txBody>
      </p:sp>
      <p:sp>
        <p:nvSpPr>
          <p:cNvPr id="10" name="TextBox 9"/>
          <p:cNvSpPr txBox="1"/>
          <p:nvPr/>
        </p:nvSpPr>
        <p:spPr>
          <a:xfrm>
            <a:off x="1060704" y="8183879"/>
            <a:ext cx="7955279" cy="365760"/>
          </a:xfrm>
          <a:prstGeom prst="rect">
            <a:avLst/>
          </a:prstGeom>
          <a:noFill/>
        </p:spPr>
        <p:txBody>
          <a:bodyPr wrap="square" anchor="t" lIns="0" rIns="0" tIns="0" bIns="0">
            <a:spAutoFit/>
          </a:bodyPr>
          <a:lstStyle/>
          <a:p>
            <a:pPr algn="l">
              <a:lnSpc>
                <a:spcPct val="115000"/>
              </a:lnSpc>
            </a:pPr>
            <a:r>
              <a:rPr sz="1500" b="0">
                <a:solidFill>
                  <a:srgbClr val="DC640D"/>
                </a:solidFill>
                <a:latin typeface="Courier New"/>
              </a:rPr>
              <a:t>github.com/aihpi/pilotproject-sentra</a:t>
            </a:r>
          </a:p>
        </p:txBody>
      </p:sp>
      <p:pic>
        <p:nvPicPr>
          <p:cNvPr id="11" name="Picture 10" descr="screenshot-grundschutzki.png"/>
          <p:cNvPicPr>
            <a:picLocks noChangeAspect="1"/>
          </p:cNvPicPr>
          <p:nvPr/>
        </p:nvPicPr>
        <p:blipFill>
          <a:blip r:embed="rId5"/>
          <a:stretch>
            <a:fillRect/>
          </a:stretch>
        </p:blipFill>
        <p:spPr>
          <a:xfrm>
            <a:off x="9610344" y="2011680"/>
            <a:ext cx="7955279" cy="4168185"/>
          </a:xfrm>
          <a:prstGeom prst="rect">
            <a:avLst/>
          </a:prstGeom>
        </p:spPr>
      </p:pic>
      <p:sp>
        <p:nvSpPr>
          <p:cNvPr id="12" name="TextBox 11"/>
          <p:cNvSpPr txBox="1"/>
          <p:nvPr/>
        </p:nvSpPr>
        <p:spPr>
          <a:xfrm>
            <a:off x="9610344" y="6446520"/>
            <a:ext cx="7955279" cy="457200"/>
          </a:xfrm>
          <a:prstGeom prst="rect">
            <a:avLst/>
          </a:prstGeom>
          <a:noFill/>
        </p:spPr>
        <p:txBody>
          <a:bodyPr wrap="square" anchor="t" lIns="0" rIns="0" tIns="0" bIns="0">
            <a:spAutoFit/>
          </a:bodyPr>
          <a:lstStyle/>
          <a:p>
            <a:pPr algn="l">
              <a:lnSpc>
                <a:spcPct val="115000"/>
              </a:lnSpc>
            </a:pPr>
            <a:r>
              <a:rPr sz="2400" b="1">
                <a:solidFill>
                  <a:srgbClr val="17161C"/>
                </a:solidFill>
                <a:latin typeface="Arial"/>
              </a:rPr>
              <a:t>GrundschutzKI</a:t>
            </a:r>
          </a:p>
        </p:txBody>
      </p:sp>
      <p:sp>
        <p:nvSpPr>
          <p:cNvPr id="13" name="TextBox 12"/>
          <p:cNvSpPr txBox="1"/>
          <p:nvPr/>
        </p:nvSpPr>
        <p:spPr>
          <a:xfrm>
            <a:off x="9610344" y="6949440"/>
            <a:ext cx="7772400" cy="1188720"/>
          </a:xfrm>
          <a:prstGeom prst="rect">
            <a:avLst/>
          </a:prstGeom>
          <a:noFill/>
        </p:spPr>
        <p:txBody>
          <a:bodyPr wrap="square" anchor="t" lIns="0" rIns="0" tIns="0" bIns="0">
            <a:spAutoFit/>
          </a:bodyPr>
          <a:lstStyle/>
          <a:p>
            <a:pPr algn="l">
              <a:lnSpc>
                <a:spcPct val="125000"/>
              </a:lnSpc>
            </a:pPr>
            <a:r>
              <a:rPr sz="1800" b="0">
                <a:solidFill>
                  <a:srgbClr val="17161C"/>
                </a:solidFill>
                <a:latin typeface="Arial"/>
              </a:rPr>
              <a:t>IT baseline protection: questions in plain language, a short answer with a jump link, the BSI original open next to it.</a:t>
            </a:r>
          </a:p>
        </p:txBody>
      </p:sp>
      <p:sp>
        <p:nvSpPr>
          <p:cNvPr id="14" name="TextBox 13"/>
          <p:cNvSpPr txBox="1"/>
          <p:nvPr/>
        </p:nvSpPr>
        <p:spPr>
          <a:xfrm>
            <a:off x="9610344" y="8183879"/>
            <a:ext cx="7955279" cy="365760"/>
          </a:xfrm>
          <a:prstGeom prst="rect">
            <a:avLst/>
          </a:prstGeom>
          <a:noFill/>
        </p:spPr>
        <p:txBody>
          <a:bodyPr wrap="square" anchor="t" lIns="0" rIns="0" tIns="0" bIns="0">
            <a:spAutoFit/>
          </a:bodyPr>
          <a:lstStyle/>
          <a:p>
            <a:pPr algn="l">
              <a:lnSpc>
                <a:spcPct val="115000"/>
              </a:lnSpc>
            </a:pPr>
            <a:r>
              <a:rPr sz="1500" b="0">
                <a:solidFill>
                  <a:srgbClr val="DC640D"/>
                </a:solidFill>
                <a:latin typeface="Courier New"/>
              </a:rPr>
              <a:t>github.com/aihpi/pilotprojekt-GrundschutzKI</a:t>
            </a:r>
          </a:p>
        </p:txBody>
      </p:sp>
      <p:sp>
        <p:nvSpPr>
          <p:cNvPr id="15" name="TextBox 14"/>
          <p:cNvSpPr txBox="1"/>
          <p:nvPr/>
        </p:nvSpPr>
        <p:spPr>
          <a:xfrm>
            <a:off x="1060704" y="8961120"/>
            <a:ext cx="16002000" cy="457200"/>
          </a:xfrm>
          <a:prstGeom prst="rect">
            <a:avLst/>
          </a:prstGeom>
          <a:noFill/>
        </p:spPr>
        <p:txBody>
          <a:bodyPr wrap="square" anchor="t" lIns="0" rIns="0" tIns="0" bIns="0">
            <a:spAutoFit/>
          </a:bodyPr>
          <a:lstStyle/>
          <a:p>
            <a:pPr algn="l">
              <a:lnSpc>
                <a:spcPct val="115000"/>
              </a:lnSpc>
            </a:pPr>
            <a:r>
              <a:rPr sz="1900" b="1">
                <a:solidFill>
                  <a:srgbClr val="17161C"/>
                </a:solidFill>
                <a:latin typeface="Arial"/>
              </a:rPr>
              <a:t>Semantic search  ·  an AI summary  ·  sources for transparency.  </a:t>
            </a:r>
            <a:r>
              <a:rPr sz="1900" b="0">
                <a:solidFill>
                  <a:srgbClr val="5A6065"/>
                </a:solidFill>
                <a:latin typeface="Arial"/>
              </a:rPr>
              <a:t>Today you build the same thing, small.</a:t>
            </a:r>
          </a:p>
        </p:txBody>
      </p:sp>
      <p:sp>
        <p:nvSpPr>
          <p:cNvPr id="16" name="TextBox 15"/>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832104" y="5321808"/>
            <a:ext cx="2523744"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BASICS</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FROM DOCUMENT TO CHUNKS</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TextBox 6"/>
          <p:cNvSpPr txBox="1"/>
          <p:nvPr/>
        </p:nvSpPr>
        <p:spPr>
          <a:xfrm>
            <a:off x="1060704" y="1828800"/>
            <a:ext cx="73152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STEP 1 · DOCLING READS THE PAGE</a:t>
            </a:r>
          </a:p>
        </p:txBody>
      </p:sp>
      <p:pic>
        <p:nvPicPr>
          <p:cNvPr id="8" name="Picture 7" descr="docling.png"/>
          <p:cNvPicPr>
            <a:picLocks noChangeAspect="1"/>
          </p:cNvPicPr>
          <p:nvPr/>
        </p:nvPicPr>
        <p:blipFill>
          <a:blip r:embed="rId4"/>
          <a:stretch>
            <a:fillRect/>
          </a:stretch>
        </p:blipFill>
        <p:spPr>
          <a:xfrm>
            <a:off x="1060704" y="2286000"/>
            <a:ext cx="7863840" cy="3298977"/>
          </a:xfrm>
          <a:prstGeom prst="rect">
            <a:avLst/>
          </a:prstGeom>
        </p:spPr>
      </p:pic>
      <p:sp>
        <p:nvSpPr>
          <p:cNvPr id="9" name="TextBox 8"/>
          <p:cNvSpPr txBox="1"/>
          <p:nvPr/>
        </p:nvSpPr>
        <p:spPr>
          <a:xfrm>
            <a:off x="1060704" y="5760720"/>
            <a:ext cx="7680960" cy="1280160"/>
          </a:xfrm>
          <a:prstGeom prst="rect">
            <a:avLst/>
          </a:prstGeom>
          <a:noFill/>
        </p:spPr>
        <p:txBody>
          <a:bodyPr wrap="square" anchor="t" lIns="0" rIns="0" tIns="0" bIns="0">
            <a:spAutoFit/>
          </a:bodyPr>
          <a:lstStyle/>
          <a:p>
            <a:pPr algn="l">
              <a:lnSpc>
                <a:spcPct val="125000"/>
              </a:lnSpc>
            </a:pPr>
            <a:r>
              <a:rPr sz="1800" b="0">
                <a:solidFill>
                  <a:srgbClr val="17161C"/>
                </a:solidFill>
                <a:latin typeface="Arial"/>
              </a:rPr>
              <a:t>A PDF only stores where to draw each letter. Docling finds headings, paragraphs, tables and figures, and writes Markdown.</a:t>
            </a:r>
          </a:p>
        </p:txBody>
      </p:sp>
      <p:sp>
        <p:nvSpPr>
          <p:cNvPr id="10" name="TextBox 9"/>
          <p:cNvSpPr txBox="1"/>
          <p:nvPr/>
        </p:nvSpPr>
        <p:spPr>
          <a:xfrm>
            <a:off x="9601200" y="1828800"/>
            <a:ext cx="73152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STEP 2 · CUT INTO CHUNKS</a:t>
            </a:r>
          </a:p>
        </p:txBody>
      </p:sp>
      <p:pic>
        <p:nvPicPr>
          <p:cNvPr id="11" name="Picture 10" descr="chunking.png"/>
          <p:cNvPicPr>
            <a:picLocks noChangeAspect="1"/>
          </p:cNvPicPr>
          <p:nvPr/>
        </p:nvPicPr>
        <p:blipFill>
          <a:blip r:embed="rId5"/>
          <a:stretch>
            <a:fillRect/>
          </a:stretch>
        </p:blipFill>
        <p:spPr>
          <a:xfrm>
            <a:off x="9601200" y="2286000"/>
            <a:ext cx="7863840" cy="2743200"/>
          </a:xfrm>
          <a:prstGeom prst="rect">
            <a:avLst/>
          </a:prstGeom>
        </p:spPr>
      </p:pic>
      <p:sp>
        <p:nvSpPr>
          <p:cNvPr id="12" name="TextBox 11"/>
          <p:cNvSpPr txBox="1"/>
          <p:nvPr/>
        </p:nvSpPr>
        <p:spPr>
          <a:xfrm>
            <a:off x="9601200" y="5760720"/>
            <a:ext cx="7863840" cy="3657600"/>
          </a:xfrm>
          <a:prstGeom prst="rect">
            <a:avLst/>
          </a:prstGeom>
          <a:noFill/>
        </p:spPr>
        <p:txBody>
          <a:bodyPr wrap="square" anchor="t" lIns="0" rIns="0" tIns="0" bIns="0">
            <a:spAutoFit/>
          </a:bodyPr>
          <a:lstStyle/>
          <a:p>
            <a:pPr algn="l">
              <a:lnSpc>
                <a:spcPct val="125000"/>
              </a:lnSpc>
            </a:pPr>
            <a:r>
              <a:rPr sz="1800" b="1">
                <a:solidFill>
                  <a:srgbClr val="17161C"/>
                </a:solidFill>
                <a:latin typeface="Arial"/>
              </a:rPr>
              <a:t>Our notebook: </a:t>
            </a:r>
            <a:r>
              <a:rPr sz="1800" b="0">
                <a:solidFill>
                  <a:srgbClr val="17161C"/>
                </a:solidFill>
                <a:latin typeface="Arial"/>
              </a:rPr>
              <a:t>every 1000 characters, with 200 overlap. Simple, the same for every document, but it may cut through a table.</a:t>
            </a:r>
          </a:p>
          <a:p>
            <a:pPr algn="l">
              <a:lnSpc>
                <a:spcPct val="125000"/>
              </a:lnSpc>
            </a:pPr>
            <a:r>
              <a:rPr sz="800" b="0">
                <a:solidFill>
                  <a:srgbClr val="17161C"/>
                </a:solidFill>
                <a:latin typeface="Arial"/>
              </a:rPr>
              <a:t> </a:t>
            </a:r>
          </a:p>
          <a:p>
            <a:pPr algn="l">
              <a:lnSpc>
                <a:spcPct val="125000"/>
              </a:lnSpc>
            </a:pPr>
            <a:r>
              <a:rPr sz="1800" b="1">
                <a:solidFill>
                  <a:srgbClr val="17161C"/>
                </a:solidFill>
                <a:latin typeface="Arial"/>
              </a:rPr>
              <a:t>GrundschutzKI: </a:t>
            </a:r>
            <a:r>
              <a:rPr sz="1800" b="0">
                <a:solidFill>
                  <a:srgbClr val="17161C"/>
                </a:solidFill>
                <a:latin typeface="Arial"/>
              </a:rPr>
              <a:t>at every heading, because the BSI standards are clearly structured. A chunk keeps its title. Docling ships several such chunkers.</a:t>
            </a:r>
          </a:p>
        </p:txBody>
      </p:sp>
      <p:sp>
        <p:nvSpPr>
          <p:cNvPr id="13" name="TextBox 12"/>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832104" y="5321808"/>
            <a:ext cx="2523744"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BASICS</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PROMPT AND CITATIONS</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pic>
        <p:nvPicPr>
          <p:cNvPr id="7" name="Picture 6" descr="rag-prompt.png"/>
          <p:cNvPicPr>
            <a:picLocks noChangeAspect="1"/>
          </p:cNvPicPr>
          <p:nvPr/>
        </p:nvPicPr>
        <p:blipFill>
          <a:blip r:embed="rId4"/>
          <a:stretch>
            <a:fillRect/>
          </a:stretch>
        </p:blipFill>
        <p:spPr>
          <a:xfrm>
            <a:off x="1060704" y="1828800"/>
            <a:ext cx="10424160" cy="3852407"/>
          </a:xfrm>
          <a:prstGeom prst="rect">
            <a:avLst/>
          </a:prstGeom>
        </p:spPr>
      </p:pic>
      <p:pic>
        <p:nvPicPr>
          <p:cNvPr id="8" name="Picture 7" descr="citations.png"/>
          <p:cNvPicPr>
            <a:picLocks noChangeAspect="1"/>
          </p:cNvPicPr>
          <p:nvPr/>
        </p:nvPicPr>
        <p:blipFill>
          <a:blip r:embed="rId5"/>
          <a:stretch>
            <a:fillRect/>
          </a:stretch>
        </p:blipFill>
        <p:spPr>
          <a:xfrm>
            <a:off x="1060704" y="5943600"/>
            <a:ext cx="8503920" cy="2466137"/>
          </a:xfrm>
          <a:prstGeom prst="rect">
            <a:avLst/>
          </a:prstGeom>
        </p:spPr>
      </p:pic>
      <p:sp>
        <p:nvSpPr>
          <p:cNvPr id="9" name="TextBox 8"/>
          <p:cNvSpPr txBox="1"/>
          <p:nvPr/>
        </p:nvSpPr>
        <p:spPr>
          <a:xfrm>
            <a:off x="12252960" y="2103120"/>
            <a:ext cx="5669280" cy="1005840"/>
          </a:xfrm>
          <a:prstGeom prst="rect">
            <a:avLst/>
          </a:prstGeom>
          <a:noFill/>
        </p:spPr>
        <p:txBody>
          <a:bodyPr wrap="square" anchor="t" lIns="0" rIns="0" tIns="0" bIns="0">
            <a:spAutoFit/>
          </a:bodyPr>
          <a:lstStyle/>
          <a:p>
            <a:pPr algn="l">
              <a:lnSpc>
                <a:spcPct val="115000"/>
              </a:lnSpc>
            </a:pPr>
            <a:r>
              <a:rPr sz="1700" b="1" spc="300">
                <a:solidFill>
                  <a:srgbClr val="007A9E"/>
                </a:solidFill>
                <a:latin typeface="Arial"/>
              </a:rPr>
              <a:t>RETRIEVE</a:t>
            </a:r>
          </a:p>
          <a:p>
            <a:pPr algn="l">
              <a:lnSpc>
                <a:spcPct val="115000"/>
              </a:lnSpc>
            </a:pPr>
            <a:r>
              <a:rPr sz="1900" b="0">
                <a:solidFill>
                  <a:srgbClr val="17161C"/>
                </a:solidFill>
                <a:latin typeface="Arial"/>
              </a:rPr>
              <a:t>the 5 closest chunks</a:t>
            </a:r>
          </a:p>
        </p:txBody>
      </p:sp>
      <p:sp>
        <p:nvSpPr>
          <p:cNvPr id="10" name="TextBox 9"/>
          <p:cNvSpPr txBox="1"/>
          <p:nvPr/>
        </p:nvSpPr>
        <p:spPr>
          <a:xfrm>
            <a:off x="12252960" y="3246120"/>
            <a:ext cx="5669280" cy="1005840"/>
          </a:xfrm>
          <a:prstGeom prst="rect">
            <a:avLst/>
          </a:prstGeom>
          <a:noFill/>
        </p:spPr>
        <p:txBody>
          <a:bodyPr wrap="square" anchor="t" lIns="0" rIns="0" tIns="0" bIns="0">
            <a:spAutoFit/>
          </a:bodyPr>
          <a:lstStyle/>
          <a:p>
            <a:pPr algn="l">
              <a:lnSpc>
                <a:spcPct val="115000"/>
              </a:lnSpc>
            </a:pPr>
            <a:r>
              <a:rPr sz="1700" b="1" spc="300">
                <a:solidFill>
                  <a:srgbClr val="007A9E"/>
                </a:solidFill>
                <a:latin typeface="Arial"/>
              </a:rPr>
              <a:t>AUGMENT</a:t>
            </a:r>
          </a:p>
          <a:p>
            <a:pPr algn="l">
              <a:lnSpc>
                <a:spcPct val="115000"/>
              </a:lnSpc>
            </a:pPr>
            <a:r>
              <a:rPr sz="1900" b="0">
                <a:solidFill>
                  <a:srgbClr val="17161C"/>
                </a:solidFill>
                <a:latin typeface="Arial"/>
              </a:rPr>
              <a:t>the prompt with them, numbered [1] to [5]</a:t>
            </a:r>
          </a:p>
        </p:txBody>
      </p:sp>
      <p:sp>
        <p:nvSpPr>
          <p:cNvPr id="11" name="TextBox 10"/>
          <p:cNvSpPr txBox="1"/>
          <p:nvPr/>
        </p:nvSpPr>
        <p:spPr>
          <a:xfrm>
            <a:off x="12252960" y="4389120"/>
            <a:ext cx="5669280" cy="1005840"/>
          </a:xfrm>
          <a:prstGeom prst="rect">
            <a:avLst/>
          </a:prstGeom>
          <a:noFill/>
        </p:spPr>
        <p:txBody>
          <a:bodyPr wrap="square" anchor="t" lIns="0" rIns="0" tIns="0" bIns="0">
            <a:spAutoFit/>
          </a:bodyPr>
          <a:lstStyle/>
          <a:p>
            <a:pPr algn="l">
              <a:lnSpc>
                <a:spcPct val="115000"/>
              </a:lnSpc>
            </a:pPr>
            <a:r>
              <a:rPr sz="1700" b="1" spc="300">
                <a:solidFill>
                  <a:srgbClr val="007A9E"/>
                </a:solidFill>
                <a:latin typeface="Arial"/>
              </a:rPr>
              <a:t>GENERATE</a:t>
            </a:r>
          </a:p>
          <a:p>
            <a:pPr algn="l">
              <a:lnSpc>
                <a:spcPct val="115000"/>
              </a:lnSpc>
            </a:pPr>
            <a:r>
              <a:rPr sz="1900" b="0">
                <a:solidFill>
                  <a:srgbClr val="17161C"/>
                </a:solidFill>
                <a:latin typeface="Arial"/>
              </a:rPr>
              <a:t>the answer, citing those numbers</a:t>
            </a:r>
          </a:p>
        </p:txBody>
      </p:sp>
      <p:sp>
        <p:nvSpPr>
          <p:cNvPr id="12" name="TextBox 11"/>
          <p:cNvSpPr txBox="1"/>
          <p:nvPr/>
        </p:nvSpPr>
        <p:spPr>
          <a:xfrm>
            <a:off x="12252960" y="6309360"/>
            <a:ext cx="5486400" cy="2286000"/>
          </a:xfrm>
          <a:prstGeom prst="rect">
            <a:avLst/>
          </a:prstGeom>
          <a:noFill/>
        </p:spPr>
        <p:txBody>
          <a:bodyPr wrap="square" anchor="t" lIns="0" rIns="0" tIns="0" bIns="0">
            <a:spAutoFit/>
          </a:bodyPr>
          <a:lstStyle/>
          <a:p>
            <a:pPr algn="l">
              <a:lnSpc>
                <a:spcPct val="125000"/>
              </a:lnSpc>
            </a:pPr>
            <a:r>
              <a:rPr sz="1900" b="0">
                <a:solidFill>
                  <a:srgbClr val="17161C"/>
                </a:solidFill>
                <a:latin typeface="Arial"/>
              </a:rPr>
              <a:t>Every [n] leads back to a chunk, and every chunk remembers its file and page. That is all a citation is.</a:t>
            </a:r>
          </a:p>
        </p:txBody>
      </p:sp>
      <p:sp>
        <p:nvSpPr>
          <p:cNvPr id="13" name="TextBox 12"/>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490471" y="5321808"/>
            <a:ext cx="3840479"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EVALUATION</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IS THE ANSWER ANY GOOD?</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TextBox 6"/>
          <p:cNvSpPr txBox="1"/>
          <p:nvPr/>
        </p:nvSpPr>
        <p:spPr>
          <a:xfrm>
            <a:off x="1060704" y="1828800"/>
            <a:ext cx="16093440" cy="822960"/>
          </a:xfrm>
          <a:prstGeom prst="rect">
            <a:avLst/>
          </a:prstGeom>
          <a:noFill/>
        </p:spPr>
        <p:txBody>
          <a:bodyPr wrap="square" anchor="t" lIns="0" rIns="0" tIns="0" bIns="0">
            <a:spAutoFit/>
          </a:bodyPr>
          <a:lstStyle/>
          <a:p>
            <a:pPr algn="l">
              <a:lnSpc>
                <a:spcPct val="125000"/>
              </a:lnSpc>
            </a:pPr>
            <a:r>
              <a:rPr sz="2000" b="0">
                <a:solidFill>
                  <a:srgbClr val="17161C"/>
                </a:solidFill>
                <a:latin typeface="Arial"/>
              </a:rPr>
              <a:t>You scored faithfulness in notebook 4. Changed the chunk size or the number of chunks? Measure whether it helped. Neither score needs a hand-written correct answer.</a:t>
            </a:r>
          </a:p>
        </p:txBody>
      </p:sp>
      <p:sp>
        <p:nvSpPr>
          <p:cNvPr id="8" name="Rectangle 7"/>
          <p:cNvSpPr/>
          <p:nvPr/>
        </p:nvSpPr>
        <p:spPr>
          <a:xfrm>
            <a:off x="1060704" y="3063240"/>
            <a:ext cx="7863840" cy="457200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26464" y="3291840"/>
            <a:ext cx="7223760" cy="548640"/>
          </a:xfrm>
          <a:prstGeom prst="rect">
            <a:avLst/>
          </a:prstGeom>
          <a:noFill/>
        </p:spPr>
        <p:txBody>
          <a:bodyPr wrap="square" anchor="t" lIns="0" rIns="0" tIns="0" bIns="0">
            <a:spAutoFit/>
          </a:bodyPr>
          <a:lstStyle/>
          <a:p>
            <a:pPr algn="l">
              <a:lnSpc>
                <a:spcPct val="115000"/>
              </a:lnSpc>
            </a:pPr>
            <a:r>
              <a:rPr sz="2800" b="1">
                <a:solidFill>
                  <a:srgbClr val="007A9E"/>
                </a:solidFill>
                <a:latin typeface="Arial"/>
              </a:rPr>
              <a:t>Faithfulness</a:t>
            </a:r>
          </a:p>
        </p:txBody>
      </p:sp>
      <p:sp>
        <p:nvSpPr>
          <p:cNvPr id="10" name="TextBox 9"/>
          <p:cNvSpPr txBox="1"/>
          <p:nvPr/>
        </p:nvSpPr>
        <p:spPr>
          <a:xfrm>
            <a:off x="1426464" y="3931920"/>
            <a:ext cx="7223760" cy="822960"/>
          </a:xfrm>
          <a:prstGeom prst="rect">
            <a:avLst/>
          </a:prstGeom>
          <a:noFill/>
        </p:spPr>
        <p:txBody>
          <a:bodyPr wrap="square" anchor="t" lIns="0" rIns="0" tIns="0" bIns="0">
            <a:spAutoFit/>
          </a:bodyPr>
          <a:lstStyle/>
          <a:p>
            <a:pPr algn="l">
              <a:lnSpc>
                <a:spcPct val="115000"/>
              </a:lnSpc>
            </a:pPr>
            <a:r>
              <a:rPr sz="2000" b="1">
                <a:solidFill>
                  <a:srgbClr val="17161C"/>
                </a:solidFill>
                <a:latin typeface="Arial"/>
              </a:rPr>
              <a:t>Is every claim backed by the retrieved chunks?</a:t>
            </a:r>
          </a:p>
        </p:txBody>
      </p:sp>
      <p:sp>
        <p:nvSpPr>
          <p:cNvPr id="11" name="Rectangle 10"/>
          <p:cNvSpPr/>
          <p:nvPr/>
        </p:nvSpPr>
        <p:spPr>
          <a:xfrm>
            <a:off x="1426464" y="4800600"/>
            <a:ext cx="7132320"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09343" y="4800600"/>
            <a:ext cx="6858000" cy="731520"/>
          </a:xfrm>
          <a:prstGeom prst="rect">
            <a:avLst/>
          </a:prstGeom>
          <a:noFill/>
        </p:spPr>
        <p:txBody>
          <a:bodyPr wrap="square" anchor="ctr" lIns="0" rIns="0" tIns="0" bIns="0">
            <a:spAutoFit/>
          </a:bodyPr>
          <a:lstStyle/>
          <a:p>
            <a:pPr algn="l">
              <a:lnSpc>
                <a:spcPct val="115000"/>
              </a:lnSpc>
            </a:pPr>
            <a:r>
              <a:rPr sz="1700" b="0">
                <a:solidFill>
                  <a:srgbClr val="17161C"/>
                </a:solidFill>
                <a:latin typeface="Courier New"/>
              </a:rPr>
              <a:t>supported claims ÷ all claims</a:t>
            </a:r>
          </a:p>
        </p:txBody>
      </p:sp>
      <p:sp>
        <p:nvSpPr>
          <p:cNvPr id="13" name="TextBox 12"/>
          <p:cNvSpPr txBox="1"/>
          <p:nvPr/>
        </p:nvSpPr>
        <p:spPr>
          <a:xfrm>
            <a:off x="1426464" y="5806440"/>
            <a:ext cx="7132320" cy="1737360"/>
          </a:xfrm>
          <a:prstGeom prst="rect">
            <a:avLst/>
          </a:prstGeom>
          <a:noFill/>
        </p:spPr>
        <p:txBody>
          <a:bodyPr wrap="square" anchor="t" lIns="0" rIns="0" tIns="0" bIns="0">
            <a:spAutoFit/>
          </a:bodyPr>
          <a:lstStyle/>
          <a:p>
            <a:pPr algn="l">
              <a:lnSpc>
                <a:spcPct val="125000"/>
              </a:lnSpc>
            </a:pPr>
            <a:r>
              <a:rPr sz="1700" b="0">
                <a:solidFill>
                  <a:srgbClr val="5A6065"/>
                </a:solidFill>
                <a:latin typeface="Arial"/>
              </a:rPr>
              <a:t>A judge model splits the answer into claims and checks each one against the chunks. 0.5 means half the claims have no source.</a:t>
            </a:r>
          </a:p>
        </p:txBody>
      </p:sp>
      <p:sp>
        <p:nvSpPr>
          <p:cNvPr id="14" name="Rectangle 13"/>
          <p:cNvSpPr/>
          <p:nvPr/>
        </p:nvSpPr>
        <p:spPr>
          <a:xfrm>
            <a:off x="9290304" y="3063240"/>
            <a:ext cx="7863840" cy="457200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56064" y="3291840"/>
            <a:ext cx="7223760" cy="548640"/>
          </a:xfrm>
          <a:prstGeom prst="rect">
            <a:avLst/>
          </a:prstGeom>
          <a:noFill/>
        </p:spPr>
        <p:txBody>
          <a:bodyPr wrap="square" anchor="t" lIns="0" rIns="0" tIns="0" bIns="0">
            <a:spAutoFit/>
          </a:bodyPr>
          <a:lstStyle/>
          <a:p>
            <a:pPr algn="l">
              <a:lnSpc>
                <a:spcPct val="115000"/>
              </a:lnSpc>
            </a:pPr>
            <a:r>
              <a:rPr sz="2800" b="1">
                <a:solidFill>
                  <a:srgbClr val="007A9E"/>
                </a:solidFill>
                <a:latin typeface="Arial"/>
              </a:rPr>
              <a:t>Relevance</a:t>
            </a:r>
          </a:p>
        </p:txBody>
      </p:sp>
      <p:sp>
        <p:nvSpPr>
          <p:cNvPr id="16" name="TextBox 15"/>
          <p:cNvSpPr txBox="1"/>
          <p:nvPr/>
        </p:nvSpPr>
        <p:spPr>
          <a:xfrm>
            <a:off x="9656064" y="3931920"/>
            <a:ext cx="7223760" cy="822960"/>
          </a:xfrm>
          <a:prstGeom prst="rect">
            <a:avLst/>
          </a:prstGeom>
          <a:noFill/>
        </p:spPr>
        <p:txBody>
          <a:bodyPr wrap="square" anchor="t" lIns="0" rIns="0" tIns="0" bIns="0">
            <a:spAutoFit/>
          </a:bodyPr>
          <a:lstStyle/>
          <a:p>
            <a:pPr algn="l">
              <a:lnSpc>
                <a:spcPct val="115000"/>
              </a:lnSpc>
            </a:pPr>
            <a:r>
              <a:rPr sz="2000" b="1">
                <a:solidFill>
                  <a:srgbClr val="17161C"/>
                </a:solidFill>
                <a:latin typeface="Arial"/>
              </a:rPr>
              <a:t>Does the answer address the question?</a:t>
            </a:r>
          </a:p>
        </p:txBody>
      </p:sp>
      <p:sp>
        <p:nvSpPr>
          <p:cNvPr id="17" name="Rectangle 16"/>
          <p:cNvSpPr/>
          <p:nvPr/>
        </p:nvSpPr>
        <p:spPr>
          <a:xfrm>
            <a:off x="9656064" y="4800600"/>
            <a:ext cx="7132320"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38944" y="4800600"/>
            <a:ext cx="6858000" cy="731520"/>
          </a:xfrm>
          <a:prstGeom prst="rect">
            <a:avLst/>
          </a:prstGeom>
          <a:noFill/>
        </p:spPr>
        <p:txBody>
          <a:bodyPr wrap="square" anchor="ctr" lIns="0" rIns="0" tIns="0" bIns="0">
            <a:spAutoFit/>
          </a:bodyPr>
          <a:lstStyle/>
          <a:p>
            <a:pPr algn="l">
              <a:lnSpc>
                <a:spcPct val="115000"/>
              </a:lnSpc>
            </a:pPr>
            <a:r>
              <a:rPr sz="1700" b="0">
                <a:solidFill>
                  <a:srgbClr val="17161C"/>
                </a:solidFill>
                <a:latin typeface="Courier New"/>
              </a:rPr>
              <a:t>similarity(questions from the answer, real question)</a:t>
            </a:r>
          </a:p>
        </p:txBody>
      </p:sp>
      <p:sp>
        <p:nvSpPr>
          <p:cNvPr id="19" name="TextBox 18"/>
          <p:cNvSpPr txBox="1"/>
          <p:nvPr/>
        </p:nvSpPr>
        <p:spPr>
          <a:xfrm>
            <a:off x="9656064" y="5806440"/>
            <a:ext cx="7132320" cy="1737360"/>
          </a:xfrm>
          <a:prstGeom prst="rect">
            <a:avLst/>
          </a:prstGeom>
          <a:noFill/>
        </p:spPr>
        <p:txBody>
          <a:bodyPr wrap="square" anchor="t" lIns="0" rIns="0" tIns="0" bIns="0">
            <a:spAutoFit/>
          </a:bodyPr>
          <a:lstStyle/>
          <a:p>
            <a:pPr algn="l">
              <a:lnSpc>
                <a:spcPct val="125000"/>
              </a:lnSpc>
            </a:pPr>
            <a:r>
              <a:rPr sz="1700" b="0">
                <a:solidFill>
                  <a:srgbClr val="5A6065"/>
                </a:solidFill>
                <a:latin typeface="Arial"/>
              </a:rPr>
              <a:t>A judge model writes the questions this answer would fit; their embeddings are compared with the question that was asked.</a:t>
            </a:r>
          </a:p>
        </p:txBody>
      </p:sp>
      <p:sp>
        <p:nvSpPr>
          <p:cNvPr id="20" name="TextBox 19"/>
          <p:cNvSpPr txBox="1"/>
          <p:nvPr/>
        </p:nvSpPr>
        <p:spPr>
          <a:xfrm>
            <a:off x="1060704" y="8001000"/>
            <a:ext cx="16093440" cy="1097280"/>
          </a:xfrm>
          <a:prstGeom prst="rect">
            <a:avLst/>
          </a:prstGeom>
          <a:noFill/>
        </p:spPr>
        <p:txBody>
          <a:bodyPr wrap="square" anchor="t" lIns="0" rIns="0" tIns="0" bIns="0">
            <a:spAutoFit/>
          </a:bodyPr>
          <a:lstStyle/>
          <a:p>
            <a:pPr algn="l">
              <a:lnSpc>
                <a:spcPct val="125000"/>
              </a:lnSpc>
            </a:pPr>
            <a:r>
              <a:rPr sz="1800" b="1">
                <a:solidFill>
                  <a:srgbClr val="17161C"/>
                </a:solidFill>
                <a:latin typeface="Arial"/>
              </a:rPr>
              <a:t>In the template: </a:t>
            </a:r>
            <a:r>
              <a:rPr sz="1800" b="0">
                <a:solidFill>
                  <a:srgbClr val="17161C"/>
                </a:solidFill>
                <a:latin typeface="Arial"/>
              </a:rPr>
              <a:t>both scores for every answer, a badge in the chat, and an evaluation app that compares configurations. Built on Ragas.</a:t>
            </a:r>
          </a:p>
        </p:txBody>
      </p:sp>
      <p:sp>
        <p:nvSpPr>
          <p:cNvPr id="21" name="TextBox 20"/>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